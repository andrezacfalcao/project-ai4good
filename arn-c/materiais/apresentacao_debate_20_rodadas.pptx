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a8ab5fc1824c5a" /><Relationship Type="http://schemas.openxmlformats.org/officeDocument/2006/relationships/extended-properties" Target="/docProps/app.xml" Id="Rde944056aa084093" /><Relationship Type="http://schemas.openxmlformats.org/officeDocument/2006/relationships/officeDocument" Target="/ppt/presentation.xml" Id="R5eaa77b0b3b24c22" /></Relationships>
</file>

<file path=ppt/presentation.xml><?xml version="1.0" encoding="utf-8"?>
<p:presentation xmlns:p="http://schemas.openxmlformats.org/presentationml/2006/main">
  <p:sldMasterIdLst>
    <p:sldMasterId xmlns:r="http://schemas.openxmlformats.org/officeDocument/2006/relationships" id="2147483648" r:id="R00725a2f20344458"/>
  </p:sldMasterIdLst>
  <p:notesMasterIdLst>
    <p:notesMasterId xmlns:r="http://schemas.openxmlformats.org/officeDocument/2006/relationships" r:id="R4e8d771b6a4448b3"/>
  </p:notesMasterIdLst>
  <p:sldIdLst>
    <p:sldId xmlns:r="http://schemas.openxmlformats.org/officeDocument/2006/relationships" id="256" r:id="R8aa619a81aed4ea9"/>
    <p:sldId xmlns:r="http://schemas.openxmlformats.org/officeDocument/2006/relationships" id="257" r:id="Red1a48488d764c5a"/>
    <p:sldId xmlns:r="http://schemas.openxmlformats.org/officeDocument/2006/relationships" id="258" r:id="R8be59f7054d44387"/>
    <p:sldId xmlns:r="http://schemas.openxmlformats.org/officeDocument/2006/relationships" id="259" r:id="R7597350c31b5446a"/>
    <p:sldId xmlns:r="http://schemas.openxmlformats.org/officeDocument/2006/relationships" id="260" r:id="R1db7d8cbed9c423c"/>
    <p:sldId xmlns:r="http://schemas.openxmlformats.org/officeDocument/2006/relationships" id="261" r:id="R1e4f54e80abe46ef"/>
    <p:sldId xmlns:r="http://schemas.openxmlformats.org/officeDocument/2006/relationships" id="262" r:id="R9468711f68124a1d"/>
    <p:sldId xmlns:r="http://schemas.openxmlformats.org/officeDocument/2006/relationships" id="263" r:id="R389f91d4ba5a494f"/>
    <p:sldId xmlns:r="http://schemas.openxmlformats.org/officeDocument/2006/relationships" id="264" r:id="R0af12fd84287482f"/>
    <p:sldId xmlns:r="http://schemas.openxmlformats.org/officeDocument/2006/relationships" id="265" r:id="R95b2563b59464266"/>
    <p:sldId xmlns:r="http://schemas.openxmlformats.org/officeDocument/2006/relationships" id="266" r:id="Rbbbe84bff4e34563"/>
    <p:sldId xmlns:r="http://schemas.openxmlformats.org/officeDocument/2006/relationships" id="267" r:id="R2fca435f592e49e8"/>
    <p:sldId xmlns:r="http://schemas.openxmlformats.org/officeDocument/2006/relationships" id="268" r:id="R757e565fc8cf4a6f"/>
    <p:sldId xmlns:r="http://schemas.openxmlformats.org/officeDocument/2006/relationships" id="269" r:id="Rc0ace114c0e74687"/>
    <p:sldId xmlns:r="http://schemas.openxmlformats.org/officeDocument/2006/relationships" id="270" r:id="Rc77078e0814749e0"/>
    <p:sldId xmlns:r="http://schemas.openxmlformats.org/officeDocument/2006/relationships" id="271" r:id="R90346070c8cc41be"/>
    <p:sldId xmlns:r="http://schemas.openxmlformats.org/officeDocument/2006/relationships" id="272" r:id="R2250e73578164a74"/>
    <p:sldId xmlns:r="http://schemas.openxmlformats.org/officeDocument/2006/relationships" id="273" r:id="Rc5c088bee5fd4ef3"/>
    <p:sldId xmlns:r="http://schemas.openxmlformats.org/officeDocument/2006/relationships" id="274" r:id="R0f3b07f373b749cd"/>
    <p:sldId xmlns:r="http://schemas.openxmlformats.org/officeDocument/2006/relationships" id="275" r:id="R4e1f94a8166a4053"/>
    <p:sldId xmlns:r="http://schemas.openxmlformats.org/officeDocument/2006/relationships" id="276" r:id="Rf13d1a98524041df"/>
    <p:sldId xmlns:r="http://schemas.openxmlformats.org/officeDocument/2006/relationships" id="277" r:id="Ra84a8079c72245c3"/>
    <p:sldId xmlns:r="http://schemas.openxmlformats.org/officeDocument/2006/relationships" id="278" r:id="R893ad4e0e82b49d7"/>
    <p:sldId xmlns:r="http://schemas.openxmlformats.org/officeDocument/2006/relationships" id="279" r:id="Rf5a4910819cf4d2a"/>
    <p:sldId xmlns:r="http://schemas.openxmlformats.org/officeDocument/2006/relationships" id="280" r:id="R97f6ae9f56984b1d"/>
    <p:sldId xmlns:r="http://schemas.openxmlformats.org/officeDocument/2006/relationships" id="281" r:id="Ra94bc8f9d7d844a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9f5a5e52664f16" /><Relationship Type="http://schemas.openxmlformats.org/officeDocument/2006/relationships/slideMaster" Target="/ppt/slideMasters/slideMaster1.xml" Id="R00725a2f20344458" /><Relationship Type="http://schemas.openxmlformats.org/officeDocument/2006/relationships/notesMaster" Target="/ppt/notesMasters/notesMaster1.xml" Id="R4e8d771b6a4448b3" /><Relationship Type="http://schemas.openxmlformats.org/officeDocument/2006/relationships/presProps" Target="/ppt/presProps.xml" Id="Rf7b002cddd594049" /><Relationship Type="http://schemas.openxmlformats.org/officeDocument/2006/relationships/tableStyles" Target="/ppt/tableStyles.xml" Id="Rd80723ff85e84d80" /><Relationship Type="http://schemas.openxmlformats.org/officeDocument/2006/relationships/slide" Target="/ppt/slides/slide1.xml" Id="R8aa619a81aed4ea9" /><Relationship Type="http://schemas.openxmlformats.org/officeDocument/2006/relationships/slide" Target="/ppt/slides/slide2.xml" Id="Red1a48488d764c5a" /><Relationship Type="http://schemas.openxmlformats.org/officeDocument/2006/relationships/slide" Target="/ppt/slides/slide3.xml" Id="R8be59f7054d44387" /><Relationship Type="http://schemas.openxmlformats.org/officeDocument/2006/relationships/slide" Target="/ppt/slides/slide4.xml" Id="R7597350c31b5446a" /><Relationship Type="http://schemas.openxmlformats.org/officeDocument/2006/relationships/slide" Target="/ppt/slides/slide5.xml" Id="R1db7d8cbed9c423c" /><Relationship Type="http://schemas.openxmlformats.org/officeDocument/2006/relationships/slide" Target="/ppt/slides/slide6.xml" Id="R1e4f54e80abe46ef" /><Relationship Type="http://schemas.openxmlformats.org/officeDocument/2006/relationships/slide" Target="/ppt/slides/slide7.xml" Id="R9468711f68124a1d" /><Relationship Type="http://schemas.openxmlformats.org/officeDocument/2006/relationships/slide" Target="/ppt/slides/slide8.xml" Id="R389f91d4ba5a494f" /><Relationship Type="http://schemas.openxmlformats.org/officeDocument/2006/relationships/slide" Target="/ppt/slides/slide9.xml" Id="R0af12fd84287482f" /><Relationship Type="http://schemas.openxmlformats.org/officeDocument/2006/relationships/slide" Target="/ppt/slides/slide10.xml" Id="R95b2563b59464266" /><Relationship Type="http://schemas.openxmlformats.org/officeDocument/2006/relationships/slide" Target="/ppt/slides/slide11.xml" Id="Rbbbe84bff4e34563" /><Relationship Type="http://schemas.openxmlformats.org/officeDocument/2006/relationships/slide" Target="/ppt/slides/slide12.xml" Id="R2fca435f592e49e8" /><Relationship Type="http://schemas.openxmlformats.org/officeDocument/2006/relationships/slide" Target="/ppt/slides/slide13.xml" Id="R757e565fc8cf4a6f" /><Relationship Type="http://schemas.openxmlformats.org/officeDocument/2006/relationships/slide" Target="/ppt/slides/slide14.xml" Id="Rc0ace114c0e74687" /><Relationship Type="http://schemas.openxmlformats.org/officeDocument/2006/relationships/slide" Target="/ppt/slides/slide15.xml" Id="Rc77078e0814749e0" /><Relationship Type="http://schemas.openxmlformats.org/officeDocument/2006/relationships/slide" Target="/ppt/slides/slide16.xml" Id="R90346070c8cc41be" /><Relationship Type="http://schemas.openxmlformats.org/officeDocument/2006/relationships/slide" Target="/ppt/slides/slide17.xml" Id="R2250e73578164a74" /><Relationship Type="http://schemas.openxmlformats.org/officeDocument/2006/relationships/slide" Target="/ppt/slides/slide18.xml" Id="Rc5c088bee5fd4ef3" /><Relationship Type="http://schemas.openxmlformats.org/officeDocument/2006/relationships/slide" Target="/ppt/slides/slide19.xml" Id="R0f3b07f373b749cd" /><Relationship Type="http://schemas.openxmlformats.org/officeDocument/2006/relationships/slide" Target="/ppt/slides/slide20.xml" Id="R4e1f94a8166a4053" /><Relationship Type="http://schemas.openxmlformats.org/officeDocument/2006/relationships/slide" Target="/ppt/slides/slide21.xml" Id="Rf13d1a98524041df" /><Relationship Type="http://schemas.openxmlformats.org/officeDocument/2006/relationships/slide" Target="/ppt/slides/slide22.xml" Id="Ra84a8079c72245c3" /><Relationship Type="http://schemas.openxmlformats.org/officeDocument/2006/relationships/slide" Target="/ppt/slides/slide23.xml" Id="R893ad4e0e82b49d7" /><Relationship Type="http://schemas.openxmlformats.org/officeDocument/2006/relationships/slide" Target="/ppt/slides/slide24.xml" Id="Rf5a4910819cf4d2a" /><Relationship Type="http://schemas.openxmlformats.org/officeDocument/2006/relationships/slide" Target="/ppt/slides/slide25.xml" Id="R97f6ae9f56984b1d" /><Relationship Type="http://schemas.openxmlformats.org/officeDocument/2006/relationships/slide" Target="/ppt/slides/slide26.xml" Id="Ra94bc8f9d7d844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f0486f01e24d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22dd6e61ae4856" /><Relationship Type="http://schemas.openxmlformats.org/officeDocument/2006/relationships/notesMaster" Target="/ppt/notesMasters/notesMaster1.xml" Id="R780eb0a0608847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8a15a85da54107" /><Relationship Type="http://schemas.openxmlformats.org/officeDocument/2006/relationships/notesMaster" Target="/ppt/notesMasters/notesMaster1.xml" Id="Rde2419f4ce324b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b5fae9fa3b4136" /><Relationship Type="http://schemas.openxmlformats.org/officeDocument/2006/relationships/notesMaster" Target="/ppt/notesMasters/notesMaster1.xml" Id="R49729954621d43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8fefb35a044e26" /><Relationship Type="http://schemas.openxmlformats.org/officeDocument/2006/relationships/notesMaster" Target="/ppt/notesMasters/notesMaster1.xml" Id="R3370045898394a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aa0bd1c9f4484c" /><Relationship Type="http://schemas.openxmlformats.org/officeDocument/2006/relationships/notesMaster" Target="/ppt/notesMasters/notesMaster1.xml" Id="Re0b6c0bc8eec44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84454a42144a7f" /><Relationship Type="http://schemas.openxmlformats.org/officeDocument/2006/relationships/notesMaster" Target="/ppt/notesMasters/notesMaster1.xml" Id="Ra83ca7ba3f1542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84098b3177472d" /><Relationship Type="http://schemas.openxmlformats.org/officeDocument/2006/relationships/notesMaster" Target="/ppt/notesMasters/notesMaster1.xml" Id="R8126f1a33a8e46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a33e74016247c6" /><Relationship Type="http://schemas.openxmlformats.org/officeDocument/2006/relationships/notesMaster" Target="/ppt/notesMasters/notesMaster1.xml" Id="R465ca75581fa4f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c60797af3d45ae" /><Relationship Type="http://schemas.openxmlformats.org/officeDocument/2006/relationships/notesMaster" Target="/ppt/notesMasters/notesMaster1.xml" Id="Rac966a51453048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58226248124f7a" /><Relationship Type="http://schemas.openxmlformats.org/officeDocument/2006/relationships/notesMaster" Target="/ppt/notesMasters/notesMaster1.xml" Id="Rb449fdf8d6c442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bf566d9f7f4003" /><Relationship Type="http://schemas.openxmlformats.org/officeDocument/2006/relationships/notesMaster" Target="/ppt/notesMasters/notesMaster1.xml" Id="Rf784f063956d4e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0cc8c4e69f455a" /><Relationship Type="http://schemas.openxmlformats.org/officeDocument/2006/relationships/notesMaster" Target="/ppt/notesMasters/notesMaster1.xml" Id="R9c13cebd37c341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33068b97e7b46ec" /><Relationship Type="http://schemas.openxmlformats.org/officeDocument/2006/relationships/notesMaster" Target="/ppt/notesMasters/notesMaster1.xml" Id="R766860f8664a4c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05fee632c643e7" /><Relationship Type="http://schemas.openxmlformats.org/officeDocument/2006/relationships/notesMaster" Target="/ppt/notesMasters/notesMaster1.xml" Id="R94052088bd6f4c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ae425086104eef" /><Relationship Type="http://schemas.openxmlformats.org/officeDocument/2006/relationships/notesMaster" Target="/ppt/notesMasters/notesMaster1.xml" Id="Rff84a6085db241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4208e2d7f146d1" /><Relationship Type="http://schemas.openxmlformats.org/officeDocument/2006/relationships/notesMaster" Target="/ppt/notesMasters/notesMaster1.xml" Id="R7d749926e3fb43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2cdd34fa6a744f9" /><Relationship Type="http://schemas.openxmlformats.org/officeDocument/2006/relationships/notesMaster" Target="/ppt/notesMasters/notesMaster1.xml" Id="R9f852de479fa44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59633abd68445d3" /><Relationship Type="http://schemas.openxmlformats.org/officeDocument/2006/relationships/notesMaster" Target="/ppt/notesMasters/notesMaster1.xml" Id="Rcec38b5d86c5401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07967e7b7c4d85" /><Relationship Type="http://schemas.openxmlformats.org/officeDocument/2006/relationships/notesMaster" Target="/ppt/notesMasters/notesMaster1.xml" Id="Rd19ffd9a933a4a0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8e2a612b72e44cc" /><Relationship Type="http://schemas.openxmlformats.org/officeDocument/2006/relationships/notesMaster" Target="/ppt/notesMasters/notesMaster1.xml" Id="Redabe892c30c4e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99516cd1b64bc3" /><Relationship Type="http://schemas.openxmlformats.org/officeDocument/2006/relationships/notesMaster" Target="/ppt/notesMasters/notesMaster1.xml" Id="R7736b55ac0c6489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008c308ef3a42a8" /><Relationship Type="http://schemas.openxmlformats.org/officeDocument/2006/relationships/notesMaster" Target="/ppt/notesMasters/notesMaster1.xml" Id="Rd6147b1f53ad4ce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968477445ad4095" /><Relationship Type="http://schemas.openxmlformats.org/officeDocument/2006/relationships/notesMaster" Target="/ppt/notesMasters/notesMaster1.xml" Id="R02f0f5d5f55d43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91879c3de2a4a3b" /><Relationship Type="http://schemas.openxmlformats.org/officeDocument/2006/relationships/notesMaster" Target="/ppt/notesMasters/notesMaster1.xml" Id="R064440f706844dd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9a16c50ea844304" /><Relationship Type="http://schemas.openxmlformats.org/officeDocument/2006/relationships/notesMaster" Target="/ppt/notesMasters/notesMaster1.xml" Id="Rea7d981bf36b472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99dd4094d3c4802" /><Relationship Type="http://schemas.openxmlformats.org/officeDocument/2006/relationships/notesMaster" Target="/ppt/notesMasters/notesMaster1.xml" Id="R2e2c7273a47847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a924c1c17249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c402ea9f0548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44eccc23f1b49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0d781e2d444a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353b902dc441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c2b50fccd94c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D3ECEF-8F70-4247-831C-BD517296F6E4}"/>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E6D138-EC35-4159-A3A7-FC93D0F67A1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E7153A-BA56-455D-87EE-393F1746D553}"/>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7E4B7F-1250-43F5-BA0E-C4D4CA6D010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CF2CAF-CA00-4664-A1D4-BC68F433D8F8}"/>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9216A34-C63F-4191-A400-9B4CF4F0B28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A9508A-F269-4BC3-918A-9B19594B9A6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0CE395B-E416-42EE-A7C5-EFD9795270FD}"/>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884BCC-7F39-42C7-BE88-C8A9960F6A5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F55354-1D0B-43A4-9426-CE2F7A1C484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db0fdc3dcd4c64" /><Relationship Type="http://schemas.openxmlformats.org/officeDocument/2006/relationships/slideLayout" Target="/ppt/slideLayouts/slideLayout1.xml" Id="R552b07b6c71b464f" /><Relationship Type="http://schemas.openxmlformats.org/officeDocument/2006/relationships/slideLayout" Target="/ppt/slideLayouts/slideLayout2.xml" Id="R593fa328defd4a45" /><Relationship Type="http://schemas.openxmlformats.org/officeDocument/2006/relationships/slideLayout" Target="/ppt/slideLayouts/slideLayout3.xml" Id="R72ee457cdf9e4fa2" /><Relationship Type="http://schemas.openxmlformats.org/officeDocument/2006/relationships/slideLayout" Target="/ppt/slideLayouts/slideLayout4.xml" Id="R531d0fcc3e3c43bd" /><Relationship Type="http://schemas.openxmlformats.org/officeDocument/2006/relationships/slideLayout" Target="/ppt/slideLayouts/slideLayout5.xml" Id="R8e8f4cb80a9a4a6c" /><Relationship Type="http://schemas.openxmlformats.org/officeDocument/2006/relationships/slideLayout" Target="/ppt/slideLayouts/slideLayout6.xml" Id="R6f8dca7c1a3943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2b07b6c71b464f"/>
    <p:sldLayoutId xmlns:r="http://schemas.openxmlformats.org/officeDocument/2006/relationships" id="2147483650" r:id="R593fa328defd4a45"/>
    <p:sldLayoutId xmlns:r="http://schemas.openxmlformats.org/officeDocument/2006/relationships" id="2147483651" r:id="R72ee457cdf9e4fa2"/>
    <p:sldLayoutId xmlns:r="http://schemas.openxmlformats.org/officeDocument/2006/relationships" id="2147483652" r:id="R531d0fcc3e3c43bd"/>
    <p:sldLayoutId xmlns:r="http://schemas.openxmlformats.org/officeDocument/2006/relationships" id="2147483653" r:id="R8e8f4cb80a9a4a6c"/>
    <p:sldLayoutId xmlns:r="http://schemas.openxmlformats.org/officeDocument/2006/relationships" id="2147483654" r:id="R6f8dca7c1a3943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cc0ccd886f473a" /><Relationship Type="http://schemas.openxmlformats.org/officeDocument/2006/relationships/notesSlide" Target="/ppt/notesSlides/notesSlide1.xml" Id="R07e72d74a0b24e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835f421ee5047df" /><Relationship Type="http://schemas.openxmlformats.org/officeDocument/2006/relationships/notesSlide" Target="/ppt/notesSlides/notesSlide2.xml" Id="R5d3a7ba91b0f49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2c4df93b8b4070" /><Relationship Type="http://schemas.openxmlformats.org/officeDocument/2006/relationships/notesSlide" Target="/ppt/notesSlides/notesSlide3.xml" Id="R0a5ff774fe0746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410ef9f6ab425f" /><Relationship Type="http://schemas.openxmlformats.org/officeDocument/2006/relationships/notesSlide" Target="/ppt/notesSlides/notesSlide4.xml" Id="Rd2c9ddefca4143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fb1032f7bd14333" /><Relationship Type="http://schemas.openxmlformats.org/officeDocument/2006/relationships/notesSlide" Target="/ppt/notesSlides/notesSlide5.xml" Id="R0e16b4d45f2a48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62ae74da40b4d14" /><Relationship Type="http://schemas.openxmlformats.org/officeDocument/2006/relationships/notesSlide" Target="/ppt/notesSlides/notesSlide6.xml" Id="Rce1d562af6da41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22059ed4e64206" /><Relationship Type="http://schemas.openxmlformats.org/officeDocument/2006/relationships/notesSlide" Target="/ppt/notesSlides/notesSlide7.xml" Id="R00c9f21d21b240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0196409340d4210" /><Relationship Type="http://schemas.openxmlformats.org/officeDocument/2006/relationships/notesSlide" Target="/ppt/notesSlides/notesSlide8.xml" Id="Rc05b041d131240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634a2cd4b4f470f" /><Relationship Type="http://schemas.openxmlformats.org/officeDocument/2006/relationships/notesSlide" Target="/ppt/notesSlides/notesSlide9.xml" Id="Re79f687b0d7d46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9c6330f7c8d4646" /><Relationship Type="http://schemas.openxmlformats.org/officeDocument/2006/relationships/notesSlide" Target="/ppt/notesSlides/notesSlide10.xml" Id="Rfb0d82db43c641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8bee6ef4cc84cd2" /><Relationship Type="http://schemas.openxmlformats.org/officeDocument/2006/relationships/notesSlide" Target="/ppt/notesSlides/notesSlide11.xml" Id="R38828d5ce71242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144123f63f94fd3" /><Relationship Type="http://schemas.openxmlformats.org/officeDocument/2006/relationships/notesSlide" Target="/ppt/notesSlides/notesSlide12.xml" Id="R057fa3db7b924f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6b693f91ac74c8f" /><Relationship Type="http://schemas.openxmlformats.org/officeDocument/2006/relationships/notesSlide" Target="/ppt/notesSlides/notesSlide13.xml" Id="Ra6f97f328f9c4d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62f0ee1d3a74f02" /><Relationship Type="http://schemas.openxmlformats.org/officeDocument/2006/relationships/notesSlide" Target="/ppt/notesSlides/notesSlide14.xml" Id="Rea5c46ad5f1744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c5527583bc74345" /><Relationship Type="http://schemas.openxmlformats.org/officeDocument/2006/relationships/notesSlide" Target="/ppt/notesSlides/notesSlide15.xml" Id="Rbeabffc9aa05412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47ce19057ba45a1" /><Relationship Type="http://schemas.openxmlformats.org/officeDocument/2006/relationships/notesSlide" Target="/ppt/notesSlides/notesSlide16.xml" Id="R59ef12d1911144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143d6cdbb1949da" /><Relationship Type="http://schemas.openxmlformats.org/officeDocument/2006/relationships/notesSlide" Target="/ppt/notesSlides/notesSlide17.xml" Id="R7938f5eb124743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66b4416ff36460a" /><Relationship Type="http://schemas.openxmlformats.org/officeDocument/2006/relationships/notesSlide" Target="/ppt/notesSlides/notesSlide18.xml" Id="Rb29d40b9e3de49c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97f93828d524b66" /><Relationship Type="http://schemas.openxmlformats.org/officeDocument/2006/relationships/notesSlide" Target="/ppt/notesSlides/notesSlide19.xml" Id="Re406c7068b434fd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fe94a2bcf6e47f5" /><Relationship Type="http://schemas.openxmlformats.org/officeDocument/2006/relationships/notesSlide" Target="/ppt/notesSlides/notesSlide20.xml" Id="R80bbdaa134a9480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dfff822ca5341ae" /><Relationship Type="http://schemas.openxmlformats.org/officeDocument/2006/relationships/notesSlide" Target="/ppt/notesSlides/notesSlide21.xml" Id="R956f52b80a9a43b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5d2740a817e4800" /><Relationship Type="http://schemas.openxmlformats.org/officeDocument/2006/relationships/notesSlide" Target="/ppt/notesSlides/notesSlide22.xml" Id="R21ee312c75e54bf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a966590faf14653" /><Relationship Type="http://schemas.openxmlformats.org/officeDocument/2006/relationships/notesSlide" Target="/ppt/notesSlides/notesSlide23.xml" Id="Rff2c5a563550497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c8333bc360e4f68" /><Relationship Type="http://schemas.openxmlformats.org/officeDocument/2006/relationships/notesSlide" Target="/ppt/notesSlides/notesSlide24.xml" Id="R739c5c65aba848b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22db65b79fa42f3" /><Relationship Type="http://schemas.openxmlformats.org/officeDocument/2006/relationships/notesSlide" Target="/ppt/notesSlides/notesSlide25.xml" Id="R71e9dd8f3536412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8bc1d2a773447a7" /><Relationship Type="http://schemas.openxmlformats.org/officeDocument/2006/relationships/notesSlide" Target="/ppt/notesSlides/notesSlide26.xml" Id="R63d914b0853e492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cover-tag">
            <a:extLst xmlns:a="http://schemas.openxmlformats.org/drawingml/2006/main">
              <a:ext uri="{FF2B5EF4-FFF2-40B4-BE49-F238E27FC236}">
                <a16:creationId xmlns:a16="http://schemas.microsoft.com/office/drawing/2014/main" id="{74D64B19-8BBC-466D-9C6F-983D5DEC10E6}"/>
              </a:ext>
            </a:extLst>
          </p:cNvPr>
          <p:cNvSpPr>
            <a:spLocks xmlns:a="http://schemas.openxmlformats.org/drawingml/2006/main" noGrp="1"/>
          </p:cNvSpPr>
          <p:nvPr/>
        </p:nvSpPr>
        <p:spPr>
          <a:xfrm xmlns:a="http://schemas.openxmlformats.org/drawingml/2006/main">
            <a:off x="762000" y="7620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1E40AF"/>
                </a:solidFill>
              </a:defRPr>
            </a:defPPr>
          </a:lstStyle>
          <a:p xmlns:a="http://schemas.openxmlformats.org/drawingml/2006/main">
            <a:pPr algn="l">
              <a:lnSpc>
                <a:spcPct val="115000"/>
              </a:lnSpc>
              <a:buNone/>
              <a:defRPr sz="1050" b="1" i="0">
                <a:solidFill>
                  <a:srgbClr val="1E40AF"/>
                </a:solidFill>
              </a:defRPr>
            </a:pPr>
            <a:r>
              <a:rPr sz="1050" b="1" i="0">
                <a:solidFill>
                  <a:srgbClr val="1E40AF"/>
                </a:solidFill>
              </a:rPr>
              <a:t>SIMULAÇÃO MULTIAGENTE EM INTELIGÊNCIA ARTIFICIAL</a:t>
            </a:r>
          </a:p>
        </p:txBody>
      </p:sp>
      <p:sp>
        <p:nvSpPr>
          <p:cNvPr id="2" name="cover-title">
            <a:extLst xmlns:a="http://schemas.openxmlformats.org/drawingml/2006/main">
              <a:ext uri="{FF2B5EF4-FFF2-40B4-BE49-F238E27FC236}">
                <a16:creationId xmlns:a16="http://schemas.microsoft.com/office/drawing/2014/main" id="{CB328C55-EF61-4C17-98B8-365631907FD6}"/>
              </a:ext>
            </a:extLst>
          </p:cNvPr>
          <p:cNvSpPr>
            <a:spLocks xmlns:a="http://schemas.openxmlformats.org/drawingml/2006/main" noGrp="1"/>
          </p:cNvSpPr>
          <p:nvPr/>
        </p:nvSpPr>
        <p:spPr>
          <a:xfrm xmlns:a="http://schemas.openxmlformats.org/drawingml/2006/main">
            <a:off x="762000" y="1143000"/>
            <a:ext cx="1333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i="0">
                <a:solidFill>
                  <a:srgbClr val="0F172A"/>
                </a:solidFill>
              </a:defRPr>
            </a:defPPr>
          </a:lstStyle>
          <a:p xmlns:a="http://schemas.openxmlformats.org/drawingml/2006/main">
            <a:pPr algn="l">
              <a:lnSpc>
                <a:spcPct val="115000"/>
              </a:lnSpc>
              <a:buNone/>
              <a:defRPr sz="3600" b="1" i="0">
                <a:solidFill>
                  <a:srgbClr val="0F172A"/>
                </a:solidFill>
              </a:defRPr>
            </a:pPr>
            <a:r>
              <a:rPr sz="3600" b="1" i="0">
                <a:solidFill>
                  <a:srgbClr val="0F172A"/>
                </a:solidFill>
              </a:rPr>
              <a:t>Debate em Loop:</a:t>
            </a:r>
          </a:p>
          <a:p xmlns:a="http://schemas.openxmlformats.org/drawingml/2006/main">
            <a:pPr algn="l">
              <a:lnSpc>
                <a:spcPct val="115000"/>
              </a:lnSpc>
              <a:buNone/>
              <a:defRPr sz="3600" b="1" i="0">
                <a:solidFill>
                  <a:srgbClr val="0F172A"/>
                </a:solidFill>
              </a:defRPr>
            </a:pPr>
            <a:r>
              <a:rPr sz="3600" b="1" i="0">
                <a:solidFill>
                  <a:srgbClr val="0F172A"/>
                </a:solidFill>
              </a:rPr>
              <a:t>Leis Trabalhistas e Trabalho Digno</a:t>
            </a:r>
          </a:p>
        </p:txBody>
      </p:sp>
      <p:sp>
        <p:nvSpPr>
          <p:cNvPr id="3" name="cover-sub">
            <a:extLst xmlns:a="http://schemas.openxmlformats.org/drawingml/2006/main">
              <a:ext uri="{FF2B5EF4-FFF2-40B4-BE49-F238E27FC236}">
                <a16:creationId xmlns:a16="http://schemas.microsoft.com/office/drawing/2014/main" id="{2DD4E4FC-F5D6-4F4E-85BB-F62C5706ABE3}"/>
              </a:ext>
            </a:extLst>
          </p:cNvPr>
          <p:cNvSpPr>
            <a:spLocks xmlns:a="http://schemas.openxmlformats.org/drawingml/2006/main" noGrp="1"/>
          </p:cNvSpPr>
          <p:nvPr/>
        </p:nvSpPr>
        <p:spPr>
          <a:xfrm xmlns:a="http://schemas.openxmlformats.org/drawingml/2006/main">
            <a:off x="762000" y="2667000"/>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i="0">
                <a:solidFill>
                  <a:srgbClr val="475569"/>
                </a:solidFill>
              </a:defRPr>
            </a:defPPr>
          </a:lstStyle>
          <a:p xmlns:a="http://schemas.openxmlformats.org/drawingml/2006/main">
            <a:pPr algn="l">
              <a:lnSpc>
                <a:spcPct val="115000"/>
              </a:lnSpc>
              <a:buNone/>
              <a:defRPr sz="1650" b="0" i="0">
                <a:solidFill>
                  <a:srgbClr val="475569"/>
                </a:solidFill>
              </a:defRPr>
            </a:pPr>
            <a:r>
              <a:rPr sz="1650" b="0" i="0">
                <a:solidFill>
                  <a:srgbClr val="475569"/>
                </a:solidFill>
              </a:rPr>
              <a:t>Diálogo em Tempo Real entre Modelo de Fronteira e Modelo Local</a:t>
            </a:r>
          </a:p>
        </p:txBody>
      </p:sp>
      <p:sp>
        <p:nvSpPr>
          <p:cNvPr id="4" name="author-box">
            <a:extLst xmlns:a="http://schemas.openxmlformats.org/drawingml/2006/main">
              <a:ext uri="{FF2B5EF4-FFF2-40B4-BE49-F238E27FC236}">
                <a16:creationId xmlns:a16="http://schemas.microsoft.com/office/drawing/2014/main" id="{5C451A53-856C-4570-B0D3-CF3590400AA8}"/>
              </a:ext>
            </a:extLst>
          </p:cNvPr>
          <p:cNvSpPr>
            <a:spLocks xmlns:a="http://schemas.openxmlformats.org/drawingml/2006/main" noGrp="1"/>
          </p:cNvSpPr>
          <p:nvPr/>
        </p:nvSpPr>
        <p:spPr>
          <a:xfrm xmlns:a="http://schemas.openxmlformats.org/drawingml/2006/main">
            <a:off x="762000" y="3333750"/>
            <a:ext cx="4286250" cy="1238250"/>
          </a:xfrm>
          <a:prstGeom xmlns:a="http://schemas.openxmlformats.org/drawingml/2006/main" prst="roundRect">
            <a:avLst>
              <a:gd name="adj" fmla="val 6154"/>
            </a:avLst>
          </a:prstGeom>
          <a:solidFill xmlns:a="http://schemas.openxmlformats.org/drawingml/2006/main">
            <a:srgbClr val="F8FAFC"/>
          </a:solidFill>
          <a:ln xmlns:a="http://schemas.openxmlformats.org/drawingml/2006/main" w="9525">
            <a:solidFill>
              <a:srgbClr val="E2E8F0"/>
            </a:solidFill>
            <a:prstDash val="solid"/>
          </a:ln>
        </p:spPr>
      </p:sp>
      <p:sp>
        <p:nvSpPr>
          <p:cNvPr id="5" name="author-lbl">
            <a:extLst xmlns:a="http://schemas.openxmlformats.org/drawingml/2006/main">
              <a:ext uri="{FF2B5EF4-FFF2-40B4-BE49-F238E27FC236}">
                <a16:creationId xmlns:a16="http://schemas.microsoft.com/office/drawing/2014/main" id="{17B196F7-A4AF-4389-A68C-CDE42B20296E}"/>
              </a:ext>
            </a:extLst>
          </p:cNvPr>
          <p:cNvSpPr>
            <a:spLocks xmlns:a="http://schemas.openxmlformats.org/drawingml/2006/main" noGrp="1"/>
          </p:cNvSpPr>
          <p:nvPr/>
        </p:nvSpPr>
        <p:spPr>
          <a:xfrm xmlns:a="http://schemas.openxmlformats.org/drawingml/2006/main">
            <a:off x="1000125" y="35242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1" i="0">
                <a:solidFill>
                  <a:srgbClr val="475569"/>
                </a:solidFill>
              </a:defRPr>
            </a:defPPr>
          </a:lstStyle>
          <a:p xmlns:a="http://schemas.openxmlformats.org/drawingml/2006/main">
            <a:pPr algn="l">
              <a:lnSpc>
                <a:spcPct val="115000"/>
              </a:lnSpc>
              <a:buNone/>
              <a:defRPr sz="900" b="1" i="0">
                <a:solidFill>
                  <a:srgbClr val="475569"/>
                </a:solidFill>
              </a:defRPr>
            </a:pPr>
            <a:r>
              <a:rPr sz="900" b="1" i="0">
                <a:solidFill>
                  <a:srgbClr val="475569"/>
                </a:solidFill>
              </a:rPr>
              <a:t>AUTORA DO EXPERIMENTO</a:t>
            </a:r>
          </a:p>
        </p:txBody>
      </p:sp>
      <p:sp>
        <p:nvSpPr>
          <p:cNvPr id="6" name="author-name">
            <a:extLst xmlns:a="http://schemas.openxmlformats.org/drawingml/2006/main">
              <a:ext uri="{FF2B5EF4-FFF2-40B4-BE49-F238E27FC236}">
                <a16:creationId xmlns:a16="http://schemas.microsoft.com/office/drawing/2014/main" id="{6D02CB27-6760-4655-814C-573EEF6D30AD}"/>
              </a:ext>
            </a:extLst>
          </p:cNvPr>
          <p:cNvSpPr>
            <a:spLocks xmlns:a="http://schemas.openxmlformats.org/drawingml/2006/main" noGrp="1"/>
          </p:cNvSpPr>
          <p:nvPr/>
        </p:nvSpPr>
        <p:spPr>
          <a:xfrm xmlns:a="http://schemas.openxmlformats.org/drawingml/2006/main">
            <a:off x="1000125" y="376237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i="0">
                <a:solidFill>
                  <a:srgbClr val="0F172A"/>
                </a:solidFill>
              </a:defRPr>
            </a:defPPr>
          </a:lstStyle>
          <a:p xmlns:a="http://schemas.openxmlformats.org/drawingml/2006/main">
            <a:pPr algn="l">
              <a:lnSpc>
                <a:spcPct val="115000"/>
              </a:lnSpc>
              <a:buNone/>
              <a:defRPr sz="1500" b="1" i="0">
                <a:solidFill>
                  <a:srgbClr val="0F172A"/>
                </a:solidFill>
              </a:defRPr>
            </a:pPr>
            <a:r>
              <a:rPr sz="1500" b="1" i="0">
                <a:solidFill>
                  <a:srgbClr val="0F172A"/>
                </a:solidFill>
              </a:rPr>
              <a:t>Andreza Maria Coutinho Falcão</a:t>
            </a:r>
          </a:p>
        </p:txBody>
      </p:sp>
      <p:sp>
        <p:nvSpPr>
          <p:cNvPr id="7" name="author-desc">
            <a:extLst xmlns:a="http://schemas.openxmlformats.org/drawingml/2006/main">
              <a:ext uri="{FF2B5EF4-FFF2-40B4-BE49-F238E27FC236}">
                <a16:creationId xmlns:a16="http://schemas.microsoft.com/office/drawing/2014/main" id="{78E2B638-418D-4B30-BF5A-686D40F51712}"/>
              </a:ext>
            </a:extLst>
          </p:cNvPr>
          <p:cNvSpPr>
            <a:spLocks xmlns:a="http://schemas.openxmlformats.org/drawingml/2006/main" noGrp="1"/>
          </p:cNvSpPr>
          <p:nvPr/>
        </p:nvSpPr>
        <p:spPr>
          <a:xfrm xmlns:a="http://schemas.openxmlformats.org/drawingml/2006/main">
            <a:off x="1000125" y="41148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Arquitetura de Diálogo &amp; Engenharia de Prompts</a:t>
            </a:r>
          </a:p>
        </p:txBody>
      </p:sp>
      <p:sp>
        <p:nvSpPr>
          <p:cNvPr id="8" name="setup-box">
            <a:extLst xmlns:a="http://schemas.openxmlformats.org/drawingml/2006/main">
              <a:ext uri="{FF2B5EF4-FFF2-40B4-BE49-F238E27FC236}">
                <a16:creationId xmlns:a16="http://schemas.microsoft.com/office/drawing/2014/main" id="{FED8EFCD-11F9-4C89-A3D1-D55D1685E4B8}"/>
              </a:ext>
            </a:extLst>
          </p:cNvPr>
          <p:cNvSpPr>
            <a:spLocks xmlns:a="http://schemas.openxmlformats.org/drawingml/2006/main" noGrp="1"/>
          </p:cNvSpPr>
          <p:nvPr/>
        </p:nvSpPr>
        <p:spPr>
          <a:xfrm xmlns:a="http://schemas.openxmlformats.org/drawingml/2006/main">
            <a:off x="5334000" y="3333750"/>
            <a:ext cx="9144000" cy="1238250"/>
          </a:xfrm>
          <a:prstGeom xmlns:a="http://schemas.openxmlformats.org/drawingml/2006/main" prst="roundRect">
            <a:avLst>
              <a:gd name="adj" fmla="val 6154"/>
            </a:avLst>
          </a:prstGeom>
          <a:solidFill xmlns:a="http://schemas.openxmlformats.org/drawingml/2006/main">
            <a:srgbClr val="F8FAFC"/>
          </a:solidFill>
          <a:ln xmlns:a="http://schemas.openxmlformats.org/drawingml/2006/main" w="9525">
            <a:solidFill>
              <a:srgbClr val="E2E8F0"/>
            </a:solidFill>
            <a:prstDash val="solid"/>
          </a:ln>
        </p:spPr>
      </p:sp>
      <p:sp>
        <p:nvSpPr>
          <p:cNvPr id="9" name="setup-lbl">
            <a:extLst xmlns:a="http://schemas.openxmlformats.org/drawingml/2006/main">
              <a:ext uri="{FF2B5EF4-FFF2-40B4-BE49-F238E27FC236}">
                <a16:creationId xmlns:a16="http://schemas.microsoft.com/office/drawing/2014/main" id="{A5FD3D7F-58B8-45D7-B693-928144CB0825}"/>
              </a:ext>
            </a:extLst>
          </p:cNvPr>
          <p:cNvSpPr>
            <a:spLocks xmlns:a="http://schemas.openxmlformats.org/drawingml/2006/main" noGrp="1"/>
          </p:cNvSpPr>
          <p:nvPr/>
        </p:nvSpPr>
        <p:spPr>
          <a:xfrm xmlns:a="http://schemas.openxmlformats.org/drawingml/2006/main">
            <a:off x="5572125" y="352425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1" i="0">
                <a:solidFill>
                  <a:srgbClr val="1E40AF"/>
                </a:solidFill>
              </a:defRPr>
            </a:defPPr>
          </a:lstStyle>
          <a:p xmlns:a="http://schemas.openxmlformats.org/drawingml/2006/main">
            <a:pPr algn="l">
              <a:lnSpc>
                <a:spcPct val="115000"/>
              </a:lnSpc>
              <a:buNone/>
              <a:defRPr sz="900" b="1" i="0">
                <a:solidFill>
                  <a:srgbClr val="1E40AF"/>
                </a:solidFill>
              </a:defRPr>
            </a:pPr>
            <a:r>
              <a:rPr sz="900" b="1" i="0">
                <a:solidFill>
                  <a:srgbClr val="1E40AF"/>
                </a:solidFill>
              </a:rPr>
              <a:t>CONFIGURAÇÃO TÉCNICA DO DEBATE</a:t>
            </a:r>
          </a:p>
        </p:txBody>
      </p:sp>
      <p:sp>
        <p:nvSpPr>
          <p:cNvPr id="10" name="setup-t1">
            <a:extLst xmlns:a="http://schemas.openxmlformats.org/drawingml/2006/main">
              <a:ext uri="{FF2B5EF4-FFF2-40B4-BE49-F238E27FC236}">
                <a16:creationId xmlns:a16="http://schemas.microsoft.com/office/drawing/2014/main" id="{A3ED30CD-D7F9-4829-88AE-E1CFC729B483}"/>
              </a:ext>
            </a:extLst>
          </p:cNvPr>
          <p:cNvSpPr>
            <a:spLocks xmlns:a="http://schemas.openxmlformats.org/drawingml/2006/main" noGrp="1"/>
          </p:cNvSpPr>
          <p:nvPr/>
        </p:nvSpPr>
        <p:spPr>
          <a:xfrm xmlns:a="http://schemas.openxmlformats.org/drawingml/2006/main">
            <a:off x="5572125" y="37623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Agente 1 (Trabalhista): Antigravity (Gemini) — Defesa de garantias e proteção social</a:t>
            </a:r>
          </a:p>
        </p:txBody>
      </p:sp>
      <p:sp>
        <p:nvSpPr>
          <p:cNvPr id="11" name="setup-t2">
            <a:extLst xmlns:a="http://schemas.openxmlformats.org/drawingml/2006/main">
              <a:ext uri="{FF2B5EF4-FFF2-40B4-BE49-F238E27FC236}">
                <a16:creationId xmlns:a16="http://schemas.microsoft.com/office/drawing/2014/main" id="{BC9A3C05-2C4A-4631-9814-5509F601C44B}"/>
              </a:ext>
            </a:extLst>
          </p:cNvPr>
          <p:cNvSpPr>
            <a:spLocks xmlns:a="http://schemas.openxmlformats.org/drawingml/2006/main" noGrp="1"/>
          </p:cNvSpPr>
          <p:nvPr/>
        </p:nvSpPr>
        <p:spPr>
          <a:xfrm xmlns:a="http://schemas.openxmlformats.org/drawingml/2006/main">
            <a:off x="5572125" y="40195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Agente 2 (Liberal): Qwen 2.5 1.5B (Local via Ollama) — Análise de custos e incentivos de mercado</a:t>
            </a:r>
          </a:p>
        </p:txBody>
      </p:sp>
      <p:sp>
        <p:nvSpPr>
          <p:cNvPr id="12" name="setup-t3">
            <a:extLst xmlns:a="http://schemas.openxmlformats.org/drawingml/2006/main">
              <a:ext uri="{FF2B5EF4-FFF2-40B4-BE49-F238E27FC236}">
                <a16:creationId xmlns:a16="http://schemas.microsoft.com/office/drawing/2014/main" id="{63640B09-28F1-459E-8826-D197D4BEB4D6}"/>
              </a:ext>
            </a:extLst>
          </p:cNvPr>
          <p:cNvSpPr>
            <a:spLocks xmlns:a="http://schemas.openxmlformats.org/drawingml/2006/main" noGrp="1"/>
          </p:cNvSpPr>
          <p:nvPr/>
        </p:nvSpPr>
        <p:spPr>
          <a:xfrm xmlns:a="http://schemas.openxmlformats.org/drawingml/2006/main">
            <a:off x="5572125" y="42767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Agente 3 (Juiz): Antigravity (Gemini) — Mediação, vereditos críticos e construção da estratégia</a:t>
            </a:r>
          </a:p>
        </p:txBody>
      </p:sp>
      <p:sp>
        <p:nvSpPr>
          <p:cNvPr id="13" name="hl-0">
            <a:extLst xmlns:a="http://schemas.openxmlformats.org/drawingml/2006/main">
              <a:ext uri="{FF2B5EF4-FFF2-40B4-BE49-F238E27FC236}">
                <a16:creationId xmlns:a16="http://schemas.microsoft.com/office/drawing/2014/main" id="{64BEBBF3-82F7-49FA-ABB0-508B4F5F1A16}"/>
              </a:ext>
            </a:extLst>
          </p:cNvPr>
          <p:cNvSpPr>
            <a:spLocks xmlns:a="http://schemas.openxmlformats.org/drawingml/2006/main" noGrp="1"/>
          </p:cNvSpPr>
          <p:nvPr/>
        </p:nvSpPr>
        <p:spPr>
          <a:xfrm xmlns:a="http://schemas.openxmlformats.org/drawingml/2006/main">
            <a:off x="762000" y="4953000"/>
            <a:ext cx="3238500" cy="2476500"/>
          </a:xfrm>
          <a:prstGeom xmlns:a="http://schemas.openxmlformats.org/drawingml/2006/main" prst="roundRect">
            <a:avLst>
              <a:gd name="adj" fmla="val 3077"/>
            </a:avLst>
          </a:prstGeom>
          <a:solidFill xmlns:a="http://schemas.openxmlformats.org/drawingml/2006/main">
            <a:srgbClr val="F8FAFC"/>
          </a:solidFill>
          <a:ln xmlns:a="http://schemas.openxmlformats.org/drawingml/2006/main" w="9525">
            <a:solidFill>
              <a:srgbClr val="E2E8F0"/>
            </a:solidFill>
            <a:prstDash val="solid"/>
          </a:ln>
        </p:spPr>
      </p:sp>
      <p:sp>
        <p:nvSpPr>
          <p:cNvPr id="14" name="hl-num-0">
            <a:extLst xmlns:a="http://schemas.openxmlformats.org/drawingml/2006/main">
              <a:ext uri="{FF2B5EF4-FFF2-40B4-BE49-F238E27FC236}">
                <a16:creationId xmlns:a16="http://schemas.microsoft.com/office/drawing/2014/main" id="{301B996A-F176-4CCA-AFF1-9B64568A8C13}"/>
              </a:ext>
            </a:extLst>
          </p:cNvPr>
          <p:cNvSpPr>
            <a:spLocks xmlns:a="http://schemas.openxmlformats.org/drawingml/2006/main" noGrp="1"/>
          </p:cNvSpPr>
          <p:nvPr/>
        </p:nvSpPr>
        <p:spPr>
          <a:xfrm xmlns:a="http://schemas.openxmlformats.org/drawingml/2006/main">
            <a:off x="1000125" y="519112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900" b="1" i="0">
                <a:solidFill>
                  <a:srgbClr val="1E40AF"/>
                </a:solidFill>
              </a:defRPr>
            </a:defPPr>
          </a:lstStyle>
          <a:p xmlns:a="http://schemas.openxmlformats.org/drawingml/2006/main">
            <a:pPr algn="l">
              <a:lnSpc>
                <a:spcPct val="115000"/>
              </a:lnSpc>
              <a:buNone/>
              <a:defRPr sz="3900" b="1" i="0">
                <a:solidFill>
                  <a:srgbClr val="1E40AF"/>
                </a:solidFill>
              </a:defRPr>
            </a:pPr>
            <a:r>
              <a:rPr sz="3900" b="1" i="0">
                <a:solidFill>
                  <a:srgbClr val="1E40AF"/>
                </a:solidFill>
              </a:rPr>
              <a:t>20</a:t>
            </a:r>
          </a:p>
        </p:txBody>
      </p:sp>
      <p:sp>
        <p:nvSpPr>
          <p:cNvPr id="15" name="hl-lbl-0">
            <a:extLst xmlns:a="http://schemas.openxmlformats.org/drawingml/2006/main">
              <a:ext uri="{FF2B5EF4-FFF2-40B4-BE49-F238E27FC236}">
                <a16:creationId xmlns:a16="http://schemas.microsoft.com/office/drawing/2014/main" id="{0F2CDBDA-0816-4221-96B0-2EE70C8A049E}"/>
              </a:ext>
            </a:extLst>
          </p:cNvPr>
          <p:cNvSpPr>
            <a:spLocks xmlns:a="http://schemas.openxmlformats.org/drawingml/2006/main" noGrp="1"/>
          </p:cNvSpPr>
          <p:nvPr/>
        </p:nvSpPr>
        <p:spPr>
          <a:xfrm xmlns:a="http://schemas.openxmlformats.org/drawingml/2006/main">
            <a:off x="1000125" y="59531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0F172A"/>
                </a:solidFill>
              </a:defRPr>
            </a:defPPr>
          </a:lstStyle>
          <a:p xmlns:a="http://schemas.openxmlformats.org/drawingml/2006/main">
            <a:pPr algn="l">
              <a:lnSpc>
                <a:spcPct val="115000"/>
              </a:lnSpc>
              <a:buNone/>
              <a:defRPr sz="1350" b="1" i="0">
                <a:solidFill>
                  <a:srgbClr val="0F172A"/>
                </a:solidFill>
              </a:defRPr>
            </a:pPr>
            <a:r>
              <a:rPr sz="1350" b="1" i="0">
                <a:solidFill>
                  <a:srgbClr val="0F172A"/>
                </a:solidFill>
              </a:rPr>
              <a:t>Rodadas Temáticas</a:t>
            </a:r>
          </a:p>
        </p:txBody>
      </p:sp>
      <p:sp>
        <p:nvSpPr>
          <p:cNvPr id="16" name="hl-desc-0">
            <a:extLst xmlns:a="http://schemas.openxmlformats.org/drawingml/2006/main">
              <a:ext uri="{FF2B5EF4-FFF2-40B4-BE49-F238E27FC236}">
                <a16:creationId xmlns:a16="http://schemas.microsoft.com/office/drawing/2014/main" id="{0A9E6B82-7BA1-498D-881A-CBCFF433ED93}"/>
              </a:ext>
            </a:extLst>
          </p:cNvPr>
          <p:cNvSpPr>
            <a:spLocks xmlns:a="http://schemas.openxmlformats.org/drawingml/2006/main" noGrp="1"/>
          </p:cNvSpPr>
          <p:nvPr/>
        </p:nvSpPr>
        <p:spPr>
          <a:xfrm xmlns:a="http://schemas.openxmlformats.org/drawingml/2006/main">
            <a:off x="1000125" y="6334125"/>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475569"/>
                </a:solidFill>
              </a:defRPr>
            </a:defPPr>
          </a:lstStyle>
          <a:p xmlns:a="http://schemas.openxmlformats.org/drawingml/2006/main">
            <a:pPr algn="l">
              <a:lnSpc>
                <a:spcPct val="115000"/>
              </a:lnSpc>
              <a:buNone/>
              <a:defRPr sz="1050" b="0" i="0">
                <a:solidFill>
                  <a:srgbClr val="475569"/>
                </a:solidFill>
              </a:defRPr>
            </a:pPr>
            <a:r>
              <a:rPr sz="1050" b="0" i="0">
                <a:solidFill>
                  <a:srgbClr val="475569"/>
                </a:solidFill>
              </a:rPr>
              <a:t>Debate cobrindo desde salário mínimo até automação e IA</a:t>
            </a:r>
          </a:p>
        </p:txBody>
      </p:sp>
      <p:sp>
        <p:nvSpPr>
          <p:cNvPr id="17" name="hl-1">
            <a:extLst xmlns:a="http://schemas.openxmlformats.org/drawingml/2006/main">
              <a:ext uri="{FF2B5EF4-FFF2-40B4-BE49-F238E27FC236}">
                <a16:creationId xmlns:a16="http://schemas.microsoft.com/office/drawing/2014/main" id="{935DB090-5678-4BC0-86D6-949399A8296F}"/>
              </a:ext>
            </a:extLst>
          </p:cNvPr>
          <p:cNvSpPr>
            <a:spLocks xmlns:a="http://schemas.openxmlformats.org/drawingml/2006/main" noGrp="1"/>
          </p:cNvSpPr>
          <p:nvPr/>
        </p:nvSpPr>
        <p:spPr>
          <a:xfrm xmlns:a="http://schemas.openxmlformats.org/drawingml/2006/main">
            <a:off x="4286250" y="4953000"/>
            <a:ext cx="3238500" cy="2476500"/>
          </a:xfrm>
          <a:prstGeom xmlns:a="http://schemas.openxmlformats.org/drawingml/2006/main" prst="roundRect">
            <a:avLst>
              <a:gd name="adj" fmla="val 3077"/>
            </a:avLst>
          </a:prstGeom>
          <a:solidFill xmlns:a="http://schemas.openxmlformats.org/drawingml/2006/main">
            <a:srgbClr val="F8FAFC"/>
          </a:solidFill>
          <a:ln xmlns:a="http://schemas.openxmlformats.org/drawingml/2006/main" w="9525">
            <a:solidFill>
              <a:srgbClr val="E2E8F0"/>
            </a:solidFill>
            <a:prstDash val="solid"/>
          </a:ln>
        </p:spPr>
      </p:sp>
      <p:sp>
        <p:nvSpPr>
          <p:cNvPr id="18" name="hl-num-1">
            <a:extLst xmlns:a="http://schemas.openxmlformats.org/drawingml/2006/main">
              <a:ext uri="{FF2B5EF4-FFF2-40B4-BE49-F238E27FC236}">
                <a16:creationId xmlns:a16="http://schemas.microsoft.com/office/drawing/2014/main" id="{8D53C403-0529-48BD-ACE0-7D4CAC951445}"/>
              </a:ext>
            </a:extLst>
          </p:cNvPr>
          <p:cNvSpPr>
            <a:spLocks xmlns:a="http://schemas.openxmlformats.org/drawingml/2006/main" noGrp="1"/>
          </p:cNvSpPr>
          <p:nvPr/>
        </p:nvSpPr>
        <p:spPr>
          <a:xfrm xmlns:a="http://schemas.openxmlformats.org/drawingml/2006/main">
            <a:off x="4524375" y="519112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900" b="1" i="0">
                <a:solidFill>
                  <a:srgbClr val="1E40AF"/>
                </a:solidFill>
              </a:defRPr>
            </a:defPPr>
          </a:lstStyle>
          <a:p xmlns:a="http://schemas.openxmlformats.org/drawingml/2006/main">
            <a:pPr algn="l">
              <a:lnSpc>
                <a:spcPct val="115000"/>
              </a:lnSpc>
              <a:buNone/>
              <a:defRPr sz="3900" b="1" i="0">
                <a:solidFill>
                  <a:srgbClr val="1E40AF"/>
                </a:solidFill>
              </a:defRPr>
            </a:pPr>
            <a:r>
              <a:rPr sz="3900" b="1" i="0">
                <a:solidFill>
                  <a:srgbClr val="1E40AF"/>
                </a:solidFill>
              </a:rPr>
              <a:t>40</a:t>
            </a:r>
          </a:p>
        </p:txBody>
      </p:sp>
      <p:sp>
        <p:nvSpPr>
          <p:cNvPr id="19" name="hl-lbl-1">
            <a:extLst xmlns:a="http://schemas.openxmlformats.org/drawingml/2006/main">
              <a:ext uri="{FF2B5EF4-FFF2-40B4-BE49-F238E27FC236}">
                <a16:creationId xmlns:a16="http://schemas.microsoft.com/office/drawing/2014/main" id="{65298DCE-1641-4DCA-AB5A-43B25A3E996C}"/>
              </a:ext>
            </a:extLst>
          </p:cNvPr>
          <p:cNvSpPr>
            <a:spLocks xmlns:a="http://schemas.openxmlformats.org/drawingml/2006/main" noGrp="1"/>
          </p:cNvSpPr>
          <p:nvPr/>
        </p:nvSpPr>
        <p:spPr>
          <a:xfrm xmlns:a="http://schemas.openxmlformats.org/drawingml/2006/main">
            <a:off x="4524375" y="59531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0F172A"/>
                </a:solidFill>
              </a:defRPr>
            </a:defPPr>
          </a:lstStyle>
          <a:p xmlns:a="http://schemas.openxmlformats.org/drawingml/2006/main">
            <a:pPr algn="l">
              <a:lnSpc>
                <a:spcPct val="115000"/>
              </a:lnSpc>
              <a:buNone/>
              <a:defRPr sz="1350" b="1" i="0">
                <a:solidFill>
                  <a:srgbClr val="0F172A"/>
                </a:solidFill>
              </a:defRPr>
            </a:pPr>
            <a:r>
              <a:rPr sz="1350" b="1" i="0">
                <a:solidFill>
                  <a:srgbClr val="0F172A"/>
                </a:solidFill>
              </a:rPr>
              <a:t>Chamadas ao Qwen Local</a:t>
            </a:r>
          </a:p>
        </p:txBody>
      </p:sp>
      <p:sp>
        <p:nvSpPr>
          <p:cNvPr id="20" name="hl-desc-1">
            <a:extLst xmlns:a="http://schemas.openxmlformats.org/drawingml/2006/main">
              <a:ext uri="{FF2B5EF4-FFF2-40B4-BE49-F238E27FC236}">
                <a16:creationId xmlns:a16="http://schemas.microsoft.com/office/drawing/2014/main" id="{51C45130-B52A-4D33-8154-CBDCAE399F28}"/>
              </a:ext>
            </a:extLst>
          </p:cNvPr>
          <p:cNvSpPr>
            <a:spLocks xmlns:a="http://schemas.openxmlformats.org/drawingml/2006/main" noGrp="1"/>
          </p:cNvSpPr>
          <p:nvPr/>
        </p:nvSpPr>
        <p:spPr>
          <a:xfrm xmlns:a="http://schemas.openxmlformats.org/drawingml/2006/main">
            <a:off x="4524375" y="6334125"/>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475569"/>
                </a:solidFill>
              </a:defRPr>
            </a:defPPr>
          </a:lstStyle>
          <a:p xmlns:a="http://schemas.openxmlformats.org/drawingml/2006/main">
            <a:pPr algn="l">
              <a:lnSpc>
                <a:spcPct val="115000"/>
              </a:lnSpc>
              <a:buNone/>
              <a:defRPr sz="1050" b="0" i="0">
                <a:solidFill>
                  <a:srgbClr val="475569"/>
                </a:solidFill>
              </a:defRPr>
            </a:pPr>
            <a:r>
              <a:rPr sz="1050" b="0" i="0">
                <a:solidFill>
                  <a:srgbClr val="475569"/>
                </a:solidFill>
              </a:rPr>
              <a:t>Respostas reais via Ollama com controle rígido de repetição</a:t>
            </a:r>
          </a:p>
        </p:txBody>
      </p:sp>
      <p:sp>
        <p:nvSpPr>
          <p:cNvPr id="21" name="hl-2">
            <a:extLst xmlns:a="http://schemas.openxmlformats.org/drawingml/2006/main">
              <a:ext uri="{FF2B5EF4-FFF2-40B4-BE49-F238E27FC236}">
                <a16:creationId xmlns:a16="http://schemas.microsoft.com/office/drawing/2014/main" id="{5A5F0A9E-8D60-4DF8-BA60-C5B018F3F23B}"/>
              </a:ext>
            </a:extLst>
          </p:cNvPr>
          <p:cNvSpPr>
            <a:spLocks xmlns:a="http://schemas.openxmlformats.org/drawingml/2006/main" noGrp="1"/>
          </p:cNvSpPr>
          <p:nvPr/>
        </p:nvSpPr>
        <p:spPr>
          <a:xfrm xmlns:a="http://schemas.openxmlformats.org/drawingml/2006/main">
            <a:off x="7810500" y="4953000"/>
            <a:ext cx="3238500" cy="2476500"/>
          </a:xfrm>
          <a:prstGeom xmlns:a="http://schemas.openxmlformats.org/drawingml/2006/main" prst="roundRect">
            <a:avLst>
              <a:gd name="adj" fmla="val 3077"/>
            </a:avLst>
          </a:prstGeom>
          <a:solidFill xmlns:a="http://schemas.openxmlformats.org/drawingml/2006/main">
            <a:srgbClr val="F8FAFC"/>
          </a:solidFill>
          <a:ln xmlns:a="http://schemas.openxmlformats.org/drawingml/2006/main" w="9525">
            <a:solidFill>
              <a:srgbClr val="E2E8F0"/>
            </a:solidFill>
            <a:prstDash val="solid"/>
          </a:ln>
        </p:spPr>
      </p:sp>
      <p:sp>
        <p:nvSpPr>
          <p:cNvPr id="22" name="hl-num-2">
            <a:extLst xmlns:a="http://schemas.openxmlformats.org/drawingml/2006/main">
              <a:ext uri="{FF2B5EF4-FFF2-40B4-BE49-F238E27FC236}">
                <a16:creationId xmlns:a16="http://schemas.microsoft.com/office/drawing/2014/main" id="{59573F87-7DDF-46D7-AAAA-141618EB5D6F}"/>
              </a:ext>
            </a:extLst>
          </p:cNvPr>
          <p:cNvSpPr>
            <a:spLocks xmlns:a="http://schemas.openxmlformats.org/drawingml/2006/main" noGrp="1"/>
          </p:cNvSpPr>
          <p:nvPr/>
        </p:nvSpPr>
        <p:spPr>
          <a:xfrm xmlns:a="http://schemas.openxmlformats.org/drawingml/2006/main">
            <a:off x="8048625" y="519112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900" b="1" i="0">
                <a:solidFill>
                  <a:srgbClr val="1E40AF"/>
                </a:solidFill>
              </a:defRPr>
            </a:defPPr>
          </a:lstStyle>
          <a:p xmlns:a="http://schemas.openxmlformats.org/drawingml/2006/main">
            <a:pPr algn="l">
              <a:lnSpc>
                <a:spcPct val="115000"/>
              </a:lnSpc>
              <a:buNone/>
              <a:defRPr sz="3900" b="1" i="0">
                <a:solidFill>
                  <a:srgbClr val="1E40AF"/>
                </a:solidFill>
              </a:defRPr>
            </a:pPr>
            <a:r>
              <a:rPr sz="3900" b="1" i="0">
                <a:solidFill>
                  <a:srgbClr val="1E40AF"/>
                </a:solidFill>
              </a:rPr>
              <a:t>6</a:t>
            </a:r>
          </a:p>
        </p:txBody>
      </p:sp>
      <p:sp>
        <p:nvSpPr>
          <p:cNvPr id="23" name="hl-lbl-2">
            <a:extLst xmlns:a="http://schemas.openxmlformats.org/drawingml/2006/main">
              <a:ext uri="{FF2B5EF4-FFF2-40B4-BE49-F238E27FC236}">
                <a16:creationId xmlns:a16="http://schemas.microsoft.com/office/drawing/2014/main" id="{A49E8A43-57FD-4D90-9CCC-356799E06499}"/>
              </a:ext>
            </a:extLst>
          </p:cNvPr>
          <p:cNvSpPr>
            <a:spLocks xmlns:a="http://schemas.openxmlformats.org/drawingml/2006/main" noGrp="1"/>
          </p:cNvSpPr>
          <p:nvPr/>
        </p:nvSpPr>
        <p:spPr>
          <a:xfrm xmlns:a="http://schemas.openxmlformats.org/drawingml/2006/main">
            <a:off x="8048625" y="59531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0F172A"/>
                </a:solidFill>
              </a:defRPr>
            </a:defPPr>
          </a:lstStyle>
          <a:p xmlns:a="http://schemas.openxmlformats.org/drawingml/2006/main">
            <a:pPr algn="l">
              <a:lnSpc>
                <a:spcPct val="115000"/>
              </a:lnSpc>
              <a:buNone/>
              <a:defRPr sz="1350" b="1" i="0">
                <a:solidFill>
                  <a:srgbClr val="0F172A"/>
                </a:solidFill>
              </a:defRPr>
            </a:pPr>
            <a:r>
              <a:rPr sz="1350" b="1" i="0">
                <a:solidFill>
                  <a:srgbClr val="0F172A"/>
                </a:solidFill>
              </a:rPr>
              <a:t>Pilares Estratégicos</a:t>
            </a:r>
          </a:p>
        </p:txBody>
      </p:sp>
      <p:sp>
        <p:nvSpPr>
          <p:cNvPr id="24" name="hl-desc-2">
            <a:extLst xmlns:a="http://schemas.openxmlformats.org/drawingml/2006/main">
              <a:ext uri="{FF2B5EF4-FFF2-40B4-BE49-F238E27FC236}">
                <a16:creationId xmlns:a16="http://schemas.microsoft.com/office/drawing/2014/main" id="{832C8421-B8A8-45FB-A932-90C778032F04}"/>
              </a:ext>
            </a:extLst>
          </p:cNvPr>
          <p:cNvSpPr>
            <a:spLocks xmlns:a="http://schemas.openxmlformats.org/drawingml/2006/main" noGrp="1"/>
          </p:cNvSpPr>
          <p:nvPr/>
        </p:nvSpPr>
        <p:spPr>
          <a:xfrm xmlns:a="http://schemas.openxmlformats.org/drawingml/2006/main">
            <a:off x="8048625" y="6334125"/>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475569"/>
                </a:solidFill>
              </a:defRPr>
            </a:defPPr>
          </a:lstStyle>
          <a:p xmlns:a="http://schemas.openxmlformats.org/drawingml/2006/main">
            <a:pPr algn="l">
              <a:lnSpc>
                <a:spcPct val="115000"/>
              </a:lnSpc>
              <a:buNone/>
              <a:defRPr sz="1050" b="0" i="0">
                <a:solidFill>
                  <a:srgbClr val="475569"/>
                </a:solidFill>
              </a:defRPr>
            </a:pPr>
            <a:r>
              <a:rPr sz="1050" b="0" i="0">
                <a:solidFill>
                  <a:srgbClr val="475569"/>
                </a:solidFill>
              </a:rPr>
              <a:t>Construção gradual de um pacto nacional de flexisegurança</a:t>
            </a:r>
          </a:p>
        </p:txBody>
      </p:sp>
      <p:sp>
        <p:nvSpPr>
          <p:cNvPr id="25" name="hl-3">
            <a:extLst xmlns:a="http://schemas.openxmlformats.org/drawingml/2006/main">
              <a:ext uri="{FF2B5EF4-FFF2-40B4-BE49-F238E27FC236}">
                <a16:creationId xmlns:a16="http://schemas.microsoft.com/office/drawing/2014/main" id="{6612CFBD-227E-40D4-A0AA-EABD3D2E23B5}"/>
              </a:ext>
            </a:extLst>
          </p:cNvPr>
          <p:cNvSpPr>
            <a:spLocks xmlns:a="http://schemas.openxmlformats.org/drawingml/2006/main" noGrp="1"/>
          </p:cNvSpPr>
          <p:nvPr/>
        </p:nvSpPr>
        <p:spPr>
          <a:xfrm xmlns:a="http://schemas.openxmlformats.org/drawingml/2006/main">
            <a:off x="11334750" y="4953000"/>
            <a:ext cx="3238500" cy="2476500"/>
          </a:xfrm>
          <a:prstGeom xmlns:a="http://schemas.openxmlformats.org/drawingml/2006/main" prst="roundRect">
            <a:avLst>
              <a:gd name="adj" fmla="val 3077"/>
            </a:avLst>
          </a:prstGeom>
          <a:solidFill xmlns:a="http://schemas.openxmlformats.org/drawingml/2006/main">
            <a:srgbClr val="F8FAFC"/>
          </a:solidFill>
          <a:ln xmlns:a="http://schemas.openxmlformats.org/drawingml/2006/main" w="9525">
            <a:solidFill>
              <a:srgbClr val="E2E8F0"/>
            </a:solidFill>
            <a:prstDash val="solid"/>
          </a:ln>
        </p:spPr>
      </p:sp>
      <p:sp>
        <p:nvSpPr>
          <p:cNvPr id="26" name="hl-num-3">
            <a:extLst xmlns:a="http://schemas.openxmlformats.org/drawingml/2006/main">
              <a:ext uri="{FF2B5EF4-FFF2-40B4-BE49-F238E27FC236}">
                <a16:creationId xmlns:a16="http://schemas.microsoft.com/office/drawing/2014/main" id="{F2B3840A-5C4E-4676-B627-FEC21199CD62}"/>
              </a:ext>
            </a:extLst>
          </p:cNvPr>
          <p:cNvSpPr>
            <a:spLocks xmlns:a="http://schemas.openxmlformats.org/drawingml/2006/main" noGrp="1"/>
          </p:cNvSpPr>
          <p:nvPr/>
        </p:nvSpPr>
        <p:spPr>
          <a:xfrm xmlns:a="http://schemas.openxmlformats.org/drawingml/2006/main">
            <a:off x="11572875" y="519112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900" b="1" i="0">
                <a:solidFill>
                  <a:srgbClr val="1E40AF"/>
                </a:solidFill>
              </a:defRPr>
            </a:defPPr>
          </a:lstStyle>
          <a:p xmlns:a="http://schemas.openxmlformats.org/drawingml/2006/main">
            <a:pPr algn="l">
              <a:lnSpc>
                <a:spcPct val="115000"/>
              </a:lnSpc>
              <a:buNone/>
              <a:defRPr sz="3900" b="1" i="0">
                <a:solidFill>
                  <a:srgbClr val="1E40AF"/>
                </a:solidFill>
              </a:defRPr>
            </a:pPr>
            <a:r>
              <a:rPr sz="3900" b="1" i="0">
                <a:solidFill>
                  <a:srgbClr val="1E40AF"/>
                </a:solidFill>
              </a:rPr>
              <a:t>100%</a:t>
            </a:r>
          </a:p>
        </p:txBody>
      </p:sp>
      <p:sp>
        <p:nvSpPr>
          <p:cNvPr id="27" name="hl-lbl-3">
            <a:extLst xmlns:a="http://schemas.openxmlformats.org/drawingml/2006/main">
              <a:ext uri="{FF2B5EF4-FFF2-40B4-BE49-F238E27FC236}">
                <a16:creationId xmlns:a16="http://schemas.microsoft.com/office/drawing/2014/main" id="{B5A4A394-D033-4F3D-9898-5A7E7BDEC172}"/>
              </a:ext>
            </a:extLst>
          </p:cNvPr>
          <p:cNvSpPr>
            <a:spLocks xmlns:a="http://schemas.openxmlformats.org/drawingml/2006/main" noGrp="1"/>
          </p:cNvSpPr>
          <p:nvPr/>
        </p:nvSpPr>
        <p:spPr>
          <a:xfrm xmlns:a="http://schemas.openxmlformats.org/drawingml/2006/main">
            <a:off x="11572875" y="59531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0F172A"/>
                </a:solidFill>
              </a:defRPr>
            </a:defPPr>
          </a:lstStyle>
          <a:p xmlns:a="http://schemas.openxmlformats.org/drawingml/2006/main">
            <a:pPr algn="l">
              <a:lnSpc>
                <a:spcPct val="115000"/>
              </a:lnSpc>
              <a:buNone/>
              <a:defRPr sz="1350" b="1" i="0">
                <a:solidFill>
                  <a:srgbClr val="0F172A"/>
                </a:solidFill>
              </a:defRPr>
            </a:pPr>
            <a:r>
              <a:rPr sz="1350" b="1" i="0">
                <a:solidFill>
                  <a:srgbClr val="0F172A"/>
                </a:solidFill>
              </a:rPr>
              <a:t>Conclusão e Registro</a:t>
            </a:r>
          </a:p>
        </p:txBody>
      </p:sp>
      <p:sp>
        <p:nvSpPr>
          <p:cNvPr id="28" name="hl-desc-3">
            <a:extLst xmlns:a="http://schemas.openxmlformats.org/drawingml/2006/main">
              <a:ext uri="{FF2B5EF4-FFF2-40B4-BE49-F238E27FC236}">
                <a16:creationId xmlns:a16="http://schemas.microsoft.com/office/drawing/2014/main" id="{D6F9CA1B-B4F6-4872-8FB4-AEA8B6D04557}"/>
              </a:ext>
            </a:extLst>
          </p:cNvPr>
          <p:cNvSpPr>
            <a:spLocks xmlns:a="http://schemas.openxmlformats.org/drawingml/2006/main" noGrp="1"/>
          </p:cNvSpPr>
          <p:nvPr/>
        </p:nvSpPr>
        <p:spPr>
          <a:xfrm xmlns:a="http://schemas.openxmlformats.org/drawingml/2006/main">
            <a:off x="11572875" y="6334125"/>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475569"/>
                </a:solidFill>
              </a:defRPr>
            </a:defPPr>
          </a:lstStyle>
          <a:p xmlns:a="http://schemas.openxmlformats.org/drawingml/2006/main">
            <a:pPr algn="l">
              <a:lnSpc>
                <a:spcPct val="115000"/>
              </a:lnSpc>
              <a:buNone/>
              <a:defRPr sz="1050" b="0" i="0">
                <a:solidFill>
                  <a:srgbClr val="475569"/>
                </a:solidFill>
              </a:defRPr>
            </a:pPr>
            <a:r>
              <a:rPr sz="1050" b="0" i="0">
                <a:solidFill>
                  <a:srgbClr val="475569"/>
                </a:solidFill>
              </a:rPr>
              <a:t>Todas as 20 rodadas salvas em JSON e Markdown</a:t>
            </a:r>
          </a:p>
        </p:txBody>
      </p:sp>
      <p:sp>
        <p:nvSpPr>
          <p:cNvPr id="29" name="cover-footer">
            <a:extLst xmlns:a="http://schemas.openxmlformats.org/drawingml/2006/main">
              <a:ext uri="{FF2B5EF4-FFF2-40B4-BE49-F238E27FC236}">
                <a16:creationId xmlns:a16="http://schemas.microsoft.com/office/drawing/2014/main" id="{C8F84E29-EC11-4B79-B4FA-9E94D64058FD}"/>
              </a:ext>
            </a:extLst>
          </p:cNvPr>
          <p:cNvSpPr>
            <a:spLocks xmlns:a="http://schemas.openxmlformats.org/drawingml/2006/main" noGrp="1"/>
          </p:cNvSpPr>
          <p:nvPr/>
        </p:nvSpPr>
        <p:spPr>
          <a:xfrm xmlns:a="http://schemas.openxmlformats.org/drawingml/2006/main">
            <a:off x="762000" y="8048625"/>
            <a:ext cx="1371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1" i="0">
                <a:solidFill>
                  <a:srgbClr val="94A3B8"/>
                </a:solidFill>
              </a:defRPr>
            </a:defPPr>
          </a:lstStyle>
          <a:p xmlns:a="http://schemas.openxmlformats.org/drawingml/2006/main">
            <a:pPr algn="l">
              <a:lnSpc>
                <a:spcPct val="115000"/>
              </a:lnSpc>
              <a:buNone/>
              <a:defRPr sz="900" b="1" i="0">
                <a:solidFill>
                  <a:srgbClr val="94A3B8"/>
                </a:solidFill>
              </a:defRPr>
            </a:pPr>
            <a:r>
              <a:rPr sz="900" b="1" i="0">
                <a:solidFill>
                  <a:srgbClr val="94A3B8"/>
                </a:solidFill>
              </a:rPr>
              <a:t>DEBATE HÍBRIDO EM LOOP · ANDREZA MARIA COUTINHO FALCÃO · 2026</a:t>
            </a:r>
          </a:p>
        </p:txBody>
      </p:sp>
    </p:spTree>
    <p:extLst>
      <p:ext uri="{BB962C8B-B14F-4D97-AF65-F5344CB8AC3E}">
        <p14:creationId xmlns:p14="http://schemas.microsoft.com/office/powerpoint/2010/main" val="5924778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FF9FF968-94C4-485A-AC01-FA799E287ED0}"/>
              </a:ext>
            </a:extLst>
          </p:cNvPr>
          <p:cNvCxnSpPr>
            <a:stCxn xmlns:a="http://schemas.openxmlformats.org/drawingml/2006/main" id="12" idx="2"/>
            <a:endCxn xmlns:a="http://schemas.openxmlformats.org/drawingml/2006/main" id="22" idx="3"/>
          </p:cNvCxnSpPr>
          <p:nvPr/>
        </p:nvCxnSpPr>
        <p:spPr>
          <a:xfrm xmlns:a="http://schemas.openxmlformats.org/drawingml/2006/main" flipH="1">
            <a:off x="10287000" y="3333750"/>
            <a:ext cx="2190750" cy="1714500"/>
          </a:xfrm>
          <a:prstGeom xmlns:a="http://schemas.openxmlformats.org/drawingml/2006/main" prst="straightConnector1">
            <a:avLst/>
          </a:prstGeom>
          <a:ln xmlns:a="http://schemas.openxmlformats.org/drawingml/2006/main" w="19050">
            <a:solidFill>
              <a:srgbClr val="475569"/>
            </a:solidFill>
            <a:headEnd type="triangle" w="med" len="med"/>
          </a:ln>
        </p:spPr>
      </p:cxnSp>
      <p:cxnSp>
        <p:nvCxnSpPr>
          <p:cNvPr id="26" name="">
            <a:extLst xmlns:a="http://schemas.openxmlformats.org/drawingml/2006/main">
              <a:ext uri="{FF2B5EF4-FFF2-40B4-BE49-F238E27FC236}">
                <a16:creationId xmlns:a16="http://schemas.microsoft.com/office/drawing/2014/main" id="{93FF6B57-45BB-4AF1-82C1-6430BFB9BA01}"/>
              </a:ext>
            </a:extLst>
          </p:cNvPr>
          <p:cNvCxnSpPr>
            <a:stCxn xmlns:a="http://schemas.openxmlformats.org/drawingml/2006/main" id="8" idx="2"/>
            <a:endCxn xmlns:a="http://schemas.openxmlformats.org/drawingml/2006/main" id="22" idx="1"/>
          </p:cNvCxnSpPr>
          <p:nvPr/>
        </p:nvCxnSpPr>
        <p:spPr>
          <a:xfrm xmlns:a="http://schemas.openxmlformats.org/drawingml/2006/main">
            <a:off x="2762250" y="3333750"/>
            <a:ext cx="2190750" cy="1714500"/>
          </a:xfrm>
          <a:prstGeom xmlns:a="http://schemas.openxmlformats.org/drawingml/2006/main" prst="straightConnector1">
            <a:avLst/>
          </a:prstGeom>
          <a:ln xmlns:a="http://schemas.openxmlformats.org/drawingml/2006/main" w="19050">
            <a:solidFill>
              <a:srgbClr val="475569"/>
            </a:solidFill>
            <a:headEnd type="triangle" w="med" len="med"/>
          </a:ln>
        </p:spPr>
      </p:cxnSp>
      <p:cxnSp>
        <p:nvCxnSpPr>
          <p:cNvPr id="21" name="">
            <a:extLst xmlns:a="http://schemas.openxmlformats.org/drawingml/2006/main">
              <a:ext uri="{FF2B5EF4-FFF2-40B4-BE49-F238E27FC236}">
                <a16:creationId xmlns:a16="http://schemas.microsoft.com/office/drawing/2014/main" id="{8726FBE6-48E0-4D4D-9FB6-9F3704C3D5E1}"/>
              </a:ext>
            </a:extLst>
          </p:cNvPr>
          <p:cNvCxnSpPr>
            <a:stCxn xmlns:a="http://schemas.openxmlformats.org/drawingml/2006/main" id="8" idx="3"/>
            <a:endCxn xmlns:a="http://schemas.openxmlformats.org/drawingml/2006/main" id="12" idx="1"/>
          </p:cNvCxnSpPr>
          <p:nvPr/>
        </p:nvCxnSpPr>
        <p:spPr>
          <a:xfrm xmlns:a="http://schemas.openxmlformats.org/drawingml/2006/main">
            <a:off x="4572000" y="2524125"/>
            <a:ext cx="6096000" cy="0"/>
          </a:xfrm>
          <a:prstGeom xmlns:a="http://schemas.openxmlformats.org/drawingml/2006/main" prst="straightConnector1">
            <a:avLst/>
          </a:prstGeom>
          <a:ln xmlns:a="http://schemas.openxmlformats.org/drawingml/2006/main" w="19050">
            <a:solidFill>
              <a:srgbClr val="475569"/>
            </a:solidFill>
            <a:headEnd type="triangle" w="med" len="med"/>
            <a:tailEnd type="triangle" w="med" len="med"/>
          </a:ln>
        </p:spPr>
      </p:cxnSp>
      <p:sp>
        <p:nvSpPr>
          <p:cNvPr id="34" name="header-author">
            <a:extLst xmlns:a="http://schemas.openxmlformats.org/drawingml/2006/main">
              <a:ext uri="{FF2B5EF4-FFF2-40B4-BE49-F238E27FC236}">
                <a16:creationId xmlns:a16="http://schemas.microsoft.com/office/drawing/2014/main" id="{8E8D2D57-DCEB-42FE-ADC9-EA182C0348FA}"/>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4D873DA5-6826-42A9-9CC8-868CAA16BB2A}"/>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5C332D5A-91BC-42EC-96FC-207602A53DAC}"/>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Desenho do Loop e Arquitetura de Comunicação</a:t>
            </a:r>
          </a:p>
        </p:txBody>
      </p:sp>
      <p:sp>
        <p:nvSpPr>
          <p:cNvPr id="4" name="header-sub">
            <a:extLst xmlns:a="http://schemas.openxmlformats.org/drawingml/2006/main">
              <a:ext uri="{FF2B5EF4-FFF2-40B4-BE49-F238E27FC236}">
                <a16:creationId xmlns:a16="http://schemas.microsoft.com/office/drawing/2014/main" id="{3D015F9C-2B3F-4D5D-AC25-607DD8747545}"/>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Fluxo de dados em tempo real entre o modelo remoto (Antigravity) e o modelo local (Qwen via Ollama)</a:t>
            </a:r>
          </a:p>
        </p:txBody>
      </p:sp>
      <p:sp>
        <p:nvSpPr>
          <p:cNvPr id="5" name="footer-rule">
            <a:extLst xmlns:a="http://schemas.openxmlformats.org/drawingml/2006/main">
              <a:ext uri="{FF2B5EF4-FFF2-40B4-BE49-F238E27FC236}">
                <a16:creationId xmlns:a16="http://schemas.microsoft.com/office/drawing/2014/main" id="{5B1BEF4A-BEF0-436A-B4C1-9B7D2B6F6A49}"/>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CFD96372-D488-44FF-BCF5-82E58D7E7BBC}"/>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A7F89B8C-D792-4117-BB1D-E732C98A3C04}"/>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02</a:t>
            </a:r>
          </a:p>
        </p:txBody>
      </p:sp>
      <p:sp>
        <p:nvSpPr>
          <p:cNvPr id="8" name="node-a1">
            <a:extLst xmlns:a="http://schemas.openxmlformats.org/drawingml/2006/main">
              <a:ext uri="{FF2B5EF4-FFF2-40B4-BE49-F238E27FC236}">
                <a16:creationId xmlns:a16="http://schemas.microsoft.com/office/drawing/2014/main" id="{F2F313A3-05D1-4DF1-84F5-744916D70743}"/>
              </a:ext>
            </a:extLst>
          </p:cNvPr>
          <p:cNvSpPr>
            <a:spLocks xmlns:a="http://schemas.openxmlformats.org/drawingml/2006/main" noGrp="1"/>
          </p:cNvSpPr>
          <p:nvPr/>
        </p:nvSpPr>
        <p:spPr>
          <a:xfrm xmlns:a="http://schemas.openxmlformats.org/drawingml/2006/main">
            <a:off x="952500" y="1714500"/>
            <a:ext cx="3619500" cy="1619250"/>
          </a:xfrm>
          <a:prstGeom xmlns:a="http://schemas.openxmlformats.org/drawingml/2006/main" prst="roundRect">
            <a:avLst>
              <a:gd name="adj" fmla="val 4706"/>
            </a:avLst>
          </a:prstGeom>
          <a:solidFill xmlns:a="http://schemas.openxmlformats.org/drawingml/2006/main">
            <a:srgbClr val="FEF2F2"/>
          </a:solidFill>
          <a:ln xmlns:a="http://schemas.openxmlformats.org/drawingml/2006/main" w="19050">
            <a:solidFill>
              <a:srgbClr val="FECACA"/>
            </a:solidFill>
            <a:prstDash val="solid"/>
          </a:ln>
        </p:spPr>
      </p:sp>
      <p:sp>
        <p:nvSpPr>
          <p:cNvPr id="9" name="a1-t">
            <a:extLst xmlns:a="http://schemas.openxmlformats.org/drawingml/2006/main">
              <a:ext uri="{FF2B5EF4-FFF2-40B4-BE49-F238E27FC236}">
                <a16:creationId xmlns:a16="http://schemas.microsoft.com/office/drawing/2014/main" id="{F310552F-B3D7-48E7-BD44-68175C1E0CB3}"/>
              </a:ext>
            </a:extLst>
          </p:cNvPr>
          <p:cNvSpPr>
            <a:spLocks xmlns:a="http://schemas.openxmlformats.org/drawingml/2006/main" noGrp="1"/>
          </p:cNvSpPr>
          <p:nvPr/>
        </p:nvSpPr>
        <p:spPr>
          <a:xfrm xmlns:a="http://schemas.openxmlformats.org/drawingml/2006/main">
            <a:off x="1143000" y="19050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991B1B"/>
                </a:solidFill>
              </a:defRPr>
            </a:defPPr>
          </a:lstStyle>
          <a:p xmlns:a="http://schemas.openxmlformats.org/drawingml/2006/main">
            <a:pPr algn="l">
              <a:lnSpc>
                <a:spcPct val="115000"/>
              </a:lnSpc>
              <a:buNone/>
              <a:defRPr sz="1125" b="1" i="0">
                <a:solidFill>
                  <a:srgbClr val="991B1B"/>
                </a:solidFill>
              </a:defRPr>
            </a:pPr>
            <a:r>
              <a:rPr sz="1125" b="1" i="0">
                <a:solidFill>
                  <a:srgbClr val="991B1B"/>
                </a:solidFill>
              </a:rPr>
              <a:t>AGENTE 1 · TRABALHISTA</a:t>
            </a:r>
          </a:p>
        </p:txBody>
      </p:sp>
      <p:sp>
        <p:nvSpPr>
          <p:cNvPr id="10" name="a1-m">
            <a:extLst xmlns:a="http://schemas.openxmlformats.org/drawingml/2006/main">
              <a:ext uri="{FF2B5EF4-FFF2-40B4-BE49-F238E27FC236}">
                <a16:creationId xmlns:a16="http://schemas.microsoft.com/office/drawing/2014/main" id="{51B046FB-6F17-4B54-9895-237AE52C4237}"/>
              </a:ext>
            </a:extLst>
          </p:cNvPr>
          <p:cNvSpPr>
            <a:spLocks xmlns:a="http://schemas.openxmlformats.org/drawingml/2006/main" noGrp="1"/>
          </p:cNvSpPr>
          <p:nvPr/>
        </p:nvSpPr>
        <p:spPr>
          <a:xfrm xmlns:a="http://schemas.openxmlformats.org/drawingml/2006/main">
            <a:off x="1143000" y="21526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Antigravity (Gemini Remoto)</a:t>
            </a:r>
          </a:p>
        </p:txBody>
      </p:sp>
      <p:sp>
        <p:nvSpPr>
          <p:cNvPr id="11" name="a1-d">
            <a:extLst xmlns:a="http://schemas.openxmlformats.org/drawingml/2006/main">
              <a:ext uri="{FF2B5EF4-FFF2-40B4-BE49-F238E27FC236}">
                <a16:creationId xmlns:a16="http://schemas.microsoft.com/office/drawing/2014/main" id="{3AEC4154-D318-45A4-83F9-F94F43AB8225}"/>
              </a:ext>
            </a:extLst>
          </p:cNvPr>
          <p:cNvSpPr>
            <a:spLocks xmlns:a="http://schemas.openxmlformats.org/drawingml/2006/main" noGrp="1"/>
          </p:cNvSpPr>
          <p:nvPr/>
        </p:nvSpPr>
        <p:spPr>
          <a:xfrm xmlns:a="http://schemas.openxmlformats.org/drawingml/2006/main">
            <a:off x="1143000" y="2428875"/>
            <a:ext cx="3238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1E293B"/>
                </a:solidFill>
              </a:defRPr>
            </a:defPPr>
          </a:lstStyle>
          <a:p xmlns:a="http://schemas.openxmlformats.org/drawingml/2006/main">
            <a:pPr algn="l">
              <a:lnSpc>
                <a:spcPct val="115000"/>
              </a:lnSpc>
              <a:buNone/>
              <a:defRPr sz="975" b="0" i="0">
                <a:solidFill>
                  <a:srgbClr val="1E293B"/>
                </a:solidFill>
              </a:defRPr>
            </a:pPr>
            <a:r>
              <a:rPr sz="975" b="0" i="0">
                <a:solidFill>
                  <a:srgbClr val="1E293B"/>
                </a:solidFill>
              </a:rPr>
              <a:t>Abre o debate e formula contrapropostas de dignidade, renda e regulação protetiva.</a:t>
            </a:r>
          </a:p>
        </p:txBody>
      </p:sp>
      <p:sp>
        <p:nvSpPr>
          <p:cNvPr id="12" name="node-a2">
            <a:extLst xmlns:a="http://schemas.openxmlformats.org/drawingml/2006/main">
              <a:ext uri="{FF2B5EF4-FFF2-40B4-BE49-F238E27FC236}">
                <a16:creationId xmlns:a16="http://schemas.microsoft.com/office/drawing/2014/main" id="{9E482EA9-7770-45D9-90B9-996570B10C59}"/>
              </a:ext>
            </a:extLst>
          </p:cNvPr>
          <p:cNvSpPr>
            <a:spLocks xmlns:a="http://schemas.openxmlformats.org/drawingml/2006/main" noGrp="1"/>
          </p:cNvSpPr>
          <p:nvPr/>
        </p:nvSpPr>
        <p:spPr>
          <a:xfrm xmlns:a="http://schemas.openxmlformats.org/drawingml/2006/main">
            <a:off x="10668000" y="1714500"/>
            <a:ext cx="3619500" cy="1619250"/>
          </a:xfrm>
          <a:prstGeom xmlns:a="http://schemas.openxmlformats.org/drawingml/2006/main" prst="roundRect">
            <a:avLst>
              <a:gd name="adj" fmla="val 4706"/>
            </a:avLst>
          </a:prstGeom>
          <a:solidFill xmlns:a="http://schemas.openxmlformats.org/drawingml/2006/main">
            <a:srgbClr val="ECFDF5"/>
          </a:solidFill>
          <a:ln xmlns:a="http://schemas.openxmlformats.org/drawingml/2006/main" w="19050">
            <a:solidFill>
              <a:srgbClr val="A7F3D0"/>
            </a:solidFill>
            <a:prstDash val="solid"/>
          </a:ln>
        </p:spPr>
      </p:sp>
      <p:sp>
        <p:nvSpPr>
          <p:cNvPr id="13" name="a2-t">
            <a:extLst xmlns:a="http://schemas.openxmlformats.org/drawingml/2006/main">
              <a:ext uri="{FF2B5EF4-FFF2-40B4-BE49-F238E27FC236}">
                <a16:creationId xmlns:a16="http://schemas.microsoft.com/office/drawing/2014/main" id="{7505E0B9-A894-4477-837A-143637019281}"/>
              </a:ext>
            </a:extLst>
          </p:cNvPr>
          <p:cNvSpPr>
            <a:spLocks xmlns:a="http://schemas.openxmlformats.org/drawingml/2006/main" noGrp="1"/>
          </p:cNvSpPr>
          <p:nvPr/>
        </p:nvSpPr>
        <p:spPr>
          <a:xfrm xmlns:a="http://schemas.openxmlformats.org/drawingml/2006/main">
            <a:off x="10858500" y="19050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065F46"/>
                </a:solidFill>
              </a:defRPr>
            </a:defPPr>
          </a:lstStyle>
          <a:p xmlns:a="http://schemas.openxmlformats.org/drawingml/2006/main">
            <a:pPr algn="l">
              <a:lnSpc>
                <a:spcPct val="115000"/>
              </a:lnSpc>
              <a:buNone/>
              <a:defRPr sz="1125" b="1" i="0">
                <a:solidFill>
                  <a:srgbClr val="065F46"/>
                </a:solidFill>
              </a:defRPr>
            </a:pPr>
            <a:r>
              <a:rPr sz="1125" b="1" i="0">
                <a:solidFill>
                  <a:srgbClr val="065F46"/>
                </a:solidFill>
              </a:rPr>
              <a:t>AGENTE 2 · LIBERAL</a:t>
            </a:r>
          </a:p>
        </p:txBody>
      </p:sp>
      <p:sp>
        <p:nvSpPr>
          <p:cNvPr id="14" name="a2-m">
            <a:extLst xmlns:a="http://schemas.openxmlformats.org/drawingml/2006/main">
              <a:ext uri="{FF2B5EF4-FFF2-40B4-BE49-F238E27FC236}">
                <a16:creationId xmlns:a16="http://schemas.microsoft.com/office/drawing/2014/main" id="{266A18EF-CD13-4D56-9FE5-EE8DD2101D8F}"/>
              </a:ext>
            </a:extLst>
          </p:cNvPr>
          <p:cNvSpPr>
            <a:spLocks xmlns:a="http://schemas.openxmlformats.org/drawingml/2006/main" noGrp="1"/>
          </p:cNvSpPr>
          <p:nvPr/>
        </p:nvSpPr>
        <p:spPr>
          <a:xfrm xmlns:a="http://schemas.openxmlformats.org/drawingml/2006/main">
            <a:off x="10858500" y="21526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Qwen 2.5 1.5B (Local via Ollama)</a:t>
            </a:r>
          </a:p>
        </p:txBody>
      </p:sp>
      <p:sp>
        <p:nvSpPr>
          <p:cNvPr id="15" name="a2-d">
            <a:extLst xmlns:a="http://schemas.openxmlformats.org/drawingml/2006/main">
              <a:ext uri="{FF2B5EF4-FFF2-40B4-BE49-F238E27FC236}">
                <a16:creationId xmlns:a16="http://schemas.microsoft.com/office/drawing/2014/main" id="{E0A384C6-01EF-4778-BF00-8E7FF6BF0CD1}"/>
              </a:ext>
            </a:extLst>
          </p:cNvPr>
          <p:cNvSpPr>
            <a:spLocks xmlns:a="http://schemas.openxmlformats.org/drawingml/2006/main" noGrp="1"/>
          </p:cNvSpPr>
          <p:nvPr/>
        </p:nvSpPr>
        <p:spPr>
          <a:xfrm xmlns:a="http://schemas.openxmlformats.org/drawingml/2006/main">
            <a:off x="10858500" y="2428875"/>
            <a:ext cx="3238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1E293B"/>
                </a:solidFill>
              </a:defRPr>
            </a:defPPr>
          </a:lstStyle>
          <a:p xmlns:a="http://schemas.openxmlformats.org/drawingml/2006/main">
            <a:pPr algn="l">
              <a:lnSpc>
                <a:spcPct val="115000"/>
              </a:lnSpc>
              <a:buNone/>
              <a:defRPr sz="975" b="0" i="0">
                <a:solidFill>
                  <a:srgbClr val="1E293B"/>
                </a:solidFill>
              </a:defRPr>
            </a:pPr>
            <a:r>
              <a:rPr sz="975" b="0" i="0">
                <a:solidFill>
                  <a:srgbClr val="1E293B"/>
                </a:solidFill>
              </a:rPr>
              <a:t>Executado na máquina local. Identifica custos, incentivos adversos e faz perguntas concretas.</a:t>
            </a:r>
          </a:p>
        </p:txBody>
      </p:sp>
      <p:sp>
        <p:nvSpPr>
          <p:cNvPr id="16" name="node-turns">
            <a:extLst xmlns:a="http://schemas.openxmlformats.org/drawingml/2006/main">
              <a:ext uri="{FF2B5EF4-FFF2-40B4-BE49-F238E27FC236}">
                <a16:creationId xmlns:a16="http://schemas.microsoft.com/office/drawing/2014/main" id="{345DF418-DBC9-44F2-9F9A-44B9F8912AD7}"/>
              </a:ext>
            </a:extLst>
          </p:cNvPr>
          <p:cNvSpPr>
            <a:spLocks xmlns:a="http://schemas.openxmlformats.org/drawingml/2006/main" noGrp="1"/>
          </p:cNvSpPr>
          <p:nvPr/>
        </p:nvSpPr>
        <p:spPr>
          <a:xfrm xmlns:a="http://schemas.openxmlformats.org/drawingml/2006/main">
            <a:off x="4953000" y="1714500"/>
            <a:ext cx="5334000" cy="1619250"/>
          </a:xfrm>
          <a:prstGeom xmlns:a="http://schemas.openxmlformats.org/drawingml/2006/main" prst="roundRect">
            <a:avLst>
              <a:gd name="adj" fmla="val 4706"/>
            </a:avLst>
          </a:prstGeom>
          <a:solidFill xmlns:a="http://schemas.openxmlformats.org/drawingml/2006/main">
            <a:srgbClr val="F8FAFC"/>
          </a:solidFill>
          <a:ln xmlns:a="http://schemas.openxmlformats.org/drawingml/2006/main" w="9525">
            <a:solidFill>
              <a:srgbClr val="E2E8F0"/>
            </a:solidFill>
            <a:prstDash val="solid"/>
          </a:ln>
        </p:spPr>
      </p:sp>
      <p:sp>
        <p:nvSpPr>
          <p:cNvPr id="17" name="turns-t">
            <a:extLst xmlns:a="http://schemas.openxmlformats.org/drawingml/2006/main">
              <a:ext uri="{FF2B5EF4-FFF2-40B4-BE49-F238E27FC236}">
                <a16:creationId xmlns:a16="http://schemas.microsoft.com/office/drawing/2014/main" id="{3282C194-139B-477B-B958-FD0E2AB697DD}"/>
              </a:ext>
            </a:extLst>
          </p:cNvPr>
          <p:cNvSpPr>
            <a:spLocks xmlns:a="http://schemas.openxmlformats.org/drawingml/2006/main" noGrp="1"/>
          </p:cNvSpPr>
          <p:nvPr/>
        </p:nvSpPr>
        <p:spPr>
          <a:xfrm xmlns:a="http://schemas.openxmlformats.org/drawingml/2006/main">
            <a:off x="5143500" y="1857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i="0">
                <a:solidFill>
                  <a:srgbClr val="0F172A"/>
                </a:solidFill>
              </a:defRPr>
            </a:defPPr>
          </a:lstStyle>
          <a:p xmlns:a="http://schemas.openxmlformats.org/drawingml/2006/main">
            <a:pPr algn="ctr">
              <a:lnSpc>
                <a:spcPct val="115000"/>
              </a:lnSpc>
              <a:buNone/>
              <a:defRPr sz="1050" b="1" i="0">
                <a:solidFill>
                  <a:srgbClr val="0F172A"/>
                </a:solidFill>
              </a:defRPr>
            </a:pPr>
            <a:r>
              <a:rPr sz="1050" b="1" i="0">
                <a:solidFill>
                  <a:srgbClr val="0F172A"/>
                </a:solidFill>
              </a:rPr>
              <a:t>CICLO DE INTERCÂMBIO NA RODADA</a:t>
            </a:r>
          </a:p>
        </p:txBody>
      </p:sp>
      <p:sp>
        <p:nvSpPr>
          <p:cNvPr id="18" name="turns-1">
            <a:extLst xmlns:a="http://schemas.openxmlformats.org/drawingml/2006/main">
              <a:ext uri="{FF2B5EF4-FFF2-40B4-BE49-F238E27FC236}">
                <a16:creationId xmlns:a16="http://schemas.microsoft.com/office/drawing/2014/main" id="{7FA1566B-93EF-46C2-9842-6F1585DA2234}"/>
              </a:ext>
            </a:extLst>
          </p:cNvPr>
          <p:cNvSpPr>
            <a:spLocks xmlns:a="http://schemas.openxmlformats.org/drawingml/2006/main" noGrp="1"/>
          </p:cNvSpPr>
          <p:nvPr/>
        </p:nvSpPr>
        <p:spPr>
          <a:xfrm xmlns:a="http://schemas.openxmlformats.org/drawingml/2006/main">
            <a:off x="5143500" y="2190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i="0">
                <a:solidFill>
                  <a:srgbClr val="991B1B"/>
                </a:solidFill>
              </a:defRPr>
            </a:defPPr>
          </a:lstStyle>
          <a:p xmlns:a="http://schemas.openxmlformats.org/drawingml/2006/main">
            <a:pPr algn="ctr">
              <a:lnSpc>
                <a:spcPct val="115000"/>
              </a:lnSpc>
              <a:buNone/>
              <a:defRPr sz="1050" b="1" i="0">
                <a:solidFill>
                  <a:srgbClr val="991B1B"/>
                </a:solidFill>
              </a:defRPr>
            </a:pPr>
            <a:r>
              <a:rPr sz="1050" b="1" i="0">
                <a:solidFill>
                  <a:srgbClr val="991B1B"/>
                </a:solidFill>
              </a:rPr>
              <a:t>Turno 1: Trabalhista abre  ➔  Liberal (Qwen) responde</a:t>
            </a:r>
          </a:p>
        </p:txBody>
      </p:sp>
      <p:sp>
        <p:nvSpPr>
          <p:cNvPr id="19" name="turns-2">
            <a:extLst xmlns:a="http://schemas.openxmlformats.org/drawingml/2006/main">
              <a:ext uri="{FF2B5EF4-FFF2-40B4-BE49-F238E27FC236}">
                <a16:creationId xmlns:a16="http://schemas.microsoft.com/office/drawing/2014/main" id="{75E562B9-66E5-456D-AFC6-7E05265210AC}"/>
              </a:ext>
            </a:extLst>
          </p:cNvPr>
          <p:cNvSpPr>
            <a:spLocks xmlns:a="http://schemas.openxmlformats.org/drawingml/2006/main" noGrp="1"/>
          </p:cNvSpPr>
          <p:nvPr/>
        </p:nvSpPr>
        <p:spPr>
          <a:xfrm xmlns:a="http://schemas.openxmlformats.org/drawingml/2006/main">
            <a:off x="5143500" y="24765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i="0">
                <a:solidFill>
                  <a:srgbClr val="065F46"/>
                </a:solidFill>
              </a:defRPr>
            </a:defPPr>
          </a:lstStyle>
          <a:p xmlns:a="http://schemas.openxmlformats.org/drawingml/2006/main">
            <a:pPr algn="ctr">
              <a:lnSpc>
                <a:spcPct val="115000"/>
              </a:lnSpc>
              <a:buNone/>
              <a:defRPr sz="1050" b="1" i="0">
                <a:solidFill>
                  <a:srgbClr val="065F46"/>
                </a:solidFill>
              </a:defRPr>
            </a:pPr>
            <a:r>
              <a:rPr sz="1050" b="1" i="0">
                <a:solidFill>
                  <a:srgbClr val="065F46"/>
                </a:solidFill>
              </a:rPr>
              <a:t>Turno 2: Liberal (Qwen) abre 2º foco  ➔  Trabalhista se defende</a:t>
            </a:r>
          </a:p>
        </p:txBody>
      </p:sp>
      <p:sp>
        <p:nvSpPr>
          <p:cNvPr id="20" name="turns-sub">
            <a:extLst xmlns:a="http://schemas.openxmlformats.org/drawingml/2006/main">
              <a:ext uri="{FF2B5EF4-FFF2-40B4-BE49-F238E27FC236}">
                <a16:creationId xmlns:a16="http://schemas.microsoft.com/office/drawing/2014/main" id="{272523AD-9566-4FE0-95D6-85A96E35F895}"/>
              </a:ext>
            </a:extLst>
          </p:cNvPr>
          <p:cNvSpPr>
            <a:spLocks xmlns:a="http://schemas.openxmlformats.org/drawingml/2006/main" noGrp="1"/>
          </p:cNvSpPr>
          <p:nvPr/>
        </p:nvSpPr>
        <p:spPr>
          <a:xfrm xmlns:a="http://schemas.openxmlformats.org/drawingml/2006/main">
            <a:off x="5143500" y="280987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900" b="0" i="0">
                <a:solidFill>
                  <a:srgbClr val="475569"/>
                </a:solidFill>
              </a:defRPr>
            </a:defPPr>
          </a:lstStyle>
          <a:p xmlns:a="http://schemas.openxmlformats.org/drawingml/2006/main">
            <a:pPr algn="ctr">
              <a:lnSpc>
                <a:spcPct val="115000"/>
              </a:lnSpc>
              <a:buNone/>
              <a:defRPr sz="900" b="0" i="0">
                <a:solidFill>
                  <a:srgbClr val="475569"/>
                </a:solidFill>
              </a:defRPr>
            </a:pPr>
            <a:r>
              <a:rPr sz="900" b="0" i="0">
                <a:solidFill>
                  <a:srgbClr val="475569"/>
                </a:solidFill>
              </a:rPr>
              <a:t>Saída local do Qwen estruturada em JSON (Risco e Pergunta) com validação heurística.</a:t>
            </a:r>
          </a:p>
        </p:txBody>
      </p:sp>
      <p:sp>
        <p:nvSpPr>
          <p:cNvPr id="22" name="node-a3">
            <a:extLst xmlns:a="http://schemas.openxmlformats.org/drawingml/2006/main">
              <a:ext uri="{FF2B5EF4-FFF2-40B4-BE49-F238E27FC236}">
                <a16:creationId xmlns:a16="http://schemas.microsoft.com/office/drawing/2014/main" id="{852F6180-3AC7-41A9-9B51-81D719F1DBE6}"/>
              </a:ext>
            </a:extLst>
          </p:cNvPr>
          <p:cNvSpPr>
            <a:spLocks xmlns:a="http://schemas.openxmlformats.org/drawingml/2006/main" noGrp="1"/>
          </p:cNvSpPr>
          <p:nvPr/>
        </p:nvSpPr>
        <p:spPr>
          <a:xfrm xmlns:a="http://schemas.openxmlformats.org/drawingml/2006/main">
            <a:off x="4953000" y="4191000"/>
            <a:ext cx="5334000" cy="1714500"/>
          </a:xfrm>
          <a:prstGeom xmlns:a="http://schemas.openxmlformats.org/drawingml/2006/main" prst="roundRect">
            <a:avLst>
              <a:gd name="adj" fmla="val 4444"/>
            </a:avLst>
          </a:prstGeom>
          <a:solidFill xmlns:a="http://schemas.openxmlformats.org/drawingml/2006/main">
            <a:srgbClr val="EFF6FF"/>
          </a:solidFill>
          <a:ln xmlns:a="http://schemas.openxmlformats.org/drawingml/2006/main" w="19050">
            <a:solidFill>
              <a:srgbClr val="BFDBFE"/>
            </a:solidFill>
            <a:prstDash val="solid"/>
          </a:ln>
        </p:spPr>
      </p:sp>
      <p:sp>
        <p:nvSpPr>
          <p:cNvPr id="23" name="a3-t">
            <a:extLst xmlns:a="http://schemas.openxmlformats.org/drawingml/2006/main">
              <a:ext uri="{FF2B5EF4-FFF2-40B4-BE49-F238E27FC236}">
                <a16:creationId xmlns:a16="http://schemas.microsoft.com/office/drawing/2014/main" id="{53D2D218-C65E-4D6B-A824-E66F540D0B54}"/>
              </a:ext>
            </a:extLst>
          </p:cNvPr>
          <p:cNvSpPr>
            <a:spLocks xmlns:a="http://schemas.openxmlformats.org/drawingml/2006/main" noGrp="1"/>
          </p:cNvSpPr>
          <p:nvPr/>
        </p:nvSpPr>
        <p:spPr>
          <a:xfrm xmlns:a="http://schemas.openxmlformats.org/drawingml/2006/main">
            <a:off x="5143500" y="43815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1" i="0">
                <a:solidFill>
                  <a:srgbClr val="1E40AF"/>
                </a:solidFill>
              </a:defRPr>
            </a:defPPr>
          </a:lstStyle>
          <a:p xmlns:a="http://schemas.openxmlformats.org/drawingml/2006/main">
            <a:pPr algn="ctr">
              <a:lnSpc>
                <a:spcPct val="115000"/>
              </a:lnSpc>
              <a:buNone/>
              <a:defRPr sz="1125" b="1" i="0">
                <a:solidFill>
                  <a:srgbClr val="1E40AF"/>
                </a:solidFill>
              </a:defRPr>
            </a:pPr>
            <a:r>
              <a:rPr sz="1125" b="1" i="0">
                <a:solidFill>
                  <a:srgbClr val="1E40AF"/>
                </a:solidFill>
              </a:rPr>
              <a:t>AGENTE 3 · JUIZ E MEDIADOR</a:t>
            </a:r>
          </a:p>
        </p:txBody>
      </p:sp>
      <p:sp>
        <p:nvSpPr>
          <p:cNvPr id="24" name="a3-m">
            <a:extLst xmlns:a="http://schemas.openxmlformats.org/drawingml/2006/main">
              <a:ext uri="{FF2B5EF4-FFF2-40B4-BE49-F238E27FC236}">
                <a16:creationId xmlns:a16="http://schemas.microsoft.com/office/drawing/2014/main" id="{7C022497-DB39-4DD2-9904-7F55965EDD0E}"/>
              </a:ext>
            </a:extLst>
          </p:cNvPr>
          <p:cNvSpPr>
            <a:spLocks xmlns:a="http://schemas.openxmlformats.org/drawingml/2006/main" noGrp="1"/>
          </p:cNvSpPr>
          <p:nvPr/>
        </p:nvSpPr>
        <p:spPr>
          <a:xfrm xmlns:a="http://schemas.openxmlformats.org/drawingml/2006/main">
            <a:off x="5143500" y="46291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275" b="1" i="0">
                <a:solidFill>
                  <a:srgbClr val="0F172A"/>
                </a:solidFill>
              </a:defRPr>
            </a:defPPr>
          </a:lstStyle>
          <a:p xmlns:a="http://schemas.openxmlformats.org/drawingml/2006/main">
            <a:pPr algn="ctr">
              <a:lnSpc>
                <a:spcPct val="115000"/>
              </a:lnSpc>
              <a:buNone/>
              <a:defRPr sz="1275" b="1" i="0">
                <a:solidFill>
                  <a:srgbClr val="0F172A"/>
                </a:solidFill>
              </a:defRPr>
            </a:pPr>
            <a:r>
              <a:rPr sz="1275" b="1" i="0">
                <a:solidFill>
                  <a:srgbClr val="0F172A"/>
                </a:solidFill>
              </a:rPr>
              <a:t>Antigravity (Gemini Remoto)</a:t>
            </a:r>
          </a:p>
        </p:txBody>
      </p:sp>
      <p:sp>
        <p:nvSpPr>
          <p:cNvPr id="25" name="a3-d">
            <a:extLst xmlns:a="http://schemas.openxmlformats.org/drawingml/2006/main">
              <a:ext uri="{FF2B5EF4-FFF2-40B4-BE49-F238E27FC236}">
                <a16:creationId xmlns:a16="http://schemas.microsoft.com/office/drawing/2014/main" id="{E17F90B6-A555-4020-8DEE-84D48DA0354E}"/>
              </a:ext>
            </a:extLst>
          </p:cNvPr>
          <p:cNvSpPr>
            <a:spLocks xmlns:a="http://schemas.openxmlformats.org/drawingml/2006/main" noGrp="1"/>
          </p:cNvSpPr>
          <p:nvPr/>
        </p:nvSpPr>
        <p:spPr>
          <a:xfrm xmlns:a="http://schemas.openxmlformats.org/drawingml/2006/main">
            <a:off x="5143500" y="4905375"/>
            <a:ext cx="4953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975" b="0" i="0">
                <a:solidFill>
                  <a:srgbClr val="1E293B"/>
                </a:solidFill>
              </a:defRPr>
            </a:defPPr>
          </a:lstStyle>
          <a:p xmlns:a="http://schemas.openxmlformats.org/drawingml/2006/main">
            <a:pPr algn="ctr">
              <a:lnSpc>
                <a:spcPct val="115000"/>
              </a:lnSpc>
              <a:buNone/>
              <a:defRPr sz="975" b="0" i="0">
                <a:solidFill>
                  <a:srgbClr val="1E293B"/>
                </a:solidFill>
              </a:defRPr>
            </a:pPr>
            <a:r>
              <a:rPr sz="975" b="0" i="0">
                <a:solidFill>
                  <a:srgbClr val="1E293B"/>
                </a:solidFill>
              </a:rPr>
              <a:t>Analisa as quatro falas integrais da rodada. Emite parecer crítico imparcial, identifica o ponto de acordo/tensão, atualiza o plano institucional e gera a memória curta.</a:t>
            </a:r>
          </a:p>
        </p:txBody>
      </p:sp>
      <p:sp>
        <p:nvSpPr>
          <p:cNvPr id="28" name="node-reg">
            <a:extLst xmlns:a="http://schemas.openxmlformats.org/drawingml/2006/main">
              <a:ext uri="{FF2B5EF4-FFF2-40B4-BE49-F238E27FC236}">
                <a16:creationId xmlns:a16="http://schemas.microsoft.com/office/drawing/2014/main" id="{D87EFC9E-C7E9-4846-9B14-1511F0A3FBE2}"/>
              </a:ext>
            </a:extLst>
          </p:cNvPr>
          <p:cNvSpPr>
            <a:spLocks xmlns:a="http://schemas.openxmlformats.org/drawingml/2006/main" noGrp="1"/>
          </p:cNvSpPr>
          <p:nvPr/>
        </p:nvSpPr>
        <p:spPr>
          <a:xfrm xmlns:a="http://schemas.openxmlformats.org/drawingml/2006/main">
            <a:off x="952500" y="6477000"/>
            <a:ext cx="62865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29" name="reg-t">
            <a:extLst xmlns:a="http://schemas.openxmlformats.org/drawingml/2006/main">
              <a:ext uri="{FF2B5EF4-FFF2-40B4-BE49-F238E27FC236}">
                <a16:creationId xmlns:a16="http://schemas.microsoft.com/office/drawing/2014/main" id="{4A1D6C2B-2AF3-4AD3-B05B-653AE1306D71}"/>
              </a:ext>
            </a:extLst>
          </p:cNvPr>
          <p:cNvSpPr>
            <a:spLocks xmlns:a="http://schemas.openxmlformats.org/drawingml/2006/main" noGrp="1"/>
          </p:cNvSpPr>
          <p:nvPr/>
        </p:nvSpPr>
        <p:spPr>
          <a:xfrm xmlns:a="http://schemas.openxmlformats.org/drawingml/2006/main">
            <a:off x="1143000" y="66675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0F172A"/>
                </a:solidFill>
              </a:defRPr>
            </a:defPPr>
          </a:lstStyle>
          <a:p xmlns:a="http://schemas.openxmlformats.org/drawingml/2006/main">
            <a:pPr algn="l">
              <a:lnSpc>
                <a:spcPct val="115000"/>
              </a:lnSpc>
              <a:buNone/>
              <a:defRPr sz="1050" b="1" i="0">
                <a:solidFill>
                  <a:srgbClr val="0F172A"/>
                </a:solidFill>
              </a:defRPr>
            </a:pPr>
            <a:r>
              <a:rPr sz="1050" b="1" i="0">
                <a:solidFill>
                  <a:srgbClr val="0F172A"/>
                </a:solidFill>
              </a:rPr>
              <a:t>PERSISTÊNCIA E TRANSPARÊNCIA INTEGRAL</a:t>
            </a:r>
          </a:p>
        </p:txBody>
      </p:sp>
      <p:sp>
        <p:nvSpPr>
          <p:cNvPr id="30" name="reg-d">
            <a:extLst xmlns:a="http://schemas.openxmlformats.org/drawingml/2006/main">
              <a:ext uri="{FF2B5EF4-FFF2-40B4-BE49-F238E27FC236}">
                <a16:creationId xmlns:a16="http://schemas.microsoft.com/office/drawing/2014/main" id="{557D7F98-6D0E-4AF8-8CCD-CB75040257D6}"/>
              </a:ext>
            </a:extLst>
          </p:cNvPr>
          <p:cNvSpPr>
            <a:spLocks xmlns:a="http://schemas.openxmlformats.org/drawingml/2006/main" noGrp="1"/>
          </p:cNvSpPr>
          <p:nvPr/>
        </p:nvSpPr>
        <p:spPr>
          <a:xfrm xmlns:a="http://schemas.openxmlformats.org/drawingml/2006/main">
            <a:off x="1143000" y="6953250"/>
            <a:ext cx="590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1E293B"/>
                </a:solidFill>
              </a:defRPr>
            </a:defPPr>
          </a:lstStyle>
          <a:p xmlns:a="http://schemas.openxmlformats.org/drawingml/2006/main">
            <a:pPr algn="l">
              <a:lnSpc>
                <a:spcPct val="115000"/>
              </a:lnSpc>
              <a:buNone/>
              <a:defRPr sz="975" b="0" i="0">
                <a:solidFill>
                  <a:srgbClr val="1E293B"/>
                </a:solidFill>
              </a:defRPr>
            </a:pPr>
            <a:r>
              <a:rPr sz="975" b="0" i="0">
                <a:solidFill>
                  <a:srgbClr val="1E293B"/>
                </a:solidFill>
              </a:rPr>
              <a:t>Cada rodada é salva em formato estruturado (`.json`) e leitura executiva (`.md`), registrando requisições brutas, latência, filtros heurísticos e tentativas do modelo local.</a:t>
            </a:r>
          </a:p>
        </p:txBody>
      </p:sp>
      <p:sp>
        <p:nvSpPr>
          <p:cNvPr id="31" name="node-mem">
            <a:extLst xmlns:a="http://schemas.openxmlformats.org/drawingml/2006/main">
              <a:ext uri="{FF2B5EF4-FFF2-40B4-BE49-F238E27FC236}">
                <a16:creationId xmlns:a16="http://schemas.microsoft.com/office/drawing/2014/main" id="{38FB1AA4-86F4-4935-971A-525383A38AEE}"/>
              </a:ext>
            </a:extLst>
          </p:cNvPr>
          <p:cNvSpPr>
            <a:spLocks xmlns:a="http://schemas.openxmlformats.org/drawingml/2006/main" noGrp="1"/>
          </p:cNvSpPr>
          <p:nvPr/>
        </p:nvSpPr>
        <p:spPr>
          <a:xfrm xmlns:a="http://schemas.openxmlformats.org/drawingml/2006/main">
            <a:off x="8001000" y="6477000"/>
            <a:ext cx="62865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32" name="mem-t">
            <a:extLst xmlns:a="http://schemas.openxmlformats.org/drawingml/2006/main">
              <a:ext uri="{FF2B5EF4-FFF2-40B4-BE49-F238E27FC236}">
                <a16:creationId xmlns:a16="http://schemas.microsoft.com/office/drawing/2014/main" id="{DDDC49B3-EE9B-4E55-BB9D-ECD250F212AD}"/>
              </a:ext>
            </a:extLst>
          </p:cNvPr>
          <p:cNvSpPr>
            <a:spLocks xmlns:a="http://schemas.openxmlformats.org/drawingml/2006/main" noGrp="1"/>
          </p:cNvSpPr>
          <p:nvPr/>
        </p:nvSpPr>
        <p:spPr>
          <a:xfrm xmlns:a="http://schemas.openxmlformats.org/drawingml/2006/main">
            <a:off x="8191500" y="66675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1E40AF"/>
                </a:solidFill>
              </a:defRPr>
            </a:defPPr>
          </a:lstStyle>
          <a:p xmlns:a="http://schemas.openxmlformats.org/drawingml/2006/main">
            <a:pPr algn="l">
              <a:lnSpc>
                <a:spcPct val="115000"/>
              </a:lnSpc>
              <a:buNone/>
              <a:defRPr sz="1050" b="1" i="0">
                <a:solidFill>
                  <a:srgbClr val="1E40AF"/>
                </a:solidFill>
              </a:defRPr>
            </a:pPr>
            <a:r>
              <a:rPr sz="1050" b="1" i="0">
                <a:solidFill>
                  <a:srgbClr val="1E40AF"/>
                </a:solidFill>
              </a:rPr>
              <a:t>ALIMENTAÇÃO DA PRÓXIMA RODADA (LOOP)</a:t>
            </a:r>
          </a:p>
        </p:txBody>
      </p:sp>
      <p:sp>
        <p:nvSpPr>
          <p:cNvPr id="33" name="mem-d">
            <a:extLst xmlns:a="http://schemas.openxmlformats.org/drawingml/2006/main">
              <a:ext uri="{FF2B5EF4-FFF2-40B4-BE49-F238E27FC236}">
                <a16:creationId xmlns:a16="http://schemas.microsoft.com/office/drawing/2014/main" id="{21CFF498-1D1D-42BB-8B3F-5D04A27DB071}"/>
              </a:ext>
            </a:extLst>
          </p:cNvPr>
          <p:cNvSpPr>
            <a:spLocks xmlns:a="http://schemas.openxmlformats.org/drawingml/2006/main" noGrp="1"/>
          </p:cNvSpPr>
          <p:nvPr/>
        </p:nvSpPr>
        <p:spPr>
          <a:xfrm xmlns:a="http://schemas.openxmlformats.org/drawingml/2006/main">
            <a:off x="8191500" y="6953250"/>
            <a:ext cx="590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1E293B"/>
                </a:solidFill>
              </a:defRPr>
            </a:defPPr>
          </a:lstStyle>
          <a:p xmlns:a="http://schemas.openxmlformats.org/drawingml/2006/main">
            <a:pPr algn="l">
              <a:lnSpc>
                <a:spcPct val="115000"/>
              </a:lnSpc>
              <a:buNone/>
              <a:defRPr sz="975" b="0" i="0">
                <a:solidFill>
                  <a:srgbClr val="1E293B"/>
                </a:solidFill>
              </a:defRPr>
            </a:pPr>
            <a:r>
              <a:rPr sz="975" b="0" i="0">
                <a:solidFill>
                  <a:srgbClr val="1E293B"/>
                </a:solidFill>
              </a:rPr>
              <a:t>A síntese crítica e o ponto pendente definidos pelo Juiz são transmitidos como memória curta à Abertura Trabalhista da rodada seguinte, fechando o loop contínuo de 20 rodadas.</a:t>
            </a:r>
          </a:p>
        </p:txBody>
      </p:sp>
    </p:spTree>
    <p:extLst>
      <p:ext uri="{BB962C8B-B14F-4D97-AF65-F5344CB8AC3E}">
        <p14:creationId xmlns:p14="http://schemas.microsoft.com/office/powerpoint/2010/main" val="17136977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header-author">
            <a:extLst xmlns:a="http://schemas.openxmlformats.org/drawingml/2006/main">
              <a:ext uri="{FF2B5EF4-FFF2-40B4-BE49-F238E27FC236}">
                <a16:creationId xmlns:a16="http://schemas.microsoft.com/office/drawing/2014/main" id="{2DF9A1FB-4A69-4394-8E44-31D4D8660136}"/>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10ECB65E-816A-4CD5-90BA-664B3D1E2A9B}"/>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5B2B2D31-B46E-4943-B105-A076248C22E9}"/>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Modelos Utilizados e Perfis dos Agentes</a:t>
            </a:r>
          </a:p>
        </p:txBody>
      </p:sp>
      <p:sp>
        <p:nvSpPr>
          <p:cNvPr id="4" name="header-sub">
            <a:extLst xmlns:a="http://schemas.openxmlformats.org/drawingml/2006/main">
              <a:ext uri="{FF2B5EF4-FFF2-40B4-BE49-F238E27FC236}">
                <a16:creationId xmlns:a16="http://schemas.microsoft.com/office/drawing/2014/main" id="{A6618E0E-135B-47EF-9DC1-08D88C32E0CC}"/>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Especificação dos papéis de debate e cumprimento das diretrizes estabelecidas</a:t>
            </a:r>
          </a:p>
        </p:txBody>
      </p:sp>
      <p:sp>
        <p:nvSpPr>
          <p:cNvPr id="5" name="footer-rule">
            <a:extLst xmlns:a="http://schemas.openxmlformats.org/drawingml/2006/main">
              <a:ext uri="{FF2B5EF4-FFF2-40B4-BE49-F238E27FC236}">
                <a16:creationId xmlns:a16="http://schemas.microsoft.com/office/drawing/2014/main" id="{6D584873-44D5-4A04-81EB-F19135E27E4A}"/>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531CE861-1F6A-49B8-9D64-00707621A4D3}"/>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60173735-10AE-4D5E-A8AE-4FE568A71DC8}"/>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03</a:t>
            </a:r>
          </a:p>
        </p:txBody>
      </p:sp>
      <p:sp>
        <p:nvSpPr>
          <p:cNvPr id="8" name="box-req">
            <a:extLst xmlns:a="http://schemas.openxmlformats.org/drawingml/2006/main">
              <a:ext uri="{FF2B5EF4-FFF2-40B4-BE49-F238E27FC236}">
                <a16:creationId xmlns:a16="http://schemas.microsoft.com/office/drawing/2014/main" id="{16E34E66-32D4-460B-BFD3-A818C6AC069A}"/>
              </a:ext>
            </a:extLst>
          </p:cNvPr>
          <p:cNvSpPr>
            <a:spLocks xmlns:a="http://schemas.openxmlformats.org/drawingml/2006/main" noGrp="1"/>
          </p:cNvSpPr>
          <p:nvPr/>
        </p:nvSpPr>
        <p:spPr>
          <a:xfrm xmlns:a="http://schemas.openxmlformats.org/drawingml/2006/main">
            <a:off x="571500" y="1428750"/>
            <a:ext cx="14097000" cy="904875"/>
          </a:xfrm>
          <a:prstGeom xmlns:a="http://schemas.openxmlformats.org/drawingml/2006/main" prst="roundRect">
            <a:avLst>
              <a:gd name="adj" fmla="val 8421"/>
            </a:avLst>
          </a:prstGeom>
          <a:solidFill xmlns:a="http://schemas.openxmlformats.org/drawingml/2006/main">
            <a:srgbClr val="F8FAFC"/>
          </a:solidFill>
          <a:ln xmlns:a="http://schemas.openxmlformats.org/drawingml/2006/main" w="9525">
            <a:solidFill>
              <a:srgbClr val="E2E8F0"/>
            </a:solidFill>
            <a:prstDash val="solid"/>
          </a:ln>
        </p:spPr>
      </p:sp>
      <p:sp>
        <p:nvSpPr>
          <p:cNvPr id="9" name="req-t">
            <a:extLst xmlns:a="http://schemas.openxmlformats.org/drawingml/2006/main">
              <a:ext uri="{FF2B5EF4-FFF2-40B4-BE49-F238E27FC236}">
                <a16:creationId xmlns:a16="http://schemas.microsoft.com/office/drawing/2014/main" id="{25AF1927-0F08-4608-8D64-19B77BEB1A50}"/>
              </a:ext>
            </a:extLst>
          </p:cNvPr>
          <p:cNvSpPr>
            <a:spLocks xmlns:a="http://schemas.openxmlformats.org/drawingml/2006/main" noGrp="1"/>
          </p:cNvSpPr>
          <p:nvPr/>
        </p:nvSpPr>
        <p:spPr>
          <a:xfrm xmlns:a="http://schemas.openxmlformats.org/drawingml/2006/main">
            <a:off x="809625" y="1571625"/>
            <a:ext cx="1362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1" i="0">
                <a:solidFill>
                  <a:srgbClr val="1E40AF"/>
                </a:solidFill>
              </a:defRPr>
            </a:defPPr>
          </a:lstStyle>
          <a:p xmlns:a="http://schemas.openxmlformats.org/drawingml/2006/main">
            <a:pPr algn="l">
              <a:lnSpc>
                <a:spcPct val="115000"/>
              </a:lnSpc>
              <a:buNone/>
              <a:defRPr sz="900" b="1" i="0">
                <a:solidFill>
                  <a:srgbClr val="1E40AF"/>
                </a:solidFill>
              </a:defRPr>
            </a:pPr>
            <a:r>
              <a:rPr sz="900" b="1" i="0">
                <a:solidFill>
                  <a:srgbClr val="1E40AF"/>
                </a:solidFill>
              </a:rPr>
              <a:t>DIRETRIZ DA USUÁRIA</a:t>
            </a:r>
          </a:p>
        </p:txBody>
      </p:sp>
      <p:sp>
        <p:nvSpPr>
          <p:cNvPr id="10" name="req-txt">
            <a:extLst xmlns:a="http://schemas.openxmlformats.org/drawingml/2006/main">
              <a:ext uri="{FF2B5EF4-FFF2-40B4-BE49-F238E27FC236}">
                <a16:creationId xmlns:a16="http://schemas.microsoft.com/office/drawing/2014/main" id="{3F7EE8C8-BD2D-478C-B22A-0B21EB29783B}"/>
              </a:ext>
            </a:extLst>
          </p:cNvPr>
          <p:cNvSpPr>
            <a:spLocks xmlns:a="http://schemas.openxmlformats.org/drawingml/2006/main" noGrp="1"/>
          </p:cNvSpPr>
          <p:nvPr/>
        </p:nvSpPr>
        <p:spPr>
          <a:xfrm xmlns:a="http://schemas.openxmlformats.org/drawingml/2006/main">
            <a:off x="809625" y="1809750"/>
            <a:ext cx="1362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i="1">
                <a:solidFill>
                  <a:srgbClr val="0F172A"/>
                </a:solidFill>
              </a:defRPr>
            </a:defPPr>
          </a:lstStyle>
          <a:p xmlns:a="http://schemas.openxmlformats.org/drawingml/2006/main">
            <a:pPr algn="l">
              <a:lnSpc>
                <a:spcPct val="115000"/>
              </a:lnSpc>
              <a:buNone/>
              <a:defRPr sz="1200" b="0" i="1">
                <a:solidFill>
                  <a:srgbClr val="0F172A"/>
                </a:solidFill>
              </a:defRPr>
            </a:pPr>
            <a:r>
              <a:rPr sz="1200" b="0" i="1">
                <a:solidFill>
                  <a:srgbClr val="0F172A"/>
                </a:solidFill>
              </a:rPr>
              <a:t>“A ideia seria um agente local, que seria o qwen, e um sem ser local... troque na verdade o chat gpt por voce [Antigravity] pra conseguir fazer esse dialogo. Meio que apague tudo e refaça apontando pra vc agora e o modelo local em português.”</a:t>
            </a:r>
          </a:p>
        </p:txBody>
      </p:sp>
      <p:sp>
        <p:nvSpPr>
          <p:cNvPr id="11" name="prof-0">
            <a:extLst xmlns:a="http://schemas.openxmlformats.org/drawingml/2006/main">
              <a:ext uri="{FF2B5EF4-FFF2-40B4-BE49-F238E27FC236}">
                <a16:creationId xmlns:a16="http://schemas.microsoft.com/office/drawing/2014/main" id="{44B86A65-8E58-4166-A68F-50484F429501}"/>
              </a:ext>
            </a:extLst>
          </p:cNvPr>
          <p:cNvSpPr>
            <a:spLocks xmlns:a="http://schemas.openxmlformats.org/drawingml/2006/main" noGrp="1"/>
          </p:cNvSpPr>
          <p:nvPr/>
        </p:nvSpPr>
        <p:spPr>
          <a:xfrm xmlns:a="http://schemas.openxmlformats.org/drawingml/2006/main">
            <a:off x="571500" y="2571750"/>
            <a:ext cx="4381500" cy="5238750"/>
          </a:xfrm>
          <a:prstGeom xmlns:a="http://schemas.openxmlformats.org/drawingml/2006/main" prst="roundRect">
            <a:avLst>
              <a:gd name="adj" fmla="val 1739"/>
            </a:avLst>
          </a:prstGeom>
          <a:solidFill xmlns:a="http://schemas.openxmlformats.org/drawingml/2006/main">
            <a:srgbClr val="FEF2F2"/>
          </a:solidFill>
          <a:ln xmlns:a="http://schemas.openxmlformats.org/drawingml/2006/main" w="19050">
            <a:solidFill>
              <a:srgbClr val="FECACA"/>
            </a:solidFill>
            <a:prstDash val="solid"/>
          </a:ln>
        </p:spPr>
      </p:sp>
      <p:sp>
        <p:nvSpPr>
          <p:cNvPr id="12" name="prof-t-0">
            <a:extLst xmlns:a="http://schemas.openxmlformats.org/drawingml/2006/main">
              <a:ext uri="{FF2B5EF4-FFF2-40B4-BE49-F238E27FC236}">
                <a16:creationId xmlns:a16="http://schemas.microsoft.com/office/drawing/2014/main" id="{00C5A0B1-C310-411C-8A02-838387946A17}"/>
              </a:ext>
            </a:extLst>
          </p:cNvPr>
          <p:cNvSpPr>
            <a:spLocks xmlns:a="http://schemas.openxmlformats.org/drawingml/2006/main" noGrp="1"/>
          </p:cNvSpPr>
          <p:nvPr/>
        </p:nvSpPr>
        <p:spPr>
          <a:xfrm xmlns:a="http://schemas.openxmlformats.org/drawingml/2006/main">
            <a:off x="809625" y="280987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991B1B"/>
                </a:solidFill>
              </a:defRPr>
            </a:defPPr>
          </a:lstStyle>
          <a:p xmlns:a="http://schemas.openxmlformats.org/drawingml/2006/main">
            <a:pPr algn="l">
              <a:lnSpc>
                <a:spcPct val="115000"/>
              </a:lnSpc>
              <a:buNone/>
              <a:defRPr sz="1125" b="1" i="0">
                <a:solidFill>
                  <a:srgbClr val="991B1B"/>
                </a:solidFill>
              </a:defRPr>
            </a:pPr>
            <a:r>
              <a:rPr sz="1125" b="1" i="0">
                <a:solidFill>
                  <a:srgbClr val="991B1B"/>
                </a:solidFill>
              </a:rPr>
              <a:t>AGENTE 1 · TRABALHISTA</a:t>
            </a:r>
          </a:p>
        </p:txBody>
      </p:sp>
      <p:sp>
        <p:nvSpPr>
          <p:cNvPr id="13" name="prof-m-0">
            <a:extLst xmlns:a="http://schemas.openxmlformats.org/drawingml/2006/main">
              <a:ext uri="{FF2B5EF4-FFF2-40B4-BE49-F238E27FC236}">
                <a16:creationId xmlns:a16="http://schemas.microsoft.com/office/drawing/2014/main" id="{05163108-5B40-4E2B-9E50-3CBD4542AFBF}"/>
              </a:ext>
            </a:extLst>
          </p:cNvPr>
          <p:cNvSpPr>
            <a:spLocks xmlns:a="http://schemas.openxmlformats.org/drawingml/2006/main" noGrp="1"/>
          </p:cNvSpPr>
          <p:nvPr/>
        </p:nvSpPr>
        <p:spPr>
          <a:xfrm xmlns:a="http://schemas.openxmlformats.org/drawingml/2006/main">
            <a:off x="809625" y="3095625"/>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i="0">
                <a:solidFill>
                  <a:srgbClr val="0F172A"/>
                </a:solidFill>
              </a:defRPr>
            </a:defPPr>
          </a:lstStyle>
          <a:p xmlns:a="http://schemas.openxmlformats.org/drawingml/2006/main">
            <a:pPr algn="l">
              <a:lnSpc>
                <a:spcPct val="115000"/>
              </a:lnSpc>
              <a:buNone/>
              <a:defRPr sz="1500" b="1" i="0">
                <a:solidFill>
                  <a:srgbClr val="0F172A"/>
                </a:solidFill>
              </a:defRPr>
            </a:pPr>
            <a:r>
              <a:rPr sz="1500" b="1" i="0">
                <a:solidFill>
                  <a:srgbClr val="0F172A"/>
                </a:solidFill>
              </a:rPr>
              <a:t>Antigravity (Gemini)</a:t>
            </a:r>
          </a:p>
        </p:txBody>
      </p:sp>
      <p:sp>
        <p:nvSpPr>
          <p:cNvPr id="14" name="prof-l-0">
            <a:extLst xmlns:a="http://schemas.openxmlformats.org/drawingml/2006/main">
              <a:ext uri="{FF2B5EF4-FFF2-40B4-BE49-F238E27FC236}">
                <a16:creationId xmlns:a16="http://schemas.microsoft.com/office/drawing/2014/main" id="{98B5D6ED-A81D-4E73-BEA8-9957B1F11858}"/>
              </a:ext>
            </a:extLst>
          </p:cNvPr>
          <p:cNvSpPr>
            <a:spLocks xmlns:a="http://schemas.openxmlformats.org/drawingml/2006/main" noGrp="1"/>
          </p:cNvSpPr>
          <p:nvPr/>
        </p:nvSpPr>
        <p:spPr>
          <a:xfrm xmlns:a="http://schemas.openxmlformats.org/drawingml/2006/main">
            <a:off x="809625" y="3429000"/>
            <a:ext cx="3905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Ambiente: Remoto (Nuvem)</a:t>
            </a:r>
          </a:p>
        </p:txBody>
      </p:sp>
      <p:sp>
        <p:nvSpPr>
          <p:cNvPr id="15" name="prof-rule-0">
            <a:extLst xmlns:a="http://schemas.openxmlformats.org/drawingml/2006/main">
              <a:ext uri="{FF2B5EF4-FFF2-40B4-BE49-F238E27FC236}">
                <a16:creationId xmlns:a16="http://schemas.microsoft.com/office/drawing/2014/main" id="{CC033046-CBA3-4A73-84D7-194CD884B6B9}"/>
              </a:ext>
            </a:extLst>
          </p:cNvPr>
          <p:cNvSpPr>
            <a:spLocks xmlns:a="http://schemas.openxmlformats.org/drawingml/2006/main" noGrp="1"/>
          </p:cNvSpPr>
          <p:nvPr/>
        </p:nvSpPr>
        <p:spPr>
          <a:xfrm xmlns:a="http://schemas.openxmlformats.org/drawingml/2006/main">
            <a:off x="809625" y="3714750"/>
            <a:ext cx="3905250" cy="9525"/>
          </a:xfrm>
          <a:prstGeom xmlns:a="http://schemas.openxmlformats.org/drawingml/2006/main" prst="rect">
            <a:avLst/>
          </a:prstGeom>
          <a:solidFill xmlns:a="http://schemas.openxmlformats.org/drawingml/2006/main">
            <a:srgbClr val="FECACA"/>
          </a:solidFill>
          <a:ln xmlns:a="http://schemas.openxmlformats.org/drawingml/2006/main" w="0">
            <a:noFill/>
            <a:prstDash val="solid"/>
          </a:ln>
        </p:spPr>
      </p:sp>
      <p:sp>
        <p:nvSpPr>
          <p:cNvPr id="16" name="prof-l-0-0">
            <a:extLst xmlns:a="http://schemas.openxmlformats.org/drawingml/2006/main">
              <a:ext uri="{FF2B5EF4-FFF2-40B4-BE49-F238E27FC236}">
                <a16:creationId xmlns:a16="http://schemas.microsoft.com/office/drawing/2014/main" id="{50C8B7D6-5CBE-4BEA-8957-361718BC333B}"/>
              </a:ext>
            </a:extLst>
          </p:cNvPr>
          <p:cNvSpPr>
            <a:spLocks xmlns:a="http://schemas.openxmlformats.org/drawingml/2006/main" noGrp="1"/>
          </p:cNvSpPr>
          <p:nvPr/>
        </p:nvSpPr>
        <p:spPr>
          <a:xfrm xmlns:a="http://schemas.openxmlformats.org/drawingml/2006/main">
            <a:off x="809625" y="395287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Centralidade da dignidade e direitos fundamentais.</a:t>
            </a:r>
          </a:p>
        </p:txBody>
      </p:sp>
      <p:sp>
        <p:nvSpPr>
          <p:cNvPr id="17" name="prof-l-0-1">
            <a:extLst xmlns:a="http://schemas.openxmlformats.org/drawingml/2006/main">
              <a:ext uri="{FF2B5EF4-FFF2-40B4-BE49-F238E27FC236}">
                <a16:creationId xmlns:a16="http://schemas.microsoft.com/office/drawing/2014/main" id="{2E47715A-DF65-4433-94AD-F0179030DE57}"/>
              </a:ext>
            </a:extLst>
          </p:cNvPr>
          <p:cNvSpPr>
            <a:spLocks xmlns:a="http://schemas.openxmlformats.org/drawingml/2006/main" noGrp="1"/>
          </p:cNvSpPr>
          <p:nvPr/>
        </p:nvSpPr>
        <p:spPr>
          <a:xfrm xmlns:a="http://schemas.openxmlformats.org/drawingml/2006/main">
            <a:off x="809625"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Defesa de pisos salariais, limites de jornada e seguridade.</a:t>
            </a:r>
          </a:p>
        </p:txBody>
      </p:sp>
      <p:sp>
        <p:nvSpPr>
          <p:cNvPr id="18" name="prof-l-0-2">
            <a:extLst xmlns:a="http://schemas.openxmlformats.org/drawingml/2006/main">
              <a:ext uri="{FF2B5EF4-FFF2-40B4-BE49-F238E27FC236}">
                <a16:creationId xmlns:a16="http://schemas.microsoft.com/office/drawing/2014/main" id="{A769640C-EFD8-4FC9-ABD0-6CCF3205D14D}"/>
              </a:ext>
            </a:extLst>
          </p:cNvPr>
          <p:cNvSpPr>
            <a:spLocks xmlns:a="http://schemas.openxmlformats.org/drawingml/2006/main" noGrp="1"/>
          </p:cNvSpPr>
          <p:nvPr/>
        </p:nvSpPr>
        <p:spPr>
          <a:xfrm xmlns:a="http://schemas.openxmlformats.org/drawingml/2006/main">
            <a:off x="809625" y="467677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Resposta direta e obrigatória às objeções do Qwen local.</a:t>
            </a:r>
          </a:p>
        </p:txBody>
      </p:sp>
      <p:sp>
        <p:nvSpPr>
          <p:cNvPr id="19" name="prof-l-0-3">
            <a:extLst xmlns:a="http://schemas.openxmlformats.org/drawingml/2006/main">
              <a:ext uri="{FF2B5EF4-FFF2-40B4-BE49-F238E27FC236}">
                <a16:creationId xmlns:a16="http://schemas.microsoft.com/office/drawing/2014/main" id="{8AD6B196-D43D-4F76-8C41-D36DF7C650BF}"/>
              </a:ext>
            </a:extLst>
          </p:cNvPr>
          <p:cNvSpPr>
            <a:spLocks xmlns:a="http://schemas.openxmlformats.org/drawingml/2006/main" noGrp="1"/>
          </p:cNvSpPr>
          <p:nvPr/>
        </p:nvSpPr>
        <p:spPr>
          <a:xfrm xmlns:a="http://schemas.openxmlformats.org/drawingml/2006/main">
            <a:off x="809625" y="50387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Proposta de fundos solidários e transições faseadas.</a:t>
            </a:r>
          </a:p>
        </p:txBody>
      </p:sp>
      <p:sp>
        <p:nvSpPr>
          <p:cNvPr id="20" name="prof-1">
            <a:extLst xmlns:a="http://schemas.openxmlformats.org/drawingml/2006/main">
              <a:ext uri="{FF2B5EF4-FFF2-40B4-BE49-F238E27FC236}">
                <a16:creationId xmlns:a16="http://schemas.microsoft.com/office/drawing/2014/main" id="{937DA936-877D-44F2-8DD7-50F0D6E7D4BF}"/>
              </a:ext>
            </a:extLst>
          </p:cNvPr>
          <p:cNvSpPr>
            <a:spLocks xmlns:a="http://schemas.openxmlformats.org/drawingml/2006/main" noGrp="1"/>
          </p:cNvSpPr>
          <p:nvPr/>
        </p:nvSpPr>
        <p:spPr>
          <a:xfrm xmlns:a="http://schemas.openxmlformats.org/drawingml/2006/main">
            <a:off x="5429250" y="2571750"/>
            <a:ext cx="4381500" cy="5238750"/>
          </a:xfrm>
          <a:prstGeom xmlns:a="http://schemas.openxmlformats.org/drawingml/2006/main" prst="roundRect">
            <a:avLst>
              <a:gd name="adj" fmla="val 1739"/>
            </a:avLst>
          </a:prstGeom>
          <a:solidFill xmlns:a="http://schemas.openxmlformats.org/drawingml/2006/main">
            <a:srgbClr val="ECFDF5"/>
          </a:solidFill>
          <a:ln xmlns:a="http://schemas.openxmlformats.org/drawingml/2006/main" w="19050">
            <a:solidFill>
              <a:srgbClr val="A7F3D0"/>
            </a:solidFill>
            <a:prstDash val="solid"/>
          </a:ln>
        </p:spPr>
      </p:sp>
      <p:sp>
        <p:nvSpPr>
          <p:cNvPr id="21" name="prof-t-1">
            <a:extLst xmlns:a="http://schemas.openxmlformats.org/drawingml/2006/main">
              <a:ext uri="{FF2B5EF4-FFF2-40B4-BE49-F238E27FC236}">
                <a16:creationId xmlns:a16="http://schemas.microsoft.com/office/drawing/2014/main" id="{F7B3CCF5-744A-4D69-8EB8-5B5B09CD1861}"/>
              </a:ext>
            </a:extLst>
          </p:cNvPr>
          <p:cNvSpPr>
            <a:spLocks xmlns:a="http://schemas.openxmlformats.org/drawingml/2006/main" noGrp="1"/>
          </p:cNvSpPr>
          <p:nvPr/>
        </p:nvSpPr>
        <p:spPr>
          <a:xfrm xmlns:a="http://schemas.openxmlformats.org/drawingml/2006/main">
            <a:off x="5667375" y="280987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065F46"/>
                </a:solidFill>
              </a:defRPr>
            </a:defPPr>
          </a:lstStyle>
          <a:p xmlns:a="http://schemas.openxmlformats.org/drawingml/2006/main">
            <a:pPr algn="l">
              <a:lnSpc>
                <a:spcPct val="115000"/>
              </a:lnSpc>
              <a:buNone/>
              <a:defRPr sz="1125" b="1" i="0">
                <a:solidFill>
                  <a:srgbClr val="065F46"/>
                </a:solidFill>
              </a:defRPr>
            </a:pPr>
            <a:r>
              <a:rPr sz="1125" b="1" i="0">
                <a:solidFill>
                  <a:srgbClr val="065F46"/>
                </a:solidFill>
              </a:rPr>
              <a:t>AGENTE 2 · LIBERAL</a:t>
            </a:r>
          </a:p>
        </p:txBody>
      </p:sp>
      <p:sp>
        <p:nvSpPr>
          <p:cNvPr id="22" name="prof-m-1">
            <a:extLst xmlns:a="http://schemas.openxmlformats.org/drawingml/2006/main">
              <a:ext uri="{FF2B5EF4-FFF2-40B4-BE49-F238E27FC236}">
                <a16:creationId xmlns:a16="http://schemas.microsoft.com/office/drawing/2014/main" id="{6515FB05-3D36-462D-87D0-85C91C0DD73F}"/>
              </a:ext>
            </a:extLst>
          </p:cNvPr>
          <p:cNvSpPr>
            <a:spLocks xmlns:a="http://schemas.openxmlformats.org/drawingml/2006/main" noGrp="1"/>
          </p:cNvSpPr>
          <p:nvPr/>
        </p:nvSpPr>
        <p:spPr>
          <a:xfrm xmlns:a="http://schemas.openxmlformats.org/drawingml/2006/main">
            <a:off x="5667375" y="3095625"/>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i="0">
                <a:solidFill>
                  <a:srgbClr val="0F172A"/>
                </a:solidFill>
              </a:defRPr>
            </a:defPPr>
          </a:lstStyle>
          <a:p xmlns:a="http://schemas.openxmlformats.org/drawingml/2006/main">
            <a:pPr algn="l">
              <a:lnSpc>
                <a:spcPct val="115000"/>
              </a:lnSpc>
              <a:buNone/>
              <a:defRPr sz="1500" b="1" i="0">
                <a:solidFill>
                  <a:srgbClr val="0F172A"/>
                </a:solidFill>
              </a:defRPr>
            </a:pPr>
            <a:r>
              <a:rPr sz="1500" b="1" i="0">
                <a:solidFill>
                  <a:srgbClr val="0F172A"/>
                </a:solidFill>
              </a:rPr>
              <a:t>Qwen 2.5 1.5B</a:t>
            </a:r>
          </a:p>
        </p:txBody>
      </p:sp>
      <p:sp>
        <p:nvSpPr>
          <p:cNvPr id="23" name="prof-l-1">
            <a:extLst xmlns:a="http://schemas.openxmlformats.org/drawingml/2006/main">
              <a:ext uri="{FF2B5EF4-FFF2-40B4-BE49-F238E27FC236}">
                <a16:creationId xmlns:a16="http://schemas.microsoft.com/office/drawing/2014/main" id="{C97B5BEF-7A1A-4970-B06E-B7B5A19C8941}"/>
              </a:ext>
            </a:extLst>
          </p:cNvPr>
          <p:cNvSpPr>
            <a:spLocks xmlns:a="http://schemas.openxmlformats.org/drawingml/2006/main" noGrp="1"/>
          </p:cNvSpPr>
          <p:nvPr/>
        </p:nvSpPr>
        <p:spPr>
          <a:xfrm xmlns:a="http://schemas.openxmlformats.org/drawingml/2006/main">
            <a:off x="5667375" y="3429000"/>
            <a:ext cx="3905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Ambiente: Local (Ollama na máquina)</a:t>
            </a:r>
          </a:p>
        </p:txBody>
      </p:sp>
      <p:sp>
        <p:nvSpPr>
          <p:cNvPr id="24" name="prof-rule-1">
            <a:extLst xmlns:a="http://schemas.openxmlformats.org/drawingml/2006/main">
              <a:ext uri="{FF2B5EF4-FFF2-40B4-BE49-F238E27FC236}">
                <a16:creationId xmlns:a16="http://schemas.microsoft.com/office/drawing/2014/main" id="{AEF17482-E499-411F-942A-57996BCA4860}"/>
              </a:ext>
            </a:extLst>
          </p:cNvPr>
          <p:cNvSpPr>
            <a:spLocks xmlns:a="http://schemas.openxmlformats.org/drawingml/2006/main" noGrp="1"/>
          </p:cNvSpPr>
          <p:nvPr/>
        </p:nvSpPr>
        <p:spPr>
          <a:xfrm xmlns:a="http://schemas.openxmlformats.org/drawingml/2006/main">
            <a:off x="5667375" y="3714750"/>
            <a:ext cx="3905250" cy="9525"/>
          </a:xfrm>
          <a:prstGeom xmlns:a="http://schemas.openxmlformats.org/drawingml/2006/main" prst="rect">
            <a:avLst/>
          </a:prstGeom>
          <a:solidFill xmlns:a="http://schemas.openxmlformats.org/drawingml/2006/main">
            <a:srgbClr val="A7F3D0"/>
          </a:solidFill>
          <a:ln xmlns:a="http://schemas.openxmlformats.org/drawingml/2006/main" w="0">
            <a:noFill/>
            <a:prstDash val="solid"/>
          </a:ln>
        </p:spPr>
      </p:sp>
      <p:sp>
        <p:nvSpPr>
          <p:cNvPr id="25" name="prof-l-1-0">
            <a:extLst xmlns:a="http://schemas.openxmlformats.org/drawingml/2006/main">
              <a:ext uri="{FF2B5EF4-FFF2-40B4-BE49-F238E27FC236}">
                <a16:creationId xmlns:a16="http://schemas.microsoft.com/office/drawing/2014/main" id="{1CEEF424-A22A-4895-BA15-7CE12170AADF}"/>
              </a:ext>
            </a:extLst>
          </p:cNvPr>
          <p:cNvSpPr>
            <a:spLocks xmlns:a="http://schemas.openxmlformats.org/drawingml/2006/main" noGrp="1"/>
          </p:cNvSpPr>
          <p:nvPr/>
        </p:nvSpPr>
        <p:spPr>
          <a:xfrm xmlns:a="http://schemas.openxmlformats.org/drawingml/2006/main">
            <a:off x="5667375" y="395287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Foco em custos de contratação e incentivos de mercado.</a:t>
            </a:r>
          </a:p>
        </p:txBody>
      </p:sp>
      <p:sp>
        <p:nvSpPr>
          <p:cNvPr id="26" name="prof-l-1-1">
            <a:extLst xmlns:a="http://schemas.openxmlformats.org/drawingml/2006/main">
              <a:ext uri="{FF2B5EF4-FFF2-40B4-BE49-F238E27FC236}">
                <a16:creationId xmlns:a16="http://schemas.microsoft.com/office/drawing/2014/main" id="{0B559900-9BDA-4796-8571-9A46E308B0FC}"/>
              </a:ext>
            </a:extLst>
          </p:cNvPr>
          <p:cNvSpPr>
            <a:spLocks xmlns:a="http://schemas.openxmlformats.org/drawingml/2006/main" noGrp="1"/>
          </p:cNvSpPr>
          <p:nvPr/>
        </p:nvSpPr>
        <p:spPr>
          <a:xfrm xmlns:a="http://schemas.openxmlformats.org/drawingml/2006/main">
            <a:off x="5667375"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Alerta sobre riscos de desemprego, informalidade e inflação.</a:t>
            </a:r>
          </a:p>
        </p:txBody>
      </p:sp>
      <p:sp>
        <p:nvSpPr>
          <p:cNvPr id="27" name="prof-l-1-2">
            <a:extLst xmlns:a="http://schemas.openxmlformats.org/drawingml/2006/main">
              <a:ext uri="{FF2B5EF4-FFF2-40B4-BE49-F238E27FC236}">
                <a16:creationId xmlns:a16="http://schemas.microsoft.com/office/drawing/2014/main" id="{C020337D-4123-49B3-90D1-F2B423D59590}"/>
              </a:ext>
            </a:extLst>
          </p:cNvPr>
          <p:cNvSpPr>
            <a:spLocks xmlns:a="http://schemas.openxmlformats.org/drawingml/2006/main" noGrp="1"/>
          </p:cNvSpPr>
          <p:nvPr/>
        </p:nvSpPr>
        <p:spPr>
          <a:xfrm xmlns:a="http://schemas.openxmlformats.org/drawingml/2006/main">
            <a:off x="5667375" y="467677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Saída estrita em JSON com 1 Risco e 1 Pergunta concreta.</a:t>
            </a:r>
          </a:p>
        </p:txBody>
      </p:sp>
      <p:sp>
        <p:nvSpPr>
          <p:cNvPr id="28" name="prof-l-1-3">
            <a:extLst xmlns:a="http://schemas.openxmlformats.org/drawingml/2006/main">
              <a:ext uri="{FF2B5EF4-FFF2-40B4-BE49-F238E27FC236}">
                <a16:creationId xmlns:a16="http://schemas.microsoft.com/office/drawing/2014/main" id="{202060C6-4D35-4B8B-85BF-3EEB8E35495B}"/>
              </a:ext>
            </a:extLst>
          </p:cNvPr>
          <p:cNvSpPr>
            <a:spLocks xmlns:a="http://schemas.openxmlformats.org/drawingml/2006/main" noGrp="1"/>
          </p:cNvSpPr>
          <p:nvPr/>
        </p:nvSpPr>
        <p:spPr>
          <a:xfrm xmlns:a="http://schemas.openxmlformats.org/drawingml/2006/main">
            <a:off x="5667375" y="50387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Submetido a filtros de repetição e detecção de eco.</a:t>
            </a:r>
          </a:p>
        </p:txBody>
      </p:sp>
      <p:sp>
        <p:nvSpPr>
          <p:cNvPr id="29" name="prof-2">
            <a:extLst xmlns:a="http://schemas.openxmlformats.org/drawingml/2006/main">
              <a:ext uri="{FF2B5EF4-FFF2-40B4-BE49-F238E27FC236}">
                <a16:creationId xmlns:a16="http://schemas.microsoft.com/office/drawing/2014/main" id="{B64E90DE-037B-498C-A94E-401768BB2D68}"/>
              </a:ext>
            </a:extLst>
          </p:cNvPr>
          <p:cNvSpPr>
            <a:spLocks xmlns:a="http://schemas.openxmlformats.org/drawingml/2006/main" noGrp="1"/>
          </p:cNvSpPr>
          <p:nvPr/>
        </p:nvSpPr>
        <p:spPr>
          <a:xfrm xmlns:a="http://schemas.openxmlformats.org/drawingml/2006/main">
            <a:off x="10287000" y="2571750"/>
            <a:ext cx="4381500" cy="5238750"/>
          </a:xfrm>
          <a:prstGeom xmlns:a="http://schemas.openxmlformats.org/drawingml/2006/main" prst="roundRect">
            <a:avLst>
              <a:gd name="adj" fmla="val 1739"/>
            </a:avLst>
          </a:prstGeom>
          <a:solidFill xmlns:a="http://schemas.openxmlformats.org/drawingml/2006/main">
            <a:srgbClr val="EFF6FF"/>
          </a:solidFill>
          <a:ln xmlns:a="http://schemas.openxmlformats.org/drawingml/2006/main" w="19050">
            <a:solidFill>
              <a:srgbClr val="BFDBFE"/>
            </a:solidFill>
            <a:prstDash val="solid"/>
          </a:ln>
        </p:spPr>
      </p:sp>
      <p:sp>
        <p:nvSpPr>
          <p:cNvPr id="30" name="prof-t-2">
            <a:extLst xmlns:a="http://schemas.openxmlformats.org/drawingml/2006/main">
              <a:ext uri="{FF2B5EF4-FFF2-40B4-BE49-F238E27FC236}">
                <a16:creationId xmlns:a16="http://schemas.microsoft.com/office/drawing/2014/main" id="{8D82AC95-FDBD-4B03-9E6B-475DF5B0ABE5}"/>
              </a:ext>
            </a:extLst>
          </p:cNvPr>
          <p:cNvSpPr>
            <a:spLocks xmlns:a="http://schemas.openxmlformats.org/drawingml/2006/main" noGrp="1"/>
          </p:cNvSpPr>
          <p:nvPr/>
        </p:nvSpPr>
        <p:spPr>
          <a:xfrm xmlns:a="http://schemas.openxmlformats.org/drawingml/2006/main">
            <a:off x="10525125" y="280987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1E40AF"/>
                </a:solidFill>
              </a:defRPr>
            </a:defPPr>
          </a:lstStyle>
          <a:p xmlns:a="http://schemas.openxmlformats.org/drawingml/2006/main">
            <a:pPr algn="l">
              <a:lnSpc>
                <a:spcPct val="115000"/>
              </a:lnSpc>
              <a:buNone/>
              <a:defRPr sz="1125" b="1" i="0">
                <a:solidFill>
                  <a:srgbClr val="1E40AF"/>
                </a:solidFill>
              </a:defRPr>
            </a:pPr>
            <a:r>
              <a:rPr sz="1125" b="1" i="0">
                <a:solidFill>
                  <a:srgbClr val="1E40AF"/>
                </a:solidFill>
              </a:rPr>
              <a:t>AGENTE 3 · JUIZ</a:t>
            </a:r>
          </a:p>
        </p:txBody>
      </p:sp>
      <p:sp>
        <p:nvSpPr>
          <p:cNvPr id="31" name="prof-m-2">
            <a:extLst xmlns:a="http://schemas.openxmlformats.org/drawingml/2006/main">
              <a:ext uri="{FF2B5EF4-FFF2-40B4-BE49-F238E27FC236}">
                <a16:creationId xmlns:a16="http://schemas.microsoft.com/office/drawing/2014/main" id="{4FBB472C-48FB-4498-9B30-95D8F7CB959B}"/>
              </a:ext>
            </a:extLst>
          </p:cNvPr>
          <p:cNvSpPr>
            <a:spLocks xmlns:a="http://schemas.openxmlformats.org/drawingml/2006/main" noGrp="1"/>
          </p:cNvSpPr>
          <p:nvPr/>
        </p:nvSpPr>
        <p:spPr>
          <a:xfrm xmlns:a="http://schemas.openxmlformats.org/drawingml/2006/main">
            <a:off x="10525125" y="3095625"/>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i="0">
                <a:solidFill>
                  <a:srgbClr val="0F172A"/>
                </a:solidFill>
              </a:defRPr>
            </a:defPPr>
          </a:lstStyle>
          <a:p xmlns:a="http://schemas.openxmlformats.org/drawingml/2006/main">
            <a:pPr algn="l">
              <a:lnSpc>
                <a:spcPct val="115000"/>
              </a:lnSpc>
              <a:buNone/>
              <a:defRPr sz="1500" b="1" i="0">
                <a:solidFill>
                  <a:srgbClr val="0F172A"/>
                </a:solidFill>
              </a:defRPr>
            </a:pPr>
            <a:r>
              <a:rPr sz="1500" b="1" i="0">
                <a:solidFill>
                  <a:srgbClr val="0F172A"/>
                </a:solidFill>
              </a:rPr>
              <a:t>Antigravity (Gemini)</a:t>
            </a:r>
          </a:p>
        </p:txBody>
      </p:sp>
      <p:sp>
        <p:nvSpPr>
          <p:cNvPr id="32" name="prof-l-2">
            <a:extLst xmlns:a="http://schemas.openxmlformats.org/drawingml/2006/main">
              <a:ext uri="{FF2B5EF4-FFF2-40B4-BE49-F238E27FC236}">
                <a16:creationId xmlns:a16="http://schemas.microsoft.com/office/drawing/2014/main" id="{DD8EEFDA-45B2-4CA9-9E8E-3E2FF5991619}"/>
              </a:ext>
            </a:extLst>
          </p:cNvPr>
          <p:cNvSpPr>
            <a:spLocks xmlns:a="http://schemas.openxmlformats.org/drawingml/2006/main" noGrp="1"/>
          </p:cNvSpPr>
          <p:nvPr/>
        </p:nvSpPr>
        <p:spPr>
          <a:xfrm xmlns:a="http://schemas.openxmlformats.org/drawingml/2006/main">
            <a:off x="10525125" y="3429000"/>
            <a:ext cx="3905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Ambiente: Remoto (Nuvem)</a:t>
            </a:r>
          </a:p>
        </p:txBody>
      </p:sp>
      <p:sp>
        <p:nvSpPr>
          <p:cNvPr id="33" name="prof-rule-2">
            <a:extLst xmlns:a="http://schemas.openxmlformats.org/drawingml/2006/main">
              <a:ext uri="{FF2B5EF4-FFF2-40B4-BE49-F238E27FC236}">
                <a16:creationId xmlns:a16="http://schemas.microsoft.com/office/drawing/2014/main" id="{92C8D2A0-58AA-487A-9415-B8DB790429E9}"/>
              </a:ext>
            </a:extLst>
          </p:cNvPr>
          <p:cNvSpPr>
            <a:spLocks xmlns:a="http://schemas.openxmlformats.org/drawingml/2006/main" noGrp="1"/>
          </p:cNvSpPr>
          <p:nvPr/>
        </p:nvSpPr>
        <p:spPr>
          <a:xfrm xmlns:a="http://schemas.openxmlformats.org/drawingml/2006/main">
            <a:off x="10525125" y="3714750"/>
            <a:ext cx="3905250" cy="9525"/>
          </a:xfrm>
          <a:prstGeom xmlns:a="http://schemas.openxmlformats.org/drawingml/2006/main" prst="rect">
            <a:avLst/>
          </a:prstGeom>
          <a:solidFill xmlns:a="http://schemas.openxmlformats.org/drawingml/2006/main">
            <a:srgbClr val="BFDBFE"/>
          </a:solidFill>
          <a:ln xmlns:a="http://schemas.openxmlformats.org/drawingml/2006/main" w="0">
            <a:noFill/>
            <a:prstDash val="solid"/>
          </a:ln>
        </p:spPr>
      </p:sp>
      <p:sp>
        <p:nvSpPr>
          <p:cNvPr id="34" name="prof-l-2-0">
            <a:extLst xmlns:a="http://schemas.openxmlformats.org/drawingml/2006/main">
              <a:ext uri="{FF2B5EF4-FFF2-40B4-BE49-F238E27FC236}">
                <a16:creationId xmlns:a16="http://schemas.microsoft.com/office/drawing/2014/main" id="{2AB924F1-A500-4311-876B-E4EEB56E9D7A}"/>
              </a:ext>
            </a:extLst>
          </p:cNvPr>
          <p:cNvSpPr>
            <a:spLocks xmlns:a="http://schemas.openxmlformats.org/drawingml/2006/main" noGrp="1"/>
          </p:cNvSpPr>
          <p:nvPr/>
        </p:nvSpPr>
        <p:spPr>
          <a:xfrm xmlns:a="http://schemas.openxmlformats.org/drawingml/2006/main">
            <a:off x="10525125" y="395287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Avaliação neutra e analítica das 4 falas de cada rodada.</a:t>
            </a:r>
          </a:p>
        </p:txBody>
      </p:sp>
      <p:sp>
        <p:nvSpPr>
          <p:cNvPr id="35" name="prof-l-2-1">
            <a:extLst xmlns:a="http://schemas.openxmlformats.org/drawingml/2006/main">
              <a:ext uri="{FF2B5EF4-FFF2-40B4-BE49-F238E27FC236}">
                <a16:creationId xmlns:a16="http://schemas.microsoft.com/office/drawing/2014/main" id="{E6F8BC58-B9B7-49DA-9D72-1AD8E22DC283}"/>
              </a:ext>
            </a:extLst>
          </p:cNvPr>
          <p:cNvSpPr>
            <a:spLocks xmlns:a="http://schemas.openxmlformats.org/drawingml/2006/main" noGrp="1"/>
          </p:cNvSpPr>
          <p:nvPr/>
        </p:nvSpPr>
        <p:spPr>
          <a:xfrm xmlns:a="http://schemas.openxmlformats.org/drawingml/2006/main">
            <a:off x="10525125"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Identificação das fragilidades e méritos de cada lado.</a:t>
            </a:r>
          </a:p>
        </p:txBody>
      </p:sp>
      <p:sp>
        <p:nvSpPr>
          <p:cNvPr id="36" name="prof-l-2-2">
            <a:extLst xmlns:a="http://schemas.openxmlformats.org/drawingml/2006/main">
              <a:ext uri="{FF2B5EF4-FFF2-40B4-BE49-F238E27FC236}">
                <a16:creationId xmlns:a16="http://schemas.microsoft.com/office/drawing/2014/main" id="{E0DE7749-7E80-4F16-8076-F40B822F7AD4}"/>
              </a:ext>
            </a:extLst>
          </p:cNvPr>
          <p:cNvSpPr>
            <a:spLocks xmlns:a="http://schemas.openxmlformats.org/drawingml/2006/main" noGrp="1"/>
          </p:cNvSpPr>
          <p:nvPr/>
        </p:nvSpPr>
        <p:spPr>
          <a:xfrm xmlns:a="http://schemas.openxmlformats.org/drawingml/2006/main">
            <a:off x="10525125" y="467677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Consolidação gradual da Estratégia de Trabalho Digno.</a:t>
            </a:r>
          </a:p>
        </p:txBody>
      </p:sp>
      <p:sp>
        <p:nvSpPr>
          <p:cNvPr id="37" name="prof-l-2-3">
            <a:extLst xmlns:a="http://schemas.openxmlformats.org/drawingml/2006/main">
              <a:ext uri="{FF2B5EF4-FFF2-40B4-BE49-F238E27FC236}">
                <a16:creationId xmlns:a16="http://schemas.microsoft.com/office/drawing/2014/main" id="{7CC14903-42B9-4AE9-8C16-4F92154FF468}"/>
              </a:ext>
            </a:extLst>
          </p:cNvPr>
          <p:cNvSpPr>
            <a:spLocks xmlns:a="http://schemas.openxmlformats.org/drawingml/2006/main" noGrp="1"/>
          </p:cNvSpPr>
          <p:nvPr/>
        </p:nvSpPr>
        <p:spPr>
          <a:xfrm xmlns:a="http://schemas.openxmlformats.org/drawingml/2006/main">
            <a:off x="10525125" y="50387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 Sínteses periódicas em blocos (rodadas 5, 10, 15 e 20).</a:t>
            </a:r>
          </a:p>
        </p:txBody>
      </p:sp>
    </p:spTree>
    <p:extLst>
      <p:ext uri="{BB962C8B-B14F-4D97-AF65-F5344CB8AC3E}">
        <p14:creationId xmlns:p14="http://schemas.microsoft.com/office/powerpoint/2010/main" val="16927693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header-author">
            <a:extLst xmlns:a="http://schemas.openxmlformats.org/drawingml/2006/main">
              <a:ext uri="{FF2B5EF4-FFF2-40B4-BE49-F238E27FC236}">
                <a16:creationId xmlns:a16="http://schemas.microsoft.com/office/drawing/2014/main" id="{BE595437-1AAA-465B-8EC1-5390CF308317}"/>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65777A0B-FE42-4880-8842-3976B695FF45}"/>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B6A7518C-0326-4E3D-808E-1951119E9A67}"/>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Controles de Repetição e Engenharia de Prompt</a:t>
            </a:r>
          </a:p>
        </p:txBody>
      </p:sp>
      <p:sp>
        <p:nvSpPr>
          <p:cNvPr id="4" name="header-sub">
            <a:extLst xmlns:a="http://schemas.openxmlformats.org/drawingml/2006/main">
              <a:ext uri="{FF2B5EF4-FFF2-40B4-BE49-F238E27FC236}">
                <a16:creationId xmlns:a16="http://schemas.microsoft.com/office/drawing/2014/main" id="{7B6350C0-B1F9-4637-AE79-2C5349224A9F}"/>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Mecanismos implementados para mitigar falhas de modelos locais menores (Qwen 1.5B)</a:t>
            </a:r>
          </a:p>
        </p:txBody>
      </p:sp>
      <p:sp>
        <p:nvSpPr>
          <p:cNvPr id="5" name="footer-rule">
            <a:extLst xmlns:a="http://schemas.openxmlformats.org/drawingml/2006/main">
              <a:ext uri="{FF2B5EF4-FFF2-40B4-BE49-F238E27FC236}">
                <a16:creationId xmlns:a16="http://schemas.microsoft.com/office/drawing/2014/main" id="{E065E7DA-7B51-4EB8-9DEA-C0ED57F2EC5C}"/>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BD48370B-4B93-4D3F-A930-192A24553DEC}"/>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4330B9BD-50A8-42A7-89FF-7C4F7516E944}"/>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04</a:t>
            </a:r>
          </a:p>
        </p:txBody>
      </p:sp>
      <p:sp>
        <p:nvSpPr>
          <p:cNvPr id="8" name="ctrl-0">
            <a:extLst xmlns:a="http://schemas.openxmlformats.org/drawingml/2006/main">
              <a:ext uri="{FF2B5EF4-FFF2-40B4-BE49-F238E27FC236}">
                <a16:creationId xmlns:a16="http://schemas.microsoft.com/office/drawing/2014/main" id="{092C865E-9649-4BAC-AA23-D1FA24AB8E81}"/>
              </a:ext>
            </a:extLst>
          </p:cNvPr>
          <p:cNvSpPr>
            <a:spLocks xmlns:a="http://schemas.openxmlformats.org/drawingml/2006/main" noGrp="1"/>
          </p:cNvSpPr>
          <p:nvPr/>
        </p:nvSpPr>
        <p:spPr>
          <a:xfrm xmlns:a="http://schemas.openxmlformats.org/drawingml/2006/main">
            <a:off x="571500" y="15240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9" name="ctrl-num-0">
            <a:extLst xmlns:a="http://schemas.openxmlformats.org/drawingml/2006/main">
              <a:ext uri="{FF2B5EF4-FFF2-40B4-BE49-F238E27FC236}">
                <a16:creationId xmlns:a16="http://schemas.microsoft.com/office/drawing/2014/main" id="{9CF3F125-E4BF-4255-8E69-7359E8A1628C}"/>
              </a:ext>
            </a:extLst>
          </p:cNvPr>
          <p:cNvSpPr>
            <a:spLocks xmlns:a="http://schemas.openxmlformats.org/drawingml/2006/main" noGrp="1"/>
          </p:cNvSpPr>
          <p:nvPr/>
        </p:nvSpPr>
        <p:spPr>
          <a:xfrm xmlns:a="http://schemas.openxmlformats.org/drawingml/2006/main">
            <a:off x="809625" y="17145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E40AF"/>
                </a:solidFill>
              </a:defRPr>
            </a:defPPr>
          </a:lstStyle>
          <a:p xmlns:a="http://schemas.openxmlformats.org/drawingml/2006/main">
            <a:pPr algn="l">
              <a:lnSpc>
                <a:spcPct val="115000"/>
              </a:lnSpc>
              <a:buNone/>
              <a:defRPr sz="1950" b="1" i="0">
                <a:solidFill>
                  <a:srgbClr val="1E40AF"/>
                </a:solidFill>
              </a:defRPr>
            </a:pPr>
            <a:r>
              <a:rPr sz="1950" b="1" i="0">
                <a:solidFill>
                  <a:srgbClr val="1E40AF"/>
                </a:solidFill>
              </a:rPr>
              <a:t>01</a:t>
            </a:r>
          </a:p>
        </p:txBody>
      </p:sp>
      <p:sp>
        <p:nvSpPr>
          <p:cNvPr id="10" name="ctrl-t-0">
            <a:extLst xmlns:a="http://schemas.openxmlformats.org/drawingml/2006/main">
              <a:ext uri="{FF2B5EF4-FFF2-40B4-BE49-F238E27FC236}">
                <a16:creationId xmlns:a16="http://schemas.microsoft.com/office/drawing/2014/main" id="{0DE9BF11-C37D-4D9D-BF19-361C64D45381}"/>
              </a:ext>
            </a:extLst>
          </p:cNvPr>
          <p:cNvSpPr>
            <a:spLocks xmlns:a="http://schemas.openxmlformats.org/drawingml/2006/main" noGrp="1"/>
          </p:cNvSpPr>
          <p:nvPr/>
        </p:nvSpPr>
        <p:spPr>
          <a:xfrm xmlns:a="http://schemas.openxmlformats.org/drawingml/2006/main">
            <a:off x="1476375" y="17335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0F172A"/>
                </a:solidFill>
              </a:defRPr>
            </a:defPPr>
          </a:lstStyle>
          <a:p xmlns:a="http://schemas.openxmlformats.org/drawingml/2006/main">
            <a:pPr algn="l">
              <a:lnSpc>
                <a:spcPct val="115000"/>
              </a:lnSpc>
              <a:buNone/>
              <a:defRPr sz="1350" b="1" i="0">
                <a:solidFill>
                  <a:srgbClr val="0F172A"/>
                </a:solidFill>
              </a:defRPr>
            </a:pPr>
            <a:r>
              <a:rPr sz="1350" b="1" i="0">
                <a:solidFill>
                  <a:srgbClr val="0F172A"/>
                </a:solidFill>
              </a:rPr>
              <a:t>Esquema Estruturado JSON</a:t>
            </a:r>
          </a:p>
        </p:txBody>
      </p:sp>
      <p:sp>
        <p:nvSpPr>
          <p:cNvPr id="11" name="ctrl-d-0">
            <a:extLst xmlns:a="http://schemas.openxmlformats.org/drawingml/2006/main">
              <a:ext uri="{FF2B5EF4-FFF2-40B4-BE49-F238E27FC236}">
                <a16:creationId xmlns:a16="http://schemas.microsoft.com/office/drawing/2014/main" id="{C93332EF-3576-4BC0-BC1B-C14F34906566}"/>
              </a:ext>
            </a:extLst>
          </p:cNvPr>
          <p:cNvSpPr>
            <a:spLocks xmlns:a="http://schemas.openxmlformats.org/drawingml/2006/main" noGrp="1"/>
          </p:cNvSpPr>
          <p:nvPr/>
        </p:nvSpPr>
        <p:spPr>
          <a:xfrm xmlns:a="http://schemas.openxmlformats.org/drawingml/2006/main">
            <a:off x="809625" y="21717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O modelo local é restringido a responder em dois campos delimitados: "risco" (uma frase de impacto econômico) e "pergunta" (uma questão prática de mercado). Isso impede que o modelo copie prompts ou simule papéis indevidos.</a:t>
            </a:r>
          </a:p>
        </p:txBody>
      </p:sp>
      <p:sp>
        <p:nvSpPr>
          <p:cNvPr id="12" name="ctrl-1">
            <a:extLst xmlns:a="http://schemas.openxmlformats.org/drawingml/2006/main">
              <a:ext uri="{FF2B5EF4-FFF2-40B4-BE49-F238E27FC236}">
                <a16:creationId xmlns:a16="http://schemas.microsoft.com/office/drawing/2014/main" id="{A3E8CD35-47E1-4364-86DC-70F87FD67583}"/>
              </a:ext>
            </a:extLst>
          </p:cNvPr>
          <p:cNvSpPr>
            <a:spLocks xmlns:a="http://schemas.openxmlformats.org/drawingml/2006/main" noGrp="1"/>
          </p:cNvSpPr>
          <p:nvPr/>
        </p:nvSpPr>
        <p:spPr>
          <a:xfrm xmlns:a="http://schemas.openxmlformats.org/drawingml/2006/main">
            <a:off x="7810500" y="15240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13" name="ctrl-num-1">
            <a:extLst xmlns:a="http://schemas.openxmlformats.org/drawingml/2006/main">
              <a:ext uri="{FF2B5EF4-FFF2-40B4-BE49-F238E27FC236}">
                <a16:creationId xmlns:a16="http://schemas.microsoft.com/office/drawing/2014/main" id="{ABF7FD9E-B29D-486D-82BF-1D17031B6A1D}"/>
              </a:ext>
            </a:extLst>
          </p:cNvPr>
          <p:cNvSpPr>
            <a:spLocks xmlns:a="http://schemas.openxmlformats.org/drawingml/2006/main" noGrp="1"/>
          </p:cNvSpPr>
          <p:nvPr/>
        </p:nvSpPr>
        <p:spPr>
          <a:xfrm xmlns:a="http://schemas.openxmlformats.org/drawingml/2006/main">
            <a:off x="8048625" y="17145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E40AF"/>
                </a:solidFill>
              </a:defRPr>
            </a:defPPr>
          </a:lstStyle>
          <a:p xmlns:a="http://schemas.openxmlformats.org/drawingml/2006/main">
            <a:pPr algn="l">
              <a:lnSpc>
                <a:spcPct val="115000"/>
              </a:lnSpc>
              <a:buNone/>
              <a:defRPr sz="1950" b="1" i="0">
                <a:solidFill>
                  <a:srgbClr val="1E40AF"/>
                </a:solidFill>
              </a:defRPr>
            </a:pPr>
            <a:r>
              <a:rPr sz="1950" b="1" i="0">
                <a:solidFill>
                  <a:srgbClr val="1E40AF"/>
                </a:solidFill>
              </a:rPr>
              <a:t>02</a:t>
            </a:r>
          </a:p>
        </p:txBody>
      </p:sp>
      <p:sp>
        <p:nvSpPr>
          <p:cNvPr id="14" name="ctrl-t-1">
            <a:extLst xmlns:a="http://schemas.openxmlformats.org/drawingml/2006/main">
              <a:ext uri="{FF2B5EF4-FFF2-40B4-BE49-F238E27FC236}">
                <a16:creationId xmlns:a16="http://schemas.microsoft.com/office/drawing/2014/main" id="{C234F2A8-2D99-4FED-A316-6FFFBCC2EABA}"/>
              </a:ext>
            </a:extLst>
          </p:cNvPr>
          <p:cNvSpPr>
            <a:spLocks xmlns:a="http://schemas.openxmlformats.org/drawingml/2006/main" noGrp="1"/>
          </p:cNvSpPr>
          <p:nvPr/>
        </p:nvSpPr>
        <p:spPr>
          <a:xfrm xmlns:a="http://schemas.openxmlformats.org/drawingml/2006/main">
            <a:off x="8715375" y="17335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0F172A"/>
                </a:solidFill>
              </a:defRPr>
            </a:defPPr>
          </a:lstStyle>
          <a:p xmlns:a="http://schemas.openxmlformats.org/drawingml/2006/main">
            <a:pPr algn="l">
              <a:lnSpc>
                <a:spcPct val="115000"/>
              </a:lnSpc>
              <a:buNone/>
              <a:defRPr sz="1350" b="1" i="0">
                <a:solidFill>
                  <a:srgbClr val="0F172A"/>
                </a:solidFill>
              </a:defRPr>
            </a:pPr>
            <a:r>
              <a:rPr sz="1350" b="1" i="0">
                <a:solidFill>
                  <a:srgbClr val="0F172A"/>
                </a:solidFill>
              </a:rPr>
              <a:t>Detecção de Eco e N-Gramas</a:t>
            </a:r>
          </a:p>
        </p:txBody>
      </p:sp>
      <p:sp>
        <p:nvSpPr>
          <p:cNvPr id="15" name="ctrl-d-1">
            <a:extLst xmlns:a="http://schemas.openxmlformats.org/drawingml/2006/main">
              <a:ext uri="{FF2B5EF4-FFF2-40B4-BE49-F238E27FC236}">
                <a16:creationId xmlns:a16="http://schemas.microsoft.com/office/drawing/2014/main" id="{F00833AA-3B71-4C87-A518-FFF763C659E6}"/>
              </a:ext>
            </a:extLst>
          </p:cNvPr>
          <p:cNvSpPr>
            <a:spLocks xmlns:a="http://schemas.openxmlformats.org/drawingml/2006/main" noGrp="1"/>
          </p:cNvSpPr>
          <p:nvPr/>
        </p:nvSpPr>
        <p:spPr>
          <a:xfrm xmlns:a="http://schemas.openxmlformats.org/drawingml/2006/main">
            <a:off x="8048625" y="21717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Um algoritmo analisa a sobreposição de sequências de 6 palavras entre a saída do Qwen e o prompt de entrada. Casos com mais de 45% de cópia são rejeitados automaticamente, acionando retentativa com maior temperatura.</a:t>
            </a:r>
          </a:p>
        </p:txBody>
      </p:sp>
      <p:sp>
        <p:nvSpPr>
          <p:cNvPr id="16" name="ctrl-2">
            <a:extLst xmlns:a="http://schemas.openxmlformats.org/drawingml/2006/main">
              <a:ext uri="{FF2B5EF4-FFF2-40B4-BE49-F238E27FC236}">
                <a16:creationId xmlns:a16="http://schemas.microsoft.com/office/drawing/2014/main" id="{06AD6C4C-1FF7-4507-A9E1-34CBFB5F3AA2}"/>
              </a:ext>
            </a:extLst>
          </p:cNvPr>
          <p:cNvSpPr>
            <a:spLocks xmlns:a="http://schemas.openxmlformats.org/drawingml/2006/main" noGrp="1"/>
          </p:cNvSpPr>
          <p:nvPr/>
        </p:nvSpPr>
        <p:spPr>
          <a:xfrm xmlns:a="http://schemas.openxmlformats.org/drawingml/2006/main">
            <a:off x="571500" y="36195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17" name="ctrl-num-2">
            <a:extLst xmlns:a="http://schemas.openxmlformats.org/drawingml/2006/main">
              <a:ext uri="{FF2B5EF4-FFF2-40B4-BE49-F238E27FC236}">
                <a16:creationId xmlns:a16="http://schemas.microsoft.com/office/drawing/2014/main" id="{EEAA1B2A-DF4C-49A6-B06D-044CD0B4D43C}"/>
              </a:ext>
            </a:extLst>
          </p:cNvPr>
          <p:cNvSpPr>
            <a:spLocks xmlns:a="http://schemas.openxmlformats.org/drawingml/2006/main" noGrp="1"/>
          </p:cNvSpPr>
          <p:nvPr/>
        </p:nvSpPr>
        <p:spPr>
          <a:xfrm xmlns:a="http://schemas.openxmlformats.org/drawingml/2006/main">
            <a:off x="809625" y="38100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E40AF"/>
                </a:solidFill>
              </a:defRPr>
            </a:defPPr>
          </a:lstStyle>
          <a:p xmlns:a="http://schemas.openxmlformats.org/drawingml/2006/main">
            <a:pPr algn="l">
              <a:lnSpc>
                <a:spcPct val="115000"/>
              </a:lnSpc>
              <a:buNone/>
              <a:defRPr sz="1950" b="1" i="0">
                <a:solidFill>
                  <a:srgbClr val="1E40AF"/>
                </a:solidFill>
              </a:defRPr>
            </a:pPr>
            <a:r>
              <a:rPr sz="1950" b="1" i="0">
                <a:solidFill>
                  <a:srgbClr val="1E40AF"/>
                </a:solidFill>
              </a:rPr>
              <a:t>03</a:t>
            </a:r>
          </a:p>
        </p:txBody>
      </p:sp>
      <p:sp>
        <p:nvSpPr>
          <p:cNvPr id="18" name="ctrl-t-2">
            <a:extLst xmlns:a="http://schemas.openxmlformats.org/drawingml/2006/main">
              <a:ext uri="{FF2B5EF4-FFF2-40B4-BE49-F238E27FC236}">
                <a16:creationId xmlns:a16="http://schemas.microsoft.com/office/drawing/2014/main" id="{65F1D894-D76D-457A-B397-7B9BBC04C937}"/>
              </a:ext>
            </a:extLst>
          </p:cNvPr>
          <p:cNvSpPr>
            <a:spLocks xmlns:a="http://schemas.openxmlformats.org/drawingml/2006/main" noGrp="1"/>
          </p:cNvSpPr>
          <p:nvPr/>
        </p:nvSpPr>
        <p:spPr>
          <a:xfrm xmlns:a="http://schemas.openxmlformats.org/drawingml/2006/main">
            <a:off x="1476375" y="38290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0F172A"/>
                </a:solidFill>
              </a:defRPr>
            </a:defPPr>
          </a:lstStyle>
          <a:p xmlns:a="http://schemas.openxmlformats.org/drawingml/2006/main">
            <a:pPr algn="l">
              <a:lnSpc>
                <a:spcPct val="115000"/>
              </a:lnSpc>
              <a:buNone/>
              <a:defRPr sz="1350" b="1" i="0">
                <a:solidFill>
                  <a:srgbClr val="0F172A"/>
                </a:solidFill>
              </a:defRPr>
            </a:pPr>
            <a:r>
              <a:rPr sz="1350" b="1" i="0">
                <a:solidFill>
                  <a:srgbClr val="0F172A"/>
                </a:solidFill>
              </a:rPr>
              <a:t>Verificação de Similaridade Histórica</a:t>
            </a:r>
          </a:p>
        </p:txBody>
      </p:sp>
      <p:sp>
        <p:nvSpPr>
          <p:cNvPr id="19" name="ctrl-d-2">
            <a:extLst xmlns:a="http://schemas.openxmlformats.org/drawingml/2006/main">
              <a:ext uri="{FF2B5EF4-FFF2-40B4-BE49-F238E27FC236}">
                <a16:creationId xmlns:a16="http://schemas.microsoft.com/office/drawing/2014/main" id="{EBDB6D04-E18C-4502-8461-587EBAD46473}"/>
              </a:ext>
            </a:extLst>
          </p:cNvPr>
          <p:cNvSpPr>
            <a:spLocks xmlns:a="http://schemas.openxmlformats.org/drawingml/2006/main" noGrp="1"/>
          </p:cNvSpPr>
          <p:nvPr/>
        </p:nvSpPr>
        <p:spPr>
          <a:xfrm xmlns:a="http://schemas.openxmlformats.org/drawingml/2006/main">
            <a:off x="809625" y="42672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Cada resposta gerada localmente é comparada via SequenceMatcher contra as últimas respostas locais. Similaridade superior a 85% dispara nova tentativa com semente estocástica distinta.</a:t>
            </a:r>
          </a:p>
        </p:txBody>
      </p:sp>
      <p:sp>
        <p:nvSpPr>
          <p:cNvPr id="20" name="ctrl-3">
            <a:extLst xmlns:a="http://schemas.openxmlformats.org/drawingml/2006/main">
              <a:ext uri="{FF2B5EF4-FFF2-40B4-BE49-F238E27FC236}">
                <a16:creationId xmlns:a16="http://schemas.microsoft.com/office/drawing/2014/main" id="{0EAF5D59-C617-41CD-B2FA-9369A0187736}"/>
              </a:ext>
            </a:extLst>
          </p:cNvPr>
          <p:cNvSpPr>
            <a:spLocks xmlns:a="http://schemas.openxmlformats.org/drawingml/2006/main" noGrp="1"/>
          </p:cNvSpPr>
          <p:nvPr/>
        </p:nvSpPr>
        <p:spPr>
          <a:xfrm xmlns:a="http://schemas.openxmlformats.org/drawingml/2006/main">
            <a:off x="7810500" y="36195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21" name="ctrl-num-3">
            <a:extLst xmlns:a="http://schemas.openxmlformats.org/drawingml/2006/main">
              <a:ext uri="{FF2B5EF4-FFF2-40B4-BE49-F238E27FC236}">
                <a16:creationId xmlns:a16="http://schemas.microsoft.com/office/drawing/2014/main" id="{2BA3DC66-7E78-4950-92C5-25E468AB731C}"/>
              </a:ext>
            </a:extLst>
          </p:cNvPr>
          <p:cNvSpPr>
            <a:spLocks xmlns:a="http://schemas.openxmlformats.org/drawingml/2006/main" noGrp="1"/>
          </p:cNvSpPr>
          <p:nvPr/>
        </p:nvSpPr>
        <p:spPr>
          <a:xfrm xmlns:a="http://schemas.openxmlformats.org/drawingml/2006/main">
            <a:off x="8048625" y="38100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E40AF"/>
                </a:solidFill>
              </a:defRPr>
            </a:defPPr>
          </a:lstStyle>
          <a:p xmlns:a="http://schemas.openxmlformats.org/drawingml/2006/main">
            <a:pPr algn="l">
              <a:lnSpc>
                <a:spcPct val="115000"/>
              </a:lnSpc>
              <a:buNone/>
              <a:defRPr sz="1950" b="1" i="0">
                <a:solidFill>
                  <a:srgbClr val="1E40AF"/>
                </a:solidFill>
              </a:defRPr>
            </a:pPr>
            <a:r>
              <a:rPr sz="1950" b="1" i="0">
                <a:solidFill>
                  <a:srgbClr val="1E40AF"/>
                </a:solidFill>
              </a:rPr>
              <a:t>04</a:t>
            </a:r>
          </a:p>
        </p:txBody>
      </p:sp>
      <p:sp>
        <p:nvSpPr>
          <p:cNvPr id="22" name="ctrl-t-3">
            <a:extLst xmlns:a="http://schemas.openxmlformats.org/drawingml/2006/main">
              <a:ext uri="{FF2B5EF4-FFF2-40B4-BE49-F238E27FC236}">
                <a16:creationId xmlns:a16="http://schemas.microsoft.com/office/drawing/2014/main" id="{7B5BD4F0-4F2F-4E98-B1BA-4F2BDDA05433}"/>
              </a:ext>
            </a:extLst>
          </p:cNvPr>
          <p:cNvSpPr>
            <a:spLocks xmlns:a="http://schemas.openxmlformats.org/drawingml/2006/main" noGrp="1"/>
          </p:cNvSpPr>
          <p:nvPr/>
        </p:nvSpPr>
        <p:spPr>
          <a:xfrm xmlns:a="http://schemas.openxmlformats.org/drawingml/2006/main">
            <a:off x="8715375" y="38290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0F172A"/>
                </a:solidFill>
              </a:defRPr>
            </a:defPPr>
          </a:lstStyle>
          <a:p xmlns:a="http://schemas.openxmlformats.org/drawingml/2006/main">
            <a:pPr algn="l">
              <a:lnSpc>
                <a:spcPct val="115000"/>
              </a:lnSpc>
              <a:buNone/>
              <a:defRPr sz="1350" b="1" i="0">
                <a:solidFill>
                  <a:srgbClr val="0F172A"/>
                </a:solidFill>
              </a:defRPr>
            </a:pPr>
            <a:r>
              <a:rPr sz="1350" b="1" i="0">
                <a:solidFill>
                  <a:srgbClr val="0F172A"/>
                </a:solidFill>
              </a:rPr>
              <a:t>Contexto Enxuto e Sem Metacomentários</a:t>
            </a:r>
          </a:p>
        </p:txBody>
      </p:sp>
      <p:sp>
        <p:nvSpPr>
          <p:cNvPr id="23" name="ctrl-d-3">
            <a:extLst xmlns:a="http://schemas.openxmlformats.org/drawingml/2006/main">
              <a:ext uri="{FF2B5EF4-FFF2-40B4-BE49-F238E27FC236}">
                <a16:creationId xmlns:a16="http://schemas.microsoft.com/office/drawing/2014/main" id="{8AE34235-3353-4B63-B5A1-4F6085FC6AAB}"/>
              </a:ext>
            </a:extLst>
          </p:cNvPr>
          <p:cNvSpPr>
            <a:spLocks xmlns:a="http://schemas.openxmlformats.org/drawingml/2006/main" noGrp="1"/>
          </p:cNvSpPr>
          <p:nvPr/>
        </p:nvSpPr>
        <p:spPr>
          <a:xfrm xmlns:a="http://schemas.openxmlformats.org/drawingml/2006/main">
            <a:off x="8048625" y="42672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Janela de contexto mantida focada (num_ctx: 1024), eliminando comentários analíticos do juiz da entrada do Qwen para evitar que o modelo local alucine ou assuma a postura de árbitro.</a:t>
            </a:r>
          </a:p>
        </p:txBody>
      </p:sp>
      <p:sp>
        <p:nvSpPr>
          <p:cNvPr id="24" name="ctrl-4">
            <a:extLst xmlns:a="http://schemas.openxmlformats.org/drawingml/2006/main">
              <a:ext uri="{FF2B5EF4-FFF2-40B4-BE49-F238E27FC236}">
                <a16:creationId xmlns:a16="http://schemas.microsoft.com/office/drawing/2014/main" id="{11785310-2F5A-4DC4-A163-57E0E6E833D6}"/>
              </a:ext>
            </a:extLst>
          </p:cNvPr>
          <p:cNvSpPr>
            <a:spLocks xmlns:a="http://schemas.openxmlformats.org/drawingml/2006/main" noGrp="1"/>
          </p:cNvSpPr>
          <p:nvPr/>
        </p:nvSpPr>
        <p:spPr>
          <a:xfrm xmlns:a="http://schemas.openxmlformats.org/drawingml/2006/main">
            <a:off x="571500" y="57150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25" name="ctrl-num-4">
            <a:extLst xmlns:a="http://schemas.openxmlformats.org/drawingml/2006/main">
              <a:ext uri="{FF2B5EF4-FFF2-40B4-BE49-F238E27FC236}">
                <a16:creationId xmlns:a16="http://schemas.microsoft.com/office/drawing/2014/main" id="{F8C12D5C-A453-4AB9-972D-C49EF85DA90C}"/>
              </a:ext>
            </a:extLst>
          </p:cNvPr>
          <p:cNvSpPr>
            <a:spLocks xmlns:a="http://schemas.openxmlformats.org/drawingml/2006/main" noGrp="1"/>
          </p:cNvSpPr>
          <p:nvPr/>
        </p:nvSpPr>
        <p:spPr>
          <a:xfrm xmlns:a="http://schemas.openxmlformats.org/drawingml/2006/main">
            <a:off x="809625" y="59055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E40AF"/>
                </a:solidFill>
              </a:defRPr>
            </a:defPPr>
          </a:lstStyle>
          <a:p xmlns:a="http://schemas.openxmlformats.org/drawingml/2006/main">
            <a:pPr algn="l">
              <a:lnSpc>
                <a:spcPct val="115000"/>
              </a:lnSpc>
              <a:buNone/>
              <a:defRPr sz="1950" b="1" i="0">
                <a:solidFill>
                  <a:srgbClr val="1E40AF"/>
                </a:solidFill>
              </a:defRPr>
            </a:pPr>
            <a:r>
              <a:rPr sz="1950" b="1" i="0">
                <a:solidFill>
                  <a:srgbClr val="1E40AF"/>
                </a:solidFill>
              </a:rPr>
              <a:t>05</a:t>
            </a:r>
          </a:p>
        </p:txBody>
      </p:sp>
      <p:sp>
        <p:nvSpPr>
          <p:cNvPr id="26" name="ctrl-t-4">
            <a:extLst xmlns:a="http://schemas.openxmlformats.org/drawingml/2006/main">
              <a:ext uri="{FF2B5EF4-FFF2-40B4-BE49-F238E27FC236}">
                <a16:creationId xmlns:a16="http://schemas.microsoft.com/office/drawing/2014/main" id="{DB30AB31-0CFA-473A-BA86-3D62FE89F8F0}"/>
              </a:ext>
            </a:extLst>
          </p:cNvPr>
          <p:cNvSpPr>
            <a:spLocks xmlns:a="http://schemas.openxmlformats.org/drawingml/2006/main" noGrp="1"/>
          </p:cNvSpPr>
          <p:nvPr/>
        </p:nvSpPr>
        <p:spPr>
          <a:xfrm xmlns:a="http://schemas.openxmlformats.org/drawingml/2006/main">
            <a:off x="1476375" y="59245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0F172A"/>
                </a:solidFill>
              </a:defRPr>
            </a:defPPr>
          </a:lstStyle>
          <a:p xmlns:a="http://schemas.openxmlformats.org/drawingml/2006/main">
            <a:pPr algn="l">
              <a:lnSpc>
                <a:spcPct val="115000"/>
              </a:lnSpc>
              <a:buNone/>
              <a:defRPr sz="1350" b="1" i="0">
                <a:solidFill>
                  <a:srgbClr val="0F172A"/>
                </a:solidFill>
              </a:defRPr>
            </a:pPr>
            <a:r>
              <a:rPr sz="1350" b="1" i="0">
                <a:solidFill>
                  <a:srgbClr val="0F172A"/>
                </a:solidFill>
              </a:rPr>
              <a:t>Filtro de Idioma e Termos-Âncora</a:t>
            </a:r>
          </a:p>
        </p:txBody>
      </p:sp>
      <p:sp>
        <p:nvSpPr>
          <p:cNvPr id="27" name="ctrl-d-4">
            <a:extLst xmlns:a="http://schemas.openxmlformats.org/drawingml/2006/main">
              <a:ext uri="{FF2B5EF4-FFF2-40B4-BE49-F238E27FC236}">
                <a16:creationId xmlns:a16="http://schemas.microsoft.com/office/drawing/2014/main" id="{FF40501A-D07A-428F-A93B-34CA3A63163B}"/>
              </a:ext>
            </a:extLst>
          </p:cNvPr>
          <p:cNvSpPr>
            <a:spLocks xmlns:a="http://schemas.openxmlformats.org/drawingml/2006/main" noGrp="1"/>
          </p:cNvSpPr>
          <p:nvPr/>
        </p:nvSpPr>
        <p:spPr>
          <a:xfrm xmlns:a="http://schemas.openxmlformats.org/drawingml/2006/main">
            <a:off x="809625" y="63627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Verificação da língua portuguesa e checagem obrigatória da raiz semântica do tema da rodada (ex: "salari", "jornada", "terceir"), garantindo aderência rigorosa ao debate proposto.</a:t>
            </a:r>
          </a:p>
        </p:txBody>
      </p:sp>
      <p:sp>
        <p:nvSpPr>
          <p:cNvPr id="28" name="ctrl-5">
            <a:extLst xmlns:a="http://schemas.openxmlformats.org/drawingml/2006/main">
              <a:ext uri="{FF2B5EF4-FFF2-40B4-BE49-F238E27FC236}">
                <a16:creationId xmlns:a16="http://schemas.microsoft.com/office/drawing/2014/main" id="{12BD977F-60C0-448D-B938-9B9FB43E2B06}"/>
              </a:ext>
            </a:extLst>
          </p:cNvPr>
          <p:cNvSpPr>
            <a:spLocks xmlns:a="http://schemas.openxmlformats.org/drawingml/2006/main" noGrp="1"/>
          </p:cNvSpPr>
          <p:nvPr/>
        </p:nvSpPr>
        <p:spPr>
          <a:xfrm xmlns:a="http://schemas.openxmlformats.org/drawingml/2006/main">
            <a:off x="7810500" y="57150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29" name="ctrl-num-5">
            <a:extLst xmlns:a="http://schemas.openxmlformats.org/drawingml/2006/main">
              <a:ext uri="{FF2B5EF4-FFF2-40B4-BE49-F238E27FC236}">
                <a16:creationId xmlns:a16="http://schemas.microsoft.com/office/drawing/2014/main" id="{3A8CD247-9688-45D8-A1E9-B7FB7F874E90}"/>
              </a:ext>
            </a:extLst>
          </p:cNvPr>
          <p:cNvSpPr>
            <a:spLocks xmlns:a="http://schemas.openxmlformats.org/drawingml/2006/main" noGrp="1"/>
          </p:cNvSpPr>
          <p:nvPr/>
        </p:nvSpPr>
        <p:spPr>
          <a:xfrm xmlns:a="http://schemas.openxmlformats.org/drawingml/2006/main">
            <a:off x="8048625" y="59055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E40AF"/>
                </a:solidFill>
              </a:defRPr>
            </a:defPPr>
          </a:lstStyle>
          <a:p xmlns:a="http://schemas.openxmlformats.org/drawingml/2006/main">
            <a:pPr algn="l">
              <a:lnSpc>
                <a:spcPct val="115000"/>
              </a:lnSpc>
              <a:buNone/>
              <a:defRPr sz="1950" b="1" i="0">
                <a:solidFill>
                  <a:srgbClr val="1E40AF"/>
                </a:solidFill>
              </a:defRPr>
            </a:pPr>
            <a:r>
              <a:rPr sz="1950" b="1" i="0">
                <a:solidFill>
                  <a:srgbClr val="1E40AF"/>
                </a:solidFill>
              </a:rPr>
              <a:t>06</a:t>
            </a:r>
          </a:p>
        </p:txBody>
      </p:sp>
      <p:sp>
        <p:nvSpPr>
          <p:cNvPr id="30" name="ctrl-t-5">
            <a:extLst xmlns:a="http://schemas.openxmlformats.org/drawingml/2006/main">
              <a:ext uri="{FF2B5EF4-FFF2-40B4-BE49-F238E27FC236}">
                <a16:creationId xmlns:a16="http://schemas.microsoft.com/office/drawing/2014/main" id="{C5A3B92D-62CB-464A-8829-175C98960107}"/>
              </a:ext>
            </a:extLst>
          </p:cNvPr>
          <p:cNvSpPr>
            <a:spLocks xmlns:a="http://schemas.openxmlformats.org/drawingml/2006/main" noGrp="1"/>
          </p:cNvSpPr>
          <p:nvPr/>
        </p:nvSpPr>
        <p:spPr>
          <a:xfrm xmlns:a="http://schemas.openxmlformats.org/drawingml/2006/main">
            <a:off x="8715375" y="59245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0F172A"/>
                </a:solidFill>
              </a:defRPr>
            </a:defPPr>
          </a:lstStyle>
          <a:p xmlns:a="http://schemas.openxmlformats.org/drawingml/2006/main">
            <a:pPr algn="l">
              <a:lnSpc>
                <a:spcPct val="115000"/>
              </a:lnSpc>
              <a:buNone/>
              <a:defRPr sz="1350" b="1" i="0">
                <a:solidFill>
                  <a:srgbClr val="0F172A"/>
                </a:solidFill>
              </a:defRPr>
            </a:pPr>
            <a:r>
              <a:rPr sz="1350" b="1" i="0">
                <a:solidFill>
                  <a:srgbClr val="0F172A"/>
                </a:solidFill>
              </a:rPr>
              <a:t>Retentativas com Feedback Dinâmico</a:t>
            </a:r>
          </a:p>
        </p:txBody>
      </p:sp>
      <p:sp>
        <p:nvSpPr>
          <p:cNvPr id="31" name="ctrl-d-5">
            <a:extLst xmlns:a="http://schemas.openxmlformats.org/drawingml/2006/main">
              <a:ext uri="{FF2B5EF4-FFF2-40B4-BE49-F238E27FC236}">
                <a16:creationId xmlns:a16="http://schemas.microsoft.com/office/drawing/2014/main" id="{DDB18AC0-061C-4702-A8B7-AD3BE8BEDF96}"/>
              </a:ext>
            </a:extLst>
          </p:cNvPr>
          <p:cNvSpPr>
            <a:spLocks xmlns:a="http://schemas.openxmlformats.org/drawingml/2006/main" noGrp="1"/>
          </p:cNvSpPr>
          <p:nvPr/>
        </p:nvSpPr>
        <p:spPr>
          <a:xfrm xmlns:a="http://schemas.openxmlformats.org/drawingml/2006/main">
            <a:off x="8048625" y="63627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Caso a resposta falhe nos filtros heurísticos, o script reinvoca o Ollama até 3 vezes, injetando o motivo da recusa no prompt do sistema para forçar uma formulação original.</a:t>
            </a:r>
          </a:p>
        </p:txBody>
      </p:sp>
    </p:spTree>
    <p:extLst>
      <p:ext uri="{BB962C8B-B14F-4D97-AF65-F5344CB8AC3E}">
        <p14:creationId xmlns:p14="http://schemas.microsoft.com/office/powerpoint/2010/main" val="7039191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A0E73FF9-33C9-4083-8F99-AA757B41DA2C}"/>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043B4A90-801D-4542-9F67-0485294A61A1}"/>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473FB7B4-DB07-4951-B6DE-BDE905A5A7A7}"/>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01 · SALÁRIO MÍNIMO E REAJUSTES</a:t>
            </a:r>
          </a:p>
        </p:txBody>
      </p:sp>
      <p:sp>
        <p:nvSpPr>
          <p:cNvPr id="4" name="header-sub">
            <a:extLst xmlns:a="http://schemas.openxmlformats.org/drawingml/2006/main">
              <a:ext uri="{FF2B5EF4-FFF2-40B4-BE49-F238E27FC236}">
                <a16:creationId xmlns:a16="http://schemas.microsoft.com/office/drawing/2014/main" id="{8244B576-BCE5-44CD-89A6-A6FD1EB3F886}"/>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proteger o poder de compra dos vulneráveis sem gerar desemprego ou inviabilizar pequenos negócios?</a:t>
            </a:r>
          </a:p>
        </p:txBody>
      </p:sp>
      <p:sp>
        <p:nvSpPr>
          <p:cNvPr id="5" name="footer-rule">
            <a:extLst xmlns:a="http://schemas.openxmlformats.org/drawingml/2006/main">
              <a:ext uri="{FF2B5EF4-FFF2-40B4-BE49-F238E27FC236}">
                <a16:creationId xmlns:a16="http://schemas.microsoft.com/office/drawing/2014/main" id="{0604D11B-FAE6-4A3A-9E81-7270AB5869CB}"/>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78D26CC6-24D6-47FD-8329-1D753C9FCC48}"/>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CA7B3FEF-DF19-4BF5-A893-76AD183620A8}"/>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05</a:t>
            </a:r>
          </a:p>
        </p:txBody>
      </p:sp>
      <p:sp>
        <p:nvSpPr>
          <p:cNvPr id="8" name="left-hdr-1">
            <a:extLst xmlns:a="http://schemas.openxmlformats.org/drawingml/2006/main">
              <a:ext uri="{FF2B5EF4-FFF2-40B4-BE49-F238E27FC236}">
                <a16:creationId xmlns:a16="http://schemas.microsoft.com/office/drawing/2014/main" id="{21B0176C-BC2A-44F7-A966-E106CABC55C4}"/>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1">
            <a:extLst xmlns:a="http://schemas.openxmlformats.org/drawingml/2006/main">
              <a:ext uri="{FF2B5EF4-FFF2-40B4-BE49-F238E27FC236}">
                <a16:creationId xmlns:a16="http://schemas.microsoft.com/office/drawing/2014/main" id="{9BCFB001-86C4-4B51-A753-3EE2B9C8188A}"/>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1">
            <a:extLst xmlns:a="http://schemas.openxmlformats.org/drawingml/2006/main">
              <a:ext uri="{FF2B5EF4-FFF2-40B4-BE49-F238E27FC236}">
                <a16:creationId xmlns:a16="http://schemas.microsoft.com/office/drawing/2014/main" id="{C4DCB4AD-52B4-4AFB-957E-5D0DB9E25D73}"/>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1">
            <a:extLst xmlns:a="http://schemas.openxmlformats.org/drawingml/2006/main">
              <a:ext uri="{FF2B5EF4-FFF2-40B4-BE49-F238E27FC236}">
                <a16:creationId xmlns:a16="http://schemas.microsoft.com/office/drawing/2014/main" id="{3136F20A-FB9A-49C7-9618-BC9058126EB9}"/>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salário mínimo legal precisa ter reajustes reais anuais atrelados à inflação e ao crescimento do PIB, assegurando poder de compra à base da pirâmide e combatendo a pobreza extrema. A experiência internacional mostra que pisos salariais adequados sustentam a demanda agregada, incentivam o consumo de bens essenciais e elevam a produtividade sem contrair o nível geral de ocupação.</a:t>
            </a:r>
          </a:p>
        </p:txBody>
      </p:sp>
      <p:sp>
        <p:nvSpPr>
          <p:cNvPr id="12" name="t1-a2-box-1">
            <a:extLst xmlns:a="http://schemas.openxmlformats.org/drawingml/2006/main">
              <a:ext uri="{FF2B5EF4-FFF2-40B4-BE49-F238E27FC236}">
                <a16:creationId xmlns:a16="http://schemas.microsoft.com/office/drawing/2014/main" id="{21B59EAF-4534-4348-95F5-C1FC44536835}"/>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1">
            <a:extLst xmlns:a="http://schemas.openxmlformats.org/drawingml/2006/main">
              <a:ext uri="{FF2B5EF4-FFF2-40B4-BE49-F238E27FC236}">
                <a16:creationId xmlns:a16="http://schemas.microsoft.com/office/drawing/2014/main" id="{326B437A-A529-4A48-9B56-A4DC49E56EE6}"/>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1">
            <a:extLst xmlns:a="http://schemas.openxmlformats.org/drawingml/2006/main">
              <a:ext uri="{FF2B5EF4-FFF2-40B4-BE49-F238E27FC236}">
                <a16:creationId xmlns:a16="http://schemas.microsoft.com/office/drawing/2014/main" id="{29A38513-9FC8-45F9-BD0C-7C9A1A9DCECD}"/>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Aumentar os salários mínimos pode acelerar a inflação e comprometer as finanças públicas.</a:t>
            </a:r>
          </a:p>
          <a:p xmlns:a="http://schemas.openxmlformats.org/drawingml/2006/main">
            <a:pPr algn="l">
              <a:lnSpc>
                <a:spcPct val="115000"/>
              </a:lnSpc>
              <a:buNone/>
              <a:defRPr sz="900" b="0" i="0">
                <a:solidFill>
                  <a:srgbClr val="0F172A"/>
                </a:solidFill>
              </a:defRPr>
            </a:pPr>
            <a:r>
              <a:rPr sz="900" b="0" i="0">
                <a:solidFill>
                  <a:srgbClr val="0F172A"/>
                </a:solidFill>
              </a:rPr>
              <a:t>Pergunta: Como manter o poder de compra dos trabalhadores sem aumentar drasticamente impostos ou penalizar empresas menores?</a:t>
            </a:r>
          </a:p>
        </p:txBody>
      </p:sp>
      <p:sp>
        <p:nvSpPr>
          <p:cNvPr id="15" name="t2-a2-box-1">
            <a:extLst xmlns:a="http://schemas.openxmlformats.org/drawingml/2006/main">
              <a:ext uri="{FF2B5EF4-FFF2-40B4-BE49-F238E27FC236}">
                <a16:creationId xmlns:a16="http://schemas.microsoft.com/office/drawing/2014/main" id="{DEF8A386-5DEA-4298-AC29-013767E91EE8}"/>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1">
            <a:extLst xmlns:a="http://schemas.openxmlformats.org/drawingml/2006/main">
              <a:ext uri="{FF2B5EF4-FFF2-40B4-BE49-F238E27FC236}">
                <a16:creationId xmlns:a16="http://schemas.microsoft.com/office/drawing/2014/main" id="{B7E76D99-CC3B-45E8-926C-C3089E5D2C44}"/>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1">
            <a:extLst xmlns:a="http://schemas.openxmlformats.org/drawingml/2006/main">
              <a:ext uri="{FF2B5EF4-FFF2-40B4-BE49-F238E27FC236}">
                <a16:creationId xmlns:a16="http://schemas.microsoft.com/office/drawing/2014/main" id="{DFB24247-1B5C-45D6-8BE3-76E4C39C0564}"/>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Aumentar os salários mínimos pode causar um aumento no custo operacional, prejudicando a competitividade das pequenas e médias empresas.</a:t>
            </a:r>
          </a:p>
          <a:p xmlns:a="http://schemas.openxmlformats.org/drawingml/2006/main">
            <a:pPr algn="l">
              <a:lnSpc>
                <a:spcPct val="115000"/>
              </a:lnSpc>
              <a:buNone/>
              <a:defRPr sz="900" b="0" i="0">
                <a:solidFill>
                  <a:srgbClr val="0F172A"/>
                </a:solidFill>
              </a:defRPr>
            </a:pPr>
            <a:r>
              <a:rPr sz="900" b="0" i="0">
                <a:solidFill>
                  <a:srgbClr val="0F172A"/>
                </a:solidFill>
              </a:rPr>
              <a:t>Pergunta: Como manter o equilíbrio entre as necessidades de melhoria do bem-estar dos trabalhadores e as exigências da economia para garantir uma viabilidade econômica?</a:t>
            </a:r>
          </a:p>
        </p:txBody>
      </p:sp>
      <p:sp>
        <p:nvSpPr>
          <p:cNvPr id="18" name="t2-a1-box-1">
            <a:extLst xmlns:a="http://schemas.openxmlformats.org/drawingml/2006/main">
              <a:ext uri="{FF2B5EF4-FFF2-40B4-BE49-F238E27FC236}">
                <a16:creationId xmlns:a16="http://schemas.microsoft.com/office/drawing/2014/main" id="{C3C779FC-312C-4D2C-AD80-4B91834B0EDC}"/>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1">
            <a:extLst xmlns:a="http://schemas.openxmlformats.org/drawingml/2006/main">
              <a:ext uri="{FF2B5EF4-FFF2-40B4-BE49-F238E27FC236}">
                <a16:creationId xmlns:a16="http://schemas.microsoft.com/office/drawing/2014/main" id="{344BF598-63DF-42EC-9CC6-9F7DB37A2483}"/>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1">
            <a:extLst xmlns:a="http://schemas.openxmlformats.org/drawingml/2006/main">
              <a:ext uri="{FF2B5EF4-FFF2-40B4-BE49-F238E27FC236}">
                <a16:creationId xmlns:a16="http://schemas.microsoft.com/office/drawing/2014/main" id="{37C871E2-BB56-417F-9176-1989E0AE67DF}"/>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Aumentar os salários mínimos pode acelerar a inflação e comprometer as finanças públicas.</a:t>
            </a:r>
          </a:p>
          <a:p xmlns:a="http://schemas.openxmlformats.org/drawingml/2006/main">
            <a:pPr algn="l">
              <a:lnSpc>
                <a:spcPct val="115000"/>
              </a:lnSpc>
              <a:buNone/>
              <a:defRPr sz="900" b="0" i="0">
                <a:solidFill>
                  <a:srgbClr val="0F172A"/>
                </a:solidFill>
              </a:defRPr>
            </a:pPr>
            <a:r>
              <a:rPr sz="900" b="0" i="0">
                <a:solidFill>
                  <a:srgbClr val="0F172A"/>
                </a:solidFill>
              </a:rPr>
              <a:t>Pergunta: Como manter o...'), propomos que a implementação não seja abrupta nem cega à capacidade financeira dos negócios, adotando crédito presumido de transição e escalonamento setorial. Em relação ao segundo ponto levantado sobre diferenças regionais de produtividade e contratação de jovens sem experiência ('Risco: Aumentar os salários mínimos pode causar um aumento no custo operacional, prejudicando a competitividade das pequ...'),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1">
            <a:extLst xmlns:a="http://schemas.openxmlformats.org/drawingml/2006/main">
              <a:ext uri="{FF2B5EF4-FFF2-40B4-BE49-F238E27FC236}">
                <a16:creationId xmlns:a16="http://schemas.microsoft.com/office/drawing/2014/main" id="{BB63189B-FB2B-445C-ACC2-F6CCEBCA5C7D}"/>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1">
            <a:extLst xmlns:a="http://schemas.openxmlformats.org/drawingml/2006/main">
              <a:ext uri="{FF2B5EF4-FFF2-40B4-BE49-F238E27FC236}">
                <a16:creationId xmlns:a16="http://schemas.microsoft.com/office/drawing/2014/main" id="{A14B373D-D706-4795-9979-8F0B8255DCBD}"/>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1">
            <a:extLst xmlns:a="http://schemas.openxmlformats.org/drawingml/2006/main">
              <a:ext uri="{FF2B5EF4-FFF2-40B4-BE49-F238E27FC236}">
                <a16:creationId xmlns:a16="http://schemas.microsoft.com/office/drawing/2014/main" id="{0A8726D1-E125-42D8-81EF-DAE918333948}"/>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1">
            <a:extLst xmlns:a="http://schemas.openxmlformats.org/drawingml/2006/main">
              <a:ext uri="{FF2B5EF4-FFF2-40B4-BE49-F238E27FC236}">
                <a16:creationId xmlns:a16="http://schemas.microsoft.com/office/drawing/2014/main" id="{BB497998-1D67-46DE-BFBC-66E3AFB8D798}"/>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salário mínimo e reajustes e os custos/incentivos de mercado apontados pelo liberal.</a:t>
            </a:r>
          </a:p>
        </p:txBody>
      </p:sp>
      <p:sp>
        <p:nvSpPr>
          <p:cNvPr id="25" name="j-verd-box-1">
            <a:extLst xmlns:a="http://schemas.openxmlformats.org/drawingml/2006/main">
              <a:ext uri="{FF2B5EF4-FFF2-40B4-BE49-F238E27FC236}">
                <a16:creationId xmlns:a16="http://schemas.microsoft.com/office/drawing/2014/main" id="{06843FEB-0563-4C43-BFA0-65877C0BC1BB}"/>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1">
            <a:extLst xmlns:a="http://schemas.openxmlformats.org/drawingml/2006/main">
              <a:ext uri="{FF2B5EF4-FFF2-40B4-BE49-F238E27FC236}">
                <a16:creationId xmlns:a16="http://schemas.microsoft.com/office/drawing/2014/main" id="{5071BC3C-2305-484A-8D9A-39C78378D7C6}"/>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1">
            <a:extLst xmlns:a="http://schemas.openxmlformats.org/drawingml/2006/main">
              <a:ext uri="{FF2B5EF4-FFF2-40B4-BE49-F238E27FC236}">
                <a16:creationId xmlns:a16="http://schemas.microsoft.com/office/drawing/2014/main" id="{19389FC0-C8A1-4826-AF35-4586A1489A3E}"/>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salário mínimo e reajustes,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1">
            <a:extLst xmlns:a="http://schemas.openxmlformats.org/drawingml/2006/main">
              <a:ext uri="{FF2B5EF4-FFF2-40B4-BE49-F238E27FC236}">
                <a16:creationId xmlns:a16="http://schemas.microsoft.com/office/drawing/2014/main" id="{42BED994-7B02-42C5-AE50-E4EC1EAE05CA}"/>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1">
            <a:extLst xmlns:a="http://schemas.openxmlformats.org/drawingml/2006/main">
              <a:ext uri="{FF2B5EF4-FFF2-40B4-BE49-F238E27FC236}">
                <a16:creationId xmlns:a16="http://schemas.microsoft.com/office/drawing/2014/main" id="{F8DDBD83-4413-4917-AB31-6B0967285F12}"/>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1">
            <a:extLst xmlns:a="http://schemas.openxmlformats.org/drawingml/2006/main">
              <a:ext uri="{FF2B5EF4-FFF2-40B4-BE49-F238E27FC236}">
                <a16:creationId xmlns:a16="http://schemas.microsoft.com/office/drawing/2014/main" id="{4A46D72D-A9B0-4A0C-91B6-01EF9FD9437A}"/>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salário mínimo e reajustes, incorporar cláusula de transição faseada com incentivo à conformidade voluntária e repartição de encargos entre empregadores, poder público e fundos solidários, mitigando os custos apontados pelo liberal.</a:t>
            </a:r>
          </a:p>
        </p:txBody>
      </p:sp>
      <p:sp>
        <p:nvSpPr>
          <p:cNvPr id="31" name="j-pend-box-1">
            <a:extLst xmlns:a="http://schemas.openxmlformats.org/drawingml/2006/main">
              <a:ext uri="{FF2B5EF4-FFF2-40B4-BE49-F238E27FC236}">
                <a16:creationId xmlns:a16="http://schemas.microsoft.com/office/drawing/2014/main" id="{14F4E55D-DF59-41E7-A0F2-8A9F50F5FA75}"/>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1">
            <a:extLst xmlns:a="http://schemas.openxmlformats.org/drawingml/2006/main">
              <a:ext uri="{FF2B5EF4-FFF2-40B4-BE49-F238E27FC236}">
                <a16:creationId xmlns:a16="http://schemas.microsoft.com/office/drawing/2014/main" id="{048565A4-3B0A-4E64-B316-0A0645473696}"/>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1">
            <a:extLst xmlns:a="http://schemas.openxmlformats.org/drawingml/2006/main">
              <a:ext uri="{FF2B5EF4-FFF2-40B4-BE49-F238E27FC236}">
                <a16:creationId xmlns:a16="http://schemas.microsoft.com/office/drawing/2014/main" id="{139C4A15-AA8C-40B5-8A88-79FEA3B955AE}"/>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salário mínimo e reajustes.</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01 fixou a necessidade de transição gradual e mitigação de custos em salário mínimo e reajustes.</a:t>
            </a:r>
          </a:p>
        </p:txBody>
      </p:sp>
      <p:sp>
        <p:nvSpPr>
          <p:cNvPr id="34" name="j-spec-box-1">
            <a:extLst xmlns:a="http://schemas.openxmlformats.org/drawingml/2006/main">
              <a:ext uri="{FF2B5EF4-FFF2-40B4-BE49-F238E27FC236}">
                <a16:creationId xmlns:a16="http://schemas.microsoft.com/office/drawing/2014/main" id="{D312C99C-88D3-40D5-9537-75F4485B9159}"/>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1">
            <a:extLst xmlns:a="http://schemas.openxmlformats.org/drawingml/2006/main">
              <a:ext uri="{FF2B5EF4-FFF2-40B4-BE49-F238E27FC236}">
                <a16:creationId xmlns:a16="http://schemas.microsoft.com/office/drawing/2014/main" id="{B6FCD845-8DC3-474B-AA5C-3F5B8E7D207F}"/>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1">
            <a:extLst xmlns:a="http://schemas.openxmlformats.org/drawingml/2006/main">
              <a:ext uri="{FF2B5EF4-FFF2-40B4-BE49-F238E27FC236}">
                <a16:creationId xmlns:a16="http://schemas.microsoft.com/office/drawing/2014/main" id="{D54239D0-4527-4704-B6B8-44F4D30979D1}"/>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02.</a:t>
            </a:r>
          </a:p>
        </p:txBody>
      </p:sp>
    </p:spTree>
    <p:extLst>
      <p:ext uri="{BB962C8B-B14F-4D97-AF65-F5344CB8AC3E}">
        <p14:creationId xmlns:p14="http://schemas.microsoft.com/office/powerpoint/2010/main" val="5665824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DE1164DA-0945-464B-9DE2-42269A8A5ABD}"/>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8BB4B7DB-C1D3-46AB-811C-49541199B7B0}"/>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BA9C4572-955B-4978-B266-EC0267AFA692}"/>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02 · JORNADA DE TRABALHO E HORAS EXTRAS</a:t>
            </a:r>
          </a:p>
        </p:txBody>
      </p:sp>
      <p:sp>
        <p:nvSpPr>
          <p:cNvPr id="4" name="header-sub">
            <a:extLst xmlns:a="http://schemas.openxmlformats.org/drawingml/2006/main">
              <a:ext uri="{FF2B5EF4-FFF2-40B4-BE49-F238E27FC236}">
                <a16:creationId xmlns:a16="http://schemas.microsoft.com/office/drawing/2014/main" id="{25FB0014-CACD-4216-B29E-5C403CEB78E2}"/>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limitar o excesso de horas e proteger a saúde do trabalhador preservando a flexibilidade operacional?</a:t>
            </a:r>
          </a:p>
        </p:txBody>
      </p:sp>
      <p:sp>
        <p:nvSpPr>
          <p:cNvPr id="5" name="footer-rule">
            <a:extLst xmlns:a="http://schemas.openxmlformats.org/drawingml/2006/main">
              <a:ext uri="{FF2B5EF4-FFF2-40B4-BE49-F238E27FC236}">
                <a16:creationId xmlns:a16="http://schemas.microsoft.com/office/drawing/2014/main" id="{53D8860A-FF08-4E33-B536-BD953957DC36}"/>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F29F1DD8-FB91-4C8B-BA0B-201C126C11A4}"/>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FD8F7A0A-E228-48E2-9737-3EB4BA9EC1B2}"/>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06</a:t>
            </a:r>
          </a:p>
        </p:txBody>
      </p:sp>
      <p:sp>
        <p:nvSpPr>
          <p:cNvPr id="8" name="left-hdr-2">
            <a:extLst xmlns:a="http://schemas.openxmlformats.org/drawingml/2006/main">
              <a:ext uri="{FF2B5EF4-FFF2-40B4-BE49-F238E27FC236}">
                <a16:creationId xmlns:a16="http://schemas.microsoft.com/office/drawing/2014/main" id="{736AF535-01DA-459D-923B-1A388A220B85}"/>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2">
            <a:extLst xmlns:a="http://schemas.openxmlformats.org/drawingml/2006/main">
              <a:ext uri="{FF2B5EF4-FFF2-40B4-BE49-F238E27FC236}">
                <a16:creationId xmlns:a16="http://schemas.microsoft.com/office/drawing/2014/main" id="{5F9914A4-C99B-4974-BEB5-01900A7F77FC}"/>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2">
            <a:extLst xmlns:a="http://schemas.openxmlformats.org/drawingml/2006/main">
              <a:ext uri="{FF2B5EF4-FFF2-40B4-BE49-F238E27FC236}">
                <a16:creationId xmlns:a16="http://schemas.microsoft.com/office/drawing/2014/main" id="{8C925C02-090D-454D-AC66-075DB92D1CCA}"/>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2">
            <a:extLst xmlns:a="http://schemas.openxmlformats.org/drawingml/2006/main">
              <a:ext uri="{FF2B5EF4-FFF2-40B4-BE49-F238E27FC236}">
                <a16:creationId xmlns:a16="http://schemas.microsoft.com/office/drawing/2014/main" id="{778E2526-D79D-4970-82F4-99F951C43863}"/>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01 fixou a necessidade de transição gradual e mitigação de custos em salário mínimo e reajustes.'): A jornada de trabalho padrão deve ser limitada a 40 horas semanais com controle rigoroso de horas extras e descanso semanal remunerado inviolável. A sobrejornada crônica adoece os trabalhadores, aumenta acidentes de trabalho e diminui a produtividade por hora trabalhada. A previsibilidade de escalas é um direito à saúde e à convivência familiar.</a:t>
            </a:r>
          </a:p>
        </p:txBody>
      </p:sp>
      <p:sp>
        <p:nvSpPr>
          <p:cNvPr id="12" name="t1-a2-box-2">
            <a:extLst xmlns:a="http://schemas.openxmlformats.org/drawingml/2006/main">
              <a:ext uri="{FF2B5EF4-FFF2-40B4-BE49-F238E27FC236}">
                <a16:creationId xmlns:a16="http://schemas.microsoft.com/office/drawing/2014/main" id="{065959DD-4828-4659-A115-B9322D2FF2BF}"/>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2">
            <a:extLst xmlns:a="http://schemas.openxmlformats.org/drawingml/2006/main">
              <a:ext uri="{FF2B5EF4-FFF2-40B4-BE49-F238E27FC236}">
                <a16:creationId xmlns:a16="http://schemas.microsoft.com/office/drawing/2014/main" id="{B7427A92-88A7-4063-AC17-B0E7924DE81E}"/>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2">
            <a:extLst xmlns:a="http://schemas.openxmlformats.org/drawingml/2006/main">
              <a:ext uri="{FF2B5EF4-FFF2-40B4-BE49-F238E27FC236}">
                <a16:creationId xmlns:a16="http://schemas.microsoft.com/office/drawing/2014/main" id="{27C44C58-B80E-49F7-A134-7557B39405E7}"/>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sobrejornada crônica pode levar a acidentes de trabalho e reduzir produtividade por hora trabalhada.</a:t>
            </a:r>
          </a:p>
          <a:p xmlns:a="http://schemas.openxmlformats.org/drawingml/2006/main">
            <a:pPr algn="l">
              <a:lnSpc>
                <a:spcPct val="115000"/>
              </a:lnSpc>
              <a:buNone/>
              <a:defRPr sz="900" b="0" i="0">
                <a:solidFill>
                  <a:srgbClr val="0F172A"/>
                </a:solidFill>
              </a:defRPr>
            </a:pPr>
            <a:r>
              <a:rPr sz="900" b="0" i="0">
                <a:solidFill>
                  <a:srgbClr val="0F172A"/>
                </a:solidFill>
              </a:rPr>
              <a:t>Pergunta: Como equilibrar o controle das horas extras com a flexibilidade operacional sem comprometer a saúde dos funcionários?</a:t>
            </a:r>
          </a:p>
        </p:txBody>
      </p:sp>
      <p:sp>
        <p:nvSpPr>
          <p:cNvPr id="15" name="t2-a2-box-2">
            <a:extLst xmlns:a="http://schemas.openxmlformats.org/drawingml/2006/main">
              <a:ext uri="{FF2B5EF4-FFF2-40B4-BE49-F238E27FC236}">
                <a16:creationId xmlns:a16="http://schemas.microsoft.com/office/drawing/2014/main" id="{EF9691CE-C537-47B5-AD58-11F70ACB709D}"/>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2">
            <a:extLst xmlns:a="http://schemas.openxmlformats.org/drawingml/2006/main">
              <a:ext uri="{FF2B5EF4-FFF2-40B4-BE49-F238E27FC236}">
                <a16:creationId xmlns:a16="http://schemas.microsoft.com/office/drawing/2014/main" id="{25CE7763-3B8F-40FF-9370-1EDF676B16B3}"/>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2">
            <a:extLst xmlns:a="http://schemas.openxmlformats.org/drawingml/2006/main">
              <a:ext uri="{FF2B5EF4-FFF2-40B4-BE49-F238E27FC236}">
                <a16:creationId xmlns:a16="http://schemas.microsoft.com/office/drawing/2014/main" id="{AEBCD6F8-20CF-44EE-AC36-748823586B7C}"/>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previsão adequada sobre a demanda dos clientes pode levar as empresas a trabalhar excessivamente em épocas de baixa produtividade, resultando em sobrecarga e custos desnecessários.</a:t>
            </a:r>
          </a:p>
          <a:p xmlns:a="http://schemas.openxmlformats.org/drawingml/2006/main">
            <a:pPr algn="l">
              <a:lnSpc>
                <a:spcPct val="115000"/>
              </a:lnSpc>
              <a:buNone/>
              <a:defRPr sz="900" b="0" i="0">
                <a:solidFill>
                  <a:srgbClr val="0F172A"/>
                </a:solidFill>
              </a:defRPr>
            </a:pPr>
            <a:r>
              <a:rPr sz="900" b="0" i="0">
                <a:solidFill>
                  <a:srgbClr val="0F172A"/>
                </a:solidFill>
              </a:rPr>
              <a:t>Pergunta: Como as empresas podem lidar com picos sazonais sem comprometer o equilíbrio entre produção e previsibilidade das horas extras?</a:t>
            </a:r>
          </a:p>
        </p:txBody>
      </p:sp>
      <p:sp>
        <p:nvSpPr>
          <p:cNvPr id="18" name="t2-a1-box-2">
            <a:extLst xmlns:a="http://schemas.openxmlformats.org/drawingml/2006/main">
              <a:ext uri="{FF2B5EF4-FFF2-40B4-BE49-F238E27FC236}">
                <a16:creationId xmlns:a16="http://schemas.microsoft.com/office/drawing/2014/main" id="{E152C252-6675-48DE-B2F9-0F25DADE6306}"/>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2">
            <a:extLst xmlns:a="http://schemas.openxmlformats.org/drawingml/2006/main">
              <a:ext uri="{FF2B5EF4-FFF2-40B4-BE49-F238E27FC236}">
                <a16:creationId xmlns:a16="http://schemas.microsoft.com/office/drawing/2014/main" id="{22F9DC70-BD56-4475-B0FA-8699D30B87DE}"/>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2">
            <a:extLst xmlns:a="http://schemas.openxmlformats.org/drawingml/2006/main">
              <a:ext uri="{FF2B5EF4-FFF2-40B4-BE49-F238E27FC236}">
                <a16:creationId xmlns:a16="http://schemas.microsoft.com/office/drawing/2014/main" id="{9B726F02-1BB2-489C-BB48-B70D64DBB6E0}"/>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sobrejornada crônica pode levar a acidentes de trabalho e reduzir produtividade por hora trabalhada.</a:t>
            </a:r>
          </a:p>
          <a:p xmlns:a="http://schemas.openxmlformats.org/drawingml/2006/main">
            <a:pPr algn="l">
              <a:lnSpc>
                <a:spcPct val="115000"/>
              </a:lnSpc>
              <a:buNone/>
              <a:defRPr sz="900" b="0" i="0">
                <a:solidFill>
                  <a:srgbClr val="0F172A"/>
                </a:solidFill>
              </a:defRPr>
            </a:pPr>
            <a:r>
              <a:rPr sz="900" b="0" i="0">
                <a:solidFill>
                  <a:srgbClr val="0F172A"/>
                </a:solidFill>
              </a:rPr>
              <a:t>Pergunta: ...'), propomos que a implementação não seja abrupta nem cega à capacidade financeira dos negócios, adotando crédito presumido de transição e escalonamento setorial. Em relação ao segundo ponto levantado sobre previsibilidade de escalas e custo de horas extras em picos sazonais ('Risco: A falta de previsão adequada sobre a demanda dos clientes pode levar as empresas a trabalhar excessivamente em ép...'),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2">
            <a:extLst xmlns:a="http://schemas.openxmlformats.org/drawingml/2006/main">
              <a:ext uri="{FF2B5EF4-FFF2-40B4-BE49-F238E27FC236}">
                <a16:creationId xmlns:a16="http://schemas.microsoft.com/office/drawing/2014/main" id="{9B19EF9E-C267-4E2C-960E-BB10D7483E5D}"/>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2">
            <a:extLst xmlns:a="http://schemas.openxmlformats.org/drawingml/2006/main">
              <a:ext uri="{FF2B5EF4-FFF2-40B4-BE49-F238E27FC236}">
                <a16:creationId xmlns:a16="http://schemas.microsoft.com/office/drawing/2014/main" id="{42C30A02-CE01-4058-9BC4-73F877F60410}"/>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2">
            <a:extLst xmlns:a="http://schemas.openxmlformats.org/drawingml/2006/main">
              <a:ext uri="{FF2B5EF4-FFF2-40B4-BE49-F238E27FC236}">
                <a16:creationId xmlns:a16="http://schemas.microsoft.com/office/drawing/2014/main" id="{27BD6111-A621-41A2-9893-2281F926DB92}"/>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2">
            <a:extLst xmlns:a="http://schemas.openxmlformats.org/drawingml/2006/main">
              <a:ext uri="{FF2B5EF4-FFF2-40B4-BE49-F238E27FC236}">
                <a16:creationId xmlns:a16="http://schemas.microsoft.com/office/drawing/2014/main" id="{287A6B01-C693-4E82-B87F-D8E7405C7D5B}"/>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jornada de trabalho e horas extras e os custos/incentivos de mercado apontados pelo liberal.</a:t>
            </a:r>
          </a:p>
        </p:txBody>
      </p:sp>
      <p:sp>
        <p:nvSpPr>
          <p:cNvPr id="25" name="j-verd-box-2">
            <a:extLst xmlns:a="http://schemas.openxmlformats.org/drawingml/2006/main">
              <a:ext uri="{FF2B5EF4-FFF2-40B4-BE49-F238E27FC236}">
                <a16:creationId xmlns:a16="http://schemas.microsoft.com/office/drawing/2014/main" id="{90829254-F860-49F6-B4BA-8AE34A34679A}"/>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2">
            <a:extLst xmlns:a="http://schemas.openxmlformats.org/drawingml/2006/main">
              <a:ext uri="{FF2B5EF4-FFF2-40B4-BE49-F238E27FC236}">
                <a16:creationId xmlns:a16="http://schemas.microsoft.com/office/drawing/2014/main" id="{7B2B918C-2892-4E60-ABBD-AF677BE92567}"/>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2">
            <a:extLst xmlns:a="http://schemas.openxmlformats.org/drawingml/2006/main">
              <a:ext uri="{FF2B5EF4-FFF2-40B4-BE49-F238E27FC236}">
                <a16:creationId xmlns:a16="http://schemas.microsoft.com/office/drawing/2014/main" id="{33BF4BBE-CB90-4614-A6F2-464FC558E059}"/>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jornada de trabalho e horas extras,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2">
            <a:extLst xmlns:a="http://schemas.openxmlformats.org/drawingml/2006/main">
              <a:ext uri="{FF2B5EF4-FFF2-40B4-BE49-F238E27FC236}">
                <a16:creationId xmlns:a16="http://schemas.microsoft.com/office/drawing/2014/main" id="{E311BF03-1D90-44EC-84E9-3EFAEBB1808E}"/>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2">
            <a:extLst xmlns:a="http://schemas.openxmlformats.org/drawingml/2006/main">
              <a:ext uri="{FF2B5EF4-FFF2-40B4-BE49-F238E27FC236}">
                <a16:creationId xmlns:a16="http://schemas.microsoft.com/office/drawing/2014/main" id="{463F2F0A-BFC6-46BB-B044-995635FC950A}"/>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2">
            <a:extLst xmlns:a="http://schemas.openxmlformats.org/drawingml/2006/main">
              <a:ext uri="{FF2B5EF4-FFF2-40B4-BE49-F238E27FC236}">
                <a16:creationId xmlns:a16="http://schemas.microsoft.com/office/drawing/2014/main" id="{DE1CBA6E-0D1C-40A0-B9D2-35F26B0925C2}"/>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jornada de trabalho e horas extras, incorporar cláusula de transição faseada com incentivo à conformidade voluntária e repartição de encargos entre empregadores, poder público e fundos solidários, mitigando os custos apontados pelo liberal.</a:t>
            </a:r>
          </a:p>
        </p:txBody>
      </p:sp>
      <p:sp>
        <p:nvSpPr>
          <p:cNvPr id="31" name="j-pend-box-2">
            <a:extLst xmlns:a="http://schemas.openxmlformats.org/drawingml/2006/main">
              <a:ext uri="{FF2B5EF4-FFF2-40B4-BE49-F238E27FC236}">
                <a16:creationId xmlns:a16="http://schemas.microsoft.com/office/drawing/2014/main" id="{3983E66E-F178-4ACD-B5E2-01C1DB18061C}"/>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2">
            <a:extLst xmlns:a="http://schemas.openxmlformats.org/drawingml/2006/main">
              <a:ext uri="{FF2B5EF4-FFF2-40B4-BE49-F238E27FC236}">
                <a16:creationId xmlns:a16="http://schemas.microsoft.com/office/drawing/2014/main" id="{CE6CE46F-774E-46A1-A8A8-EB18BFD2CAFC}"/>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2">
            <a:extLst xmlns:a="http://schemas.openxmlformats.org/drawingml/2006/main">
              <a:ext uri="{FF2B5EF4-FFF2-40B4-BE49-F238E27FC236}">
                <a16:creationId xmlns:a16="http://schemas.microsoft.com/office/drawing/2014/main" id="{B1450BB8-FBED-41E8-A7EA-46F2B4373A77}"/>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jornada de trabalho e horas extras.</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02 fixou a necessidade de transição gradual e mitigação de custos em jornada de trabalho e horas extras.</a:t>
            </a:r>
          </a:p>
        </p:txBody>
      </p:sp>
      <p:sp>
        <p:nvSpPr>
          <p:cNvPr id="34" name="j-spec-box-2">
            <a:extLst xmlns:a="http://schemas.openxmlformats.org/drawingml/2006/main">
              <a:ext uri="{FF2B5EF4-FFF2-40B4-BE49-F238E27FC236}">
                <a16:creationId xmlns:a16="http://schemas.microsoft.com/office/drawing/2014/main" id="{62CECA93-F647-4988-8563-44462A0EDF66}"/>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2">
            <a:extLst xmlns:a="http://schemas.openxmlformats.org/drawingml/2006/main">
              <a:ext uri="{FF2B5EF4-FFF2-40B4-BE49-F238E27FC236}">
                <a16:creationId xmlns:a16="http://schemas.microsoft.com/office/drawing/2014/main" id="{CADB6290-725D-4E39-829A-54CC119FC524}"/>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2">
            <a:extLst xmlns:a="http://schemas.openxmlformats.org/drawingml/2006/main">
              <a:ext uri="{FF2B5EF4-FFF2-40B4-BE49-F238E27FC236}">
                <a16:creationId xmlns:a16="http://schemas.microsoft.com/office/drawing/2014/main" id="{5046AA35-2F68-4554-93EE-DABBEF0DBCA4}"/>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03.</a:t>
            </a:r>
          </a:p>
        </p:txBody>
      </p:sp>
    </p:spTree>
    <p:extLst>
      <p:ext uri="{BB962C8B-B14F-4D97-AF65-F5344CB8AC3E}">
        <p14:creationId xmlns:p14="http://schemas.microsoft.com/office/powerpoint/2010/main" val="6228153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8522BC1A-03E5-4E62-A29A-6606F2DC4742}"/>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54609768-CB4A-4254-AE67-93D70B0C922C}"/>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D06D1409-E63A-4466-A29B-B1F78974D6D2}"/>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03 · DEMISSÃO E SEGURO-DESEMPREGO</a:t>
            </a:r>
          </a:p>
        </p:txBody>
      </p:sp>
      <p:sp>
        <p:nvSpPr>
          <p:cNvPr id="4" name="header-sub">
            <a:extLst xmlns:a="http://schemas.openxmlformats.org/drawingml/2006/main">
              <a:ext uri="{FF2B5EF4-FFF2-40B4-BE49-F238E27FC236}">
                <a16:creationId xmlns:a16="http://schemas.microsoft.com/office/drawing/2014/main" id="{2F9AD8AA-D458-40D4-9029-4E23C4F3983B}"/>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garantir transição de renda digna sem criar desincentivos à busca rápida por recolocação?</a:t>
            </a:r>
          </a:p>
        </p:txBody>
      </p:sp>
      <p:sp>
        <p:nvSpPr>
          <p:cNvPr id="5" name="footer-rule">
            <a:extLst xmlns:a="http://schemas.openxmlformats.org/drawingml/2006/main">
              <a:ext uri="{FF2B5EF4-FFF2-40B4-BE49-F238E27FC236}">
                <a16:creationId xmlns:a16="http://schemas.microsoft.com/office/drawing/2014/main" id="{6F3ED016-3424-48CF-ACC5-BE7D05075F27}"/>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F33EEADC-D232-427C-927C-405BD5E95C60}"/>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FA47DAEC-41FA-4AF5-B58C-F225E55384DA}"/>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07</a:t>
            </a:r>
          </a:p>
        </p:txBody>
      </p:sp>
      <p:sp>
        <p:nvSpPr>
          <p:cNvPr id="8" name="left-hdr-3">
            <a:extLst xmlns:a="http://schemas.openxmlformats.org/drawingml/2006/main">
              <a:ext uri="{FF2B5EF4-FFF2-40B4-BE49-F238E27FC236}">
                <a16:creationId xmlns:a16="http://schemas.microsoft.com/office/drawing/2014/main" id="{32EF195A-E7A3-48F6-8D8C-108764A42434}"/>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3">
            <a:extLst xmlns:a="http://schemas.openxmlformats.org/drawingml/2006/main">
              <a:ext uri="{FF2B5EF4-FFF2-40B4-BE49-F238E27FC236}">
                <a16:creationId xmlns:a16="http://schemas.microsoft.com/office/drawing/2014/main" id="{DE3DDCED-F9F4-4DC6-91ED-A281AB8AB9BE}"/>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3">
            <a:extLst xmlns:a="http://schemas.openxmlformats.org/drawingml/2006/main">
              <a:ext uri="{FF2B5EF4-FFF2-40B4-BE49-F238E27FC236}">
                <a16:creationId xmlns:a16="http://schemas.microsoft.com/office/drawing/2014/main" id="{C568D747-896A-46A9-A67C-0CE4B24BA872}"/>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3">
            <a:extLst xmlns:a="http://schemas.openxmlformats.org/drawingml/2006/main">
              <a:ext uri="{FF2B5EF4-FFF2-40B4-BE49-F238E27FC236}">
                <a16:creationId xmlns:a16="http://schemas.microsoft.com/office/drawing/2014/main" id="{3C187F71-62FD-40AE-BB98-102B470F8133}"/>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02 fixou a necessidade de transição gradual e mitigação de custos em jornada de trabalho e horas extras.'): A demissão sem justa causa exige proteção compensatória robusta, aviso prévio proporcional e seguro-desemprego digno durante a transição. Em economias com alta assimetria de poder, a demissão arbitrária precariza o trabalhador. A proteção à dispensa estabiliza a renda familiar e permite que o profissional busque vagas aderentes à sua qualificação.</a:t>
            </a:r>
          </a:p>
        </p:txBody>
      </p:sp>
      <p:sp>
        <p:nvSpPr>
          <p:cNvPr id="12" name="t1-a2-box-3">
            <a:extLst xmlns:a="http://schemas.openxmlformats.org/drawingml/2006/main">
              <a:ext uri="{FF2B5EF4-FFF2-40B4-BE49-F238E27FC236}">
                <a16:creationId xmlns:a16="http://schemas.microsoft.com/office/drawing/2014/main" id="{97C04EF0-EE2C-4EA8-B7E6-EA293CD666AD}"/>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3">
            <a:extLst xmlns:a="http://schemas.openxmlformats.org/drawingml/2006/main">
              <a:ext uri="{FF2B5EF4-FFF2-40B4-BE49-F238E27FC236}">
                <a16:creationId xmlns:a16="http://schemas.microsoft.com/office/drawing/2014/main" id="{85D78E7B-BFB4-4379-AC9B-A94A2544634D}"/>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3">
            <a:extLst xmlns:a="http://schemas.openxmlformats.org/drawingml/2006/main">
              <a:ext uri="{FF2B5EF4-FFF2-40B4-BE49-F238E27FC236}">
                <a16:creationId xmlns:a16="http://schemas.microsoft.com/office/drawing/2014/main" id="{B30AB34D-DA4D-47A2-9879-F924182EB72D}"/>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demissão arbitrária pode levar a uma transição de renda desequilibrada e um aumento do risco financeiro para os trabalhadores, potencialmente levando à pobreza.</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que as mudanças na jornada de trabalho sejam sustentáveis sem prejudicar o mercado de trabalho?</a:t>
            </a:r>
          </a:p>
        </p:txBody>
      </p:sp>
      <p:sp>
        <p:nvSpPr>
          <p:cNvPr id="15" name="t2-a2-box-3">
            <a:extLst xmlns:a="http://schemas.openxmlformats.org/drawingml/2006/main">
              <a:ext uri="{FF2B5EF4-FFF2-40B4-BE49-F238E27FC236}">
                <a16:creationId xmlns:a16="http://schemas.microsoft.com/office/drawing/2014/main" id="{291947CC-2A2D-45E0-8E39-716FDB72A3B9}"/>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3">
            <a:extLst xmlns:a="http://schemas.openxmlformats.org/drawingml/2006/main">
              <a:ext uri="{FF2B5EF4-FFF2-40B4-BE49-F238E27FC236}">
                <a16:creationId xmlns:a16="http://schemas.microsoft.com/office/drawing/2014/main" id="{133369F9-8AC5-4F49-8E83-78D95FF1C131}"/>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3">
            <a:extLst xmlns:a="http://schemas.openxmlformats.org/drawingml/2006/main">
              <a:ext uri="{FF2B5EF4-FFF2-40B4-BE49-F238E27FC236}">
                <a16:creationId xmlns:a16="http://schemas.microsoft.com/office/drawing/2014/main" id="{864DFCB4-1917-4205-B515-289BC87A354E}"/>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duração escalonada do benefício de desemprego pode incentivar as empresas a manter trabalhadores em condições menos favoráveis, potencialmente criando um ciclo vicioso que dificulta a recuperação econômica.</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uma transição rápida e sustentável para os profissionais do mercado de trabalho após uma demissão?</a:t>
            </a:r>
          </a:p>
        </p:txBody>
      </p:sp>
      <p:sp>
        <p:nvSpPr>
          <p:cNvPr id="18" name="t2-a1-box-3">
            <a:extLst xmlns:a="http://schemas.openxmlformats.org/drawingml/2006/main">
              <a:ext uri="{FF2B5EF4-FFF2-40B4-BE49-F238E27FC236}">
                <a16:creationId xmlns:a16="http://schemas.microsoft.com/office/drawing/2014/main" id="{AEE568A6-1849-4C1D-8C95-3FA1EED752FB}"/>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3">
            <a:extLst xmlns:a="http://schemas.openxmlformats.org/drawingml/2006/main">
              <a:ext uri="{FF2B5EF4-FFF2-40B4-BE49-F238E27FC236}">
                <a16:creationId xmlns:a16="http://schemas.microsoft.com/office/drawing/2014/main" id="{71A7F25E-4D01-456F-AEFA-83491ADC16C8}"/>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3">
            <a:extLst xmlns:a="http://schemas.openxmlformats.org/drawingml/2006/main">
              <a:ext uri="{FF2B5EF4-FFF2-40B4-BE49-F238E27FC236}">
                <a16:creationId xmlns:a16="http://schemas.microsoft.com/office/drawing/2014/main" id="{8C7962E5-4B81-497D-B446-9A672CBC8F9A}"/>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demissão arbitrária pode levar a uma transição de renda desequilibrada e um aumento do risco financeiro para os...'), propomos que a implementação não seja abrupta nem cega à capacidade financeira dos negócios, adotando crédito presumido de transição e escalonamento setorial. Em relação ao segundo ponto levantado sobre duração escalonada do benefício e programas de recolocação profissional ('Risco: A duração escalonada do benefício de desemprego pode incentivar as empresas a manter trabalhadores em condições m...'),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3">
            <a:extLst xmlns:a="http://schemas.openxmlformats.org/drawingml/2006/main">
              <a:ext uri="{FF2B5EF4-FFF2-40B4-BE49-F238E27FC236}">
                <a16:creationId xmlns:a16="http://schemas.microsoft.com/office/drawing/2014/main" id="{694E4F2F-E68A-45F4-8529-ABE135FB8F18}"/>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3">
            <a:extLst xmlns:a="http://schemas.openxmlformats.org/drawingml/2006/main">
              <a:ext uri="{FF2B5EF4-FFF2-40B4-BE49-F238E27FC236}">
                <a16:creationId xmlns:a16="http://schemas.microsoft.com/office/drawing/2014/main" id="{35219BA5-A940-4A4A-86A0-5437C353B686}"/>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3">
            <a:extLst xmlns:a="http://schemas.openxmlformats.org/drawingml/2006/main">
              <a:ext uri="{FF2B5EF4-FFF2-40B4-BE49-F238E27FC236}">
                <a16:creationId xmlns:a16="http://schemas.microsoft.com/office/drawing/2014/main" id="{F79962EC-295D-425D-9859-ED929572F741}"/>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3">
            <a:extLst xmlns:a="http://schemas.openxmlformats.org/drawingml/2006/main">
              <a:ext uri="{FF2B5EF4-FFF2-40B4-BE49-F238E27FC236}">
                <a16:creationId xmlns:a16="http://schemas.microsoft.com/office/drawing/2014/main" id="{781D9745-40AB-4FBC-AA65-FA4612D2104E}"/>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demissão e seguro-desemprego e os custos/incentivos de mercado apontados pelo liberal.</a:t>
            </a:r>
          </a:p>
        </p:txBody>
      </p:sp>
      <p:sp>
        <p:nvSpPr>
          <p:cNvPr id="25" name="j-verd-box-3">
            <a:extLst xmlns:a="http://schemas.openxmlformats.org/drawingml/2006/main">
              <a:ext uri="{FF2B5EF4-FFF2-40B4-BE49-F238E27FC236}">
                <a16:creationId xmlns:a16="http://schemas.microsoft.com/office/drawing/2014/main" id="{C81D4627-8A1C-4CDF-937B-3E5345A5E2E4}"/>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3">
            <a:extLst xmlns:a="http://schemas.openxmlformats.org/drawingml/2006/main">
              <a:ext uri="{FF2B5EF4-FFF2-40B4-BE49-F238E27FC236}">
                <a16:creationId xmlns:a16="http://schemas.microsoft.com/office/drawing/2014/main" id="{95D5E802-CA05-495F-93CC-DE92C81DFD88}"/>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3">
            <a:extLst xmlns:a="http://schemas.openxmlformats.org/drawingml/2006/main">
              <a:ext uri="{FF2B5EF4-FFF2-40B4-BE49-F238E27FC236}">
                <a16:creationId xmlns:a16="http://schemas.microsoft.com/office/drawing/2014/main" id="{EB1E9EEC-CC34-43B6-92FF-88EEBB6E9103}"/>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demissão e seguro-desemprego,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3">
            <a:extLst xmlns:a="http://schemas.openxmlformats.org/drawingml/2006/main">
              <a:ext uri="{FF2B5EF4-FFF2-40B4-BE49-F238E27FC236}">
                <a16:creationId xmlns:a16="http://schemas.microsoft.com/office/drawing/2014/main" id="{B6C31942-874B-4F25-92BC-41B094EE6E54}"/>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3">
            <a:extLst xmlns:a="http://schemas.openxmlformats.org/drawingml/2006/main">
              <a:ext uri="{FF2B5EF4-FFF2-40B4-BE49-F238E27FC236}">
                <a16:creationId xmlns:a16="http://schemas.microsoft.com/office/drawing/2014/main" id="{2A7D94DC-FCB5-4B04-8D02-E9CB308D9099}"/>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3">
            <a:extLst xmlns:a="http://schemas.openxmlformats.org/drawingml/2006/main">
              <a:ext uri="{FF2B5EF4-FFF2-40B4-BE49-F238E27FC236}">
                <a16:creationId xmlns:a16="http://schemas.microsoft.com/office/drawing/2014/main" id="{68B90505-441E-47B6-A305-3A3964220D4C}"/>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demissão e seguro-desemprego, incorporar cláusula de transição faseada com incentivo à conformidade voluntária e repartição de encargos entre empregadores, poder público e fundos solidários, mitigando os custos apontados pelo liberal.</a:t>
            </a:r>
          </a:p>
        </p:txBody>
      </p:sp>
      <p:sp>
        <p:nvSpPr>
          <p:cNvPr id="31" name="j-pend-box-3">
            <a:extLst xmlns:a="http://schemas.openxmlformats.org/drawingml/2006/main">
              <a:ext uri="{FF2B5EF4-FFF2-40B4-BE49-F238E27FC236}">
                <a16:creationId xmlns:a16="http://schemas.microsoft.com/office/drawing/2014/main" id="{D7D883E4-B808-4F05-A6B1-C65050D2D5D9}"/>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3">
            <a:extLst xmlns:a="http://schemas.openxmlformats.org/drawingml/2006/main">
              <a:ext uri="{FF2B5EF4-FFF2-40B4-BE49-F238E27FC236}">
                <a16:creationId xmlns:a16="http://schemas.microsoft.com/office/drawing/2014/main" id="{A93E5030-6F50-4535-B97E-C1A8A9626760}"/>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3">
            <a:extLst xmlns:a="http://schemas.openxmlformats.org/drawingml/2006/main">
              <a:ext uri="{FF2B5EF4-FFF2-40B4-BE49-F238E27FC236}">
                <a16:creationId xmlns:a16="http://schemas.microsoft.com/office/drawing/2014/main" id="{A82697AD-EF45-42C4-815A-7131CC611A9C}"/>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demissão e seguro-desemprego.</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03 fixou a necessidade de transição gradual e mitigação de custos em demissão e seguro-desemprego.</a:t>
            </a:r>
          </a:p>
        </p:txBody>
      </p:sp>
      <p:sp>
        <p:nvSpPr>
          <p:cNvPr id="34" name="j-spec-box-3">
            <a:extLst xmlns:a="http://schemas.openxmlformats.org/drawingml/2006/main">
              <a:ext uri="{FF2B5EF4-FFF2-40B4-BE49-F238E27FC236}">
                <a16:creationId xmlns:a16="http://schemas.microsoft.com/office/drawing/2014/main" id="{E4786421-9795-4615-A96F-7004975CBBFD}"/>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3">
            <a:extLst xmlns:a="http://schemas.openxmlformats.org/drawingml/2006/main">
              <a:ext uri="{FF2B5EF4-FFF2-40B4-BE49-F238E27FC236}">
                <a16:creationId xmlns:a16="http://schemas.microsoft.com/office/drawing/2014/main" id="{4667431E-138B-42E3-A42E-1C2CDAA10E37}"/>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3">
            <a:extLst xmlns:a="http://schemas.openxmlformats.org/drawingml/2006/main">
              <a:ext uri="{FF2B5EF4-FFF2-40B4-BE49-F238E27FC236}">
                <a16:creationId xmlns:a16="http://schemas.microsoft.com/office/drawing/2014/main" id="{A903F86E-6AEF-4BF0-BC81-9BB844409C7F}"/>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3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04.</a:t>
            </a:r>
          </a:p>
        </p:txBody>
      </p:sp>
    </p:spTree>
    <p:extLst>
      <p:ext uri="{BB962C8B-B14F-4D97-AF65-F5344CB8AC3E}">
        <p14:creationId xmlns:p14="http://schemas.microsoft.com/office/powerpoint/2010/main" val="11079978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59855B5E-D8F0-48A4-BCE2-6684227B7387}"/>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06615ED9-97BB-494C-A122-B70CE85F18BE}"/>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FCDBA9B2-5314-47E9-9A48-00EC70EE2092}"/>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04 · TERCEIRIZAÇÃO E CADEIA DE RESPONSABILIDADE</a:t>
            </a:r>
          </a:p>
        </p:txBody>
      </p:sp>
      <p:sp>
        <p:nvSpPr>
          <p:cNvPr id="4" name="header-sub">
            <a:extLst xmlns:a="http://schemas.openxmlformats.org/drawingml/2006/main">
              <a:ext uri="{FF2B5EF4-FFF2-40B4-BE49-F238E27FC236}">
                <a16:creationId xmlns:a16="http://schemas.microsoft.com/office/drawing/2014/main" id="{4665DBCE-E71C-4441-A91B-34C5D9170CD2}"/>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Quem responde pelos direitos trabalhistas na cadeia produtiva sem engessar a divisão eficiente de trabalho?</a:t>
            </a:r>
          </a:p>
        </p:txBody>
      </p:sp>
      <p:sp>
        <p:nvSpPr>
          <p:cNvPr id="5" name="footer-rule">
            <a:extLst xmlns:a="http://schemas.openxmlformats.org/drawingml/2006/main">
              <a:ext uri="{FF2B5EF4-FFF2-40B4-BE49-F238E27FC236}">
                <a16:creationId xmlns:a16="http://schemas.microsoft.com/office/drawing/2014/main" id="{5C221580-E696-48D8-B436-57BB6947F734}"/>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9EC1AD7C-3F25-40A0-B631-655D0C74722E}"/>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C2FFF707-275F-4FDD-8BF2-DCC9EF37C074}"/>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08</a:t>
            </a:r>
          </a:p>
        </p:txBody>
      </p:sp>
      <p:sp>
        <p:nvSpPr>
          <p:cNvPr id="8" name="left-hdr-4">
            <a:extLst xmlns:a="http://schemas.openxmlformats.org/drawingml/2006/main">
              <a:ext uri="{FF2B5EF4-FFF2-40B4-BE49-F238E27FC236}">
                <a16:creationId xmlns:a16="http://schemas.microsoft.com/office/drawing/2014/main" id="{38B5BE0D-147E-42D8-8E08-B62D3641A41B}"/>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4">
            <a:extLst xmlns:a="http://schemas.openxmlformats.org/drawingml/2006/main">
              <a:ext uri="{FF2B5EF4-FFF2-40B4-BE49-F238E27FC236}">
                <a16:creationId xmlns:a16="http://schemas.microsoft.com/office/drawing/2014/main" id="{48CC7200-6F71-4001-BCC2-49F4517C3F30}"/>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4">
            <a:extLst xmlns:a="http://schemas.openxmlformats.org/drawingml/2006/main">
              <a:ext uri="{FF2B5EF4-FFF2-40B4-BE49-F238E27FC236}">
                <a16:creationId xmlns:a16="http://schemas.microsoft.com/office/drawing/2014/main" id="{CE5D320B-A39F-483D-ADE4-D8A21275BEAE}"/>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4">
            <a:extLst xmlns:a="http://schemas.openxmlformats.org/drawingml/2006/main">
              <a:ext uri="{FF2B5EF4-FFF2-40B4-BE49-F238E27FC236}">
                <a16:creationId xmlns:a16="http://schemas.microsoft.com/office/drawing/2014/main" id="{2C86D964-A80E-49D0-8086-3A2C795C828F}"/>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03 fixou a necessidade de transição gradual e mitigação de custos em demissão e seguro-desemprego.'): A terceirização não pode ser um mecanismo de transferência precarizante de riscos e redução artificial de salários. Defendemos responsabilidade solidária ou subsidiária estrita da empresa contratante por todos os haveres trabalhistas e previdenciários, além de isonomia salarial e de condições de trabalho para funções idênticas no mesmo estabelecimento.</a:t>
            </a:r>
          </a:p>
        </p:txBody>
      </p:sp>
      <p:sp>
        <p:nvSpPr>
          <p:cNvPr id="12" name="t1-a2-box-4">
            <a:extLst xmlns:a="http://schemas.openxmlformats.org/drawingml/2006/main">
              <a:ext uri="{FF2B5EF4-FFF2-40B4-BE49-F238E27FC236}">
                <a16:creationId xmlns:a16="http://schemas.microsoft.com/office/drawing/2014/main" id="{9BB12B1C-638A-419D-A3A7-0A406E070370}"/>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4">
            <a:extLst xmlns:a="http://schemas.openxmlformats.org/drawingml/2006/main">
              <a:ext uri="{FF2B5EF4-FFF2-40B4-BE49-F238E27FC236}">
                <a16:creationId xmlns:a16="http://schemas.microsoft.com/office/drawing/2014/main" id="{3614F630-1460-4B5B-8050-EFC9379CE521}"/>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4">
            <a:extLst xmlns:a="http://schemas.openxmlformats.org/drawingml/2006/main">
              <a:ext uri="{FF2B5EF4-FFF2-40B4-BE49-F238E27FC236}">
                <a16:creationId xmlns:a16="http://schemas.microsoft.com/office/drawing/2014/main" id="{B85E9E95-DF8B-4517-AC40-64272A1A7B72}"/>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terceirização pode levar a um aumento dos riscos trabalhistas e previdenciários sem impactar efetivamente na responsabilidade da empresa contratante.</a:t>
            </a:r>
          </a:p>
          <a:p xmlns:a="http://schemas.openxmlformats.org/drawingml/2006/main">
            <a:pPr algn="l">
              <a:lnSpc>
                <a:spcPct val="115000"/>
              </a:lnSpc>
              <a:buNone/>
              <a:defRPr sz="900" b="0" i="0">
                <a:solidFill>
                  <a:srgbClr val="0F172A"/>
                </a:solidFill>
              </a:defRPr>
            </a:pPr>
            <a:r>
              <a:rPr sz="900" b="0" i="0">
                <a:solidFill>
                  <a:srgbClr val="0F172A"/>
                </a:solidFill>
              </a:rPr>
              <a:t>Pergunta: Como podemos garantir que as empresas sejam responsáveis por todos os haveres do trabalhador, mesmo em situações de terceirização?</a:t>
            </a:r>
          </a:p>
        </p:txBody>
      </p:sp>
      <p:sp>
        <p:nvSpPr>
          <p:cNvPr id="15" name="t2-a2-box-4">
            <a:extLst xmlns:a="http://schemas.openxmlformats.org/drawingml/2006/main">
              <a:ext uri="{FF2B5EF4-FFF2-40B4-BE49-F238E27FC236}">
                <a16:creationId xmlns:a16="http://schemas.microsoft.com/office/drawing/2014/main" id="{6B5516E9-70CF-48C8-A1E2-34030B610F98}"/>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4">
            <a:extLst xmlns:a="http://schemas.openxmlformats.org/drawingml/2006/main">
              <a:ext uri="{FF2B5EF4-FFF2-40B4-BE49-F238E27FC236}">
                <a16:creationId xmlns:a16="http://schemas.microsoft.com/office/drawing/2014/main" id="{3E3317DE-3A9A-4A25-8303-194CB62775B4}"/>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4">
            <a:extLst xmlns:a="http://schemas.openxmlformats.org/drawingml/2006/main">
              <a:ext uri="{FF2B5EF4-FFF2-40B4-BE49-F238E27FC236}">
                <a16:creationId xmlns:a16="http://schemas.microsoft.com/office/drawing/2014/main" id="{1E2FCFFE-03D8-43EA-A23F-9F3FF2EC63E4}"/>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garantia financeira previamente estabelecida pode resultar em insolvência dos prestadores de serviços, comprometendo a capacidade da empresa contratante de assumir as responsabilidades trabalhistas e previdenciárias.</a:t>
            </a:r>
          </a:p>
          <a:p xmlns:a="http://schemas.openxmlformats.org/drawingml/2006/main">
            <a:pPr algn="l">
              <a:lnSpc>
                <a:spcPct val="115000"/>
              </a:lnSpc>
              <a:buNone/>
              <a:defRPr sz="900" b="0" i="0">
                <a:solidFill>
                  <a:srgbClr val="0F172A"/>
                </a:solidFill>
              </a:defRPr>
            </a:pPr>
            <a:r>
              <a:rPr sz="900" b="0" i="0">
                <a:solidFill>
                  <a:srgbClr val="0F172A"/>
                </a:solidFill>
              </a:rPr>
              <a:t>Pergunta: Como podemos mitigar o risco de insolvência dos prestadores de serviços terceirizados para garantir que as empresas sejam responsáveis por todas as obrigações trabalhistas, mesmo em situações de terceirização?</a:t>
            </a:r>
          </a:p>
        </p:txBody>
      </p:sp>
      <p:sp>
        <p:nvSpPr>
          <p:cNvPr id="18" name="t2-a1-box-4">
            <a:extLst xmlns:a="http://schemas.openxmlformats.org/drawingml/2006/main">
              <a:ext uri="{FF2B5EF4-FFF2-40B4-BE49-F238E27FC236}">
                <a16:creationId xmlns:a16="http://schemas.microsoft.com/office/drawing/2014/main" id="{E82AB3A3-0F48-4712-9E30-CC15F735F546}"/>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4">
            <a:extLst xmlns:a="http://schemas.openxmlformats.org/drawingml/2006/main">
              <a:ext uri="{FF2B5EF4-FFF2-40B4-BE49-F238E27FC236}">
                <a16:creationId xmlns:a16="http://schemas.microsoft.com/office/drawing/2014/main" id="{7260CFE8-4FE3-4322-A72D-B644A3DEFC0A}"/>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4">
            <a:extLst xmlns:a="http://schemas.openxmlformats.org/drawingml/2006/main">
              <a:ext uri="{FF2B5EF4-FFF2-40B4-BE49-F238E27FC236}">
                <a16:creationId xmlns:a16="http://schemas.microsoft.com/office/drawing/2014/main" id="{B46A79D4-C2FE-4CF1-8106-0B294CF7ED2A}"/>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terceirização pode levar a um aumento dos riscos trabalhistas e previdenciários sem impactar efetivamente na re...'), propomos que a implementação não seja abrupta nem cega à capacidade financeira dos negócios, adotando crédito presumido de transição e escalonamento setorial. Em relação ao segundo ponto levantado sobre insolvência de prestadoras de serviços e garantias financeiras prévias ('Risco: A falta de garantia financeira previamente estabelecida pode resultar em insolvência dos prestadores de serviços,...'),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4">
            <a:extLst xmlns:a="http://schemas.openxmlformats.org/drawingml/2006/main">
              <a:ext uri="{FF2B5EF4-FFF2-40B4-BE49-F238E27FC236}">
                <a16:creationId xmlns:a16="http://schemas.microsoft.com/office/drawing/2014/main" id="{B4D41282-855A-4C62-AFC5-E4CFA5200CD2}"/>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4">
            <a:extLst xmlns:a="http://schemas.openxmlformats.org/drawingml/2006/main">
              <a:ext uri="{FF2B5EF4-FFF2-40B4-BE49-F238E27FC236}">
                <a16:creationId xmlns:a16="http://schemas.microsoft.com/office/drawing/2014/main" id="{577EF065-5FFB-428C-BEBA-C1BAB9783E98}"/>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4">
            <a:extLst xmlns:a="http://schemas.openxmlformats.org/drawingml/2006/main">
              <a:ext uri="{FF2B5EF4-FFF2-40B4-BE49-F238E27FC236}">
                <a16:creationId xmlns:a16="http://schemas.microsoft.com/office/drawing/2014/main" id="{02206E7A-BC73-4DE4-8570-4E71A2431965}"/>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4">
            <a:extLst xmlns:a="http://schemas.openxmlformats.org/drawingml/2006/main">
              <a:ext uri="{FF2B5EF4-FFF2-40B4-BE49-F238E27FC236}">
                <a16:creationId xmlns:a16="http://schemas.microsoft.com/office/drawing/2014/main" id="{7128BCA8-3C1F-4925-B0AC-144C913079A3}"/>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terceirização e cadeia de responsabilidade e os custos/incentivos de mercado apontados pelo liberal.</a:t>
            </a:r>
          </a:p>
        </p:txBody>
      </p:sp>
      <p:sp>
        <p:nvSpPr>
          <p:cNvPr id="25" name="j-verd-box-4">
            <a:extLst xmlns:a="http://schemas.openxmlformats.org/drawingml/2006/main">
              <a:ext uri="{FF2B5EF4-FFF2-40B4-BE49-F238E27FC236}">
                <a16:creationId xmlns:a16="http://schemas.microsoft.com/office/drawing/2014/main" id="{B282B40A-1716-42E7-A749-4E5A1EBE7BBA}"/>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4">
            <a:extLst xmlns:a="http://schemas.openxmlformats.org/drawingml/2006/main">
              <a:ext uri="{FF2B5EF4-FFF2-40B4-BE49-F238E27FC236}">
                <a16:creationId xmlns:a16="http://schemas.microsoft.com/office/drawing/2014/main" id="{B6A6BE71-1B7C-4694-8E68-B087FE8B0495}"/>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4">
            <a:extLst xmlns:a="http://schemas.openxmlformats.org/drawingml/2006/main">
              <a:ext uri="{FF2B5EF4-FFF2-40B4-BE49-F238E27FC236}">
                <a16:creationId xmlns:a16="http://schemas.microsoft.com/office/drawing/2014/main" id="{C1CDF4CB-8542-4E51-B020-82F8719F1B88}"/>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terceirização e cadeia de responsabilidade,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4">
            <a:extLst xmlns:a="http://schemas.openxmlformats.org/drawingml/2006/main">
              <a:ext uri="{FF2B5EF4-FFF2-40B4-BE49-F238E27FC236}">
                <a16:creationId xmlns:a16="http://schemas.microsoft.com/office/drawing/2014/main" id="{3FB645FA-916D-4679-B744-E6736A98891E}"/>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4">
            <a:extLst xmlns:a="http://schemas.openxmlformats.org/drawingml/2006/main">
              <a:ext uri="{FF2B5EF4-FFF2-40B4-BE49-F238E27FC236}">
                <a16:creationId xmlns:a16="http://schemas.microsoft.com/office/drawing/2014/main" id="{A959A4A9-5928-49D0-B271-49B2A64C19CB}"/>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4">
            <a:extLst xmlns:a="http://schemas.openxmlformats.org/drawingml/2006/main">
              <a:ext uri="{FF2B5EF4-FFF2-40B4-BE49-F238E27FC236}">
                <a16:creationId xmlns:a16="http://schemas.microsoft.com/office/drawing/2014/main" id="{5BB6A738-DDAB-4C07-B132-A87026B1BEED}"/>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terceirização e cadeia de responsabilidade, incorporar cláusula de transição faseada com incentivo à conformidade voluntária e repartição de encargos entre empregadores, poder público e fundos solidários, mitigando os custos apontados pelo liberal.</a:t>
            </a:r>
          </a:p>
        </p:txBody>
      </p:sp>
      <p:sp>
        <p:nvSpPr>
          <p:cNvPr id="31" name="j-pend-box-4">
            <a:extLst xmlns:a="http://schemas.openxmlformats.org/drawingml/2006/main">
              <a:ext uri="{FF2B5EF4-FFF2-40B4-BE49-F238E27FC236}">
                <a16:creationId xmlns:a16="http://schemas.microsoft.com/office/drawing/2014/main" id="{B73C56C7-83B0-4C3C-B83B-DB04987CB013}"/>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4">
            <a:extLst xmlns:a="http://schemas.openxmlformats.org/drawingml/2006/main">
              <a:ext uri="{FF2B5EF4-FFF2-40B4-BE49-F238E27FC236}">
                <a16:creationId xmlns:a16="http://schemas.microsoft.com/office/drawing/2014/main" id="{B7CEC89D-0564-4747-9D04-D4754E11D737}"/>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4">
            <a:extLst xmlns:a="http://schemas.openxmlformats.org/drawingml/2006/main">
              <a:ext uri="{FF2B5EF4-FFF2-40B4-BE49-F238E27FC236}">
                <a16:creationId xmlns:a16="http://schemas.microsoft.com/office/drawing/2014/main" id="{33913356-6146-47D6-BE2D-6543821175BF}"/>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terceirização e cadeia de responsabilidade.</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04 fixou a necessidade de transição gradual e mitigação de custos em terceirização e cadeia de responsabilidade.</a:t>
            </a:r>
          </a:p>
        </p:txBody>
      </p:sp>
      <p:sp>
        <p:nvSpPr>
          <p:cNvPr id="34" name="j-spec-box-4">
            <a:extLst xmlns:a="http://schemas.openxmlformats.org/drawingml/2006/main">
              <a:ext uri="{FF2B5EF4-FFF2-40B4-BE49-F238E27FC236}">
                <a16:creationId xmlns:a16="http://schemas.microsoft.com/office/drawing/2014/main" id="{28BAC763-1427-46A9-9B60-11660DED59FA}"/>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4">
            <a:extLst xmlns:a="http://schemas.openxmlformats.org/drawingml/2006/main">
              <a:ext uri="{FF2B5EF4-FFF2-40B4-BE49-F238E27FC236}">
                <a16:creationId xmlns:a16="http://schemas.microsoft.com/office/drawing/2014/main" id="{80C96401-E488-47CE-86A7-EF2312067060}"/>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4">
            <a:extLst xmlns:a="http://schemas.openxmlformats.org/drawingml/2006/main">
              <a:ext uri="{FF2B5EF4-FFF2-40B4-BE49-F238E27FC236}">
                <a16:creationId xmlns:a16="http://schemas.microsoft.com/office/drawing/2014/main" id="{3E80A003-5634-4473-8459-26432490C2D1}"/>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05.</a:t>
            </a:r>
          </a:p>
        </p:txBody>
      </p:sp>
    </p:spTree>
    <p:extLst>
      <p:ext uri="{BB962C8B-B14F-4D97-AF65-F5344CB8AC3E}">
        <p14:creationId xmlns:p14="http://schemas.microsoft.com/office/powerpoint/2010/main" val="18729646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608B31A4-CE89-4458-AF7B-788775193C61}"/>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3700B55F-AD8D-4F26-A4FB-BB04765F059E}"/>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AD3D499B-D357-49D6-9C0A-FF4F8234F3B7}"/>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05 · FÉRIAS, LICENÇAS PARENTAIS E ECONOMIA DO CUIDADO</a:t>
            </a:r>
          </a:p>
        </p:txBody>
      </p:sp>
      <p:sp>
        <p:nvSpPr>
          <p:cNvPr id="4" name="header-sub">
            <a:extLst xmlns:a="http://schemas.openxmlformats.org/drawingml/2006/main">
              <a:ext uri="{FF2B5EF4-FFF2-40B4-BE49-F238E27FC236}">
                <a16:creationId xmlns:a16="http://schemas.microsoft.com/office/drawing/2014/main" id="{FFA73512-428D-411B-9403-B1CFCF938F98}"/>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distribuir os custos do cuidado familiar sem penalizar a contratação de mulheres e jovens?</a:t>
            </a:r>
          </a:p>
        </p:txBody>
      </p:sp>
      <p:sp>
        <p:nvSpPr>
          <p:cNvPr id="5" name="footer-rule">
            <a:extLst xmlns:a="http://schemas.openxmlformats.org/drawingml/2006/main">
              <a:ext uri="{FF2B5EF4-FFF2-40B4-BE49-F238E27FC236}">
                <a16:creationId xmlns:a16="http://schemas.microsoft.com/office/drawing/2014/main" id="{C557AFAC-2992-4F6E-9E88-31F841FADD2C}"/>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F51B5571-22E5-48E4-899D-E546ABE6944F}"/>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B60D0B5B-2703-4712-B043-4B7F5FC9CAE7}"/>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09</a:t>
            </a:r>
          </a:p>
        </p:txBody>
      </p:sp>
      <p:sp>
        <p:nvSpPr>
          <p:cNvPr id="8" name="left-hdr-5">
            <a:extLst xmlns:a="http://schemas.openxmlformats.org/drawingml/2006/main">
              <a:ext uri="{FF2B5EF4-FFF2-40B4-BE49-F238E27FC236}">
                <a16:creationId xmlns:a16="http://schemas.microsoft.com/office/drawing/2014/main" id="{AB1A67EE-385C-492C-ACB1-03970E0F3AE0}"/>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5">
            <a:extLst xmlns:a="http://schemas.openxmlformats.org/drawingml/2006/main">
              <a:ext uri="{FF2B5EF4-FFF2-40B4-BE49-F238E27FC236}">
                <a16:creationId xmlns:a16="http://schemas.microsoft.com/office/drawing/2014/main" id="{A33969B7-9C32-4EB5-BDF7-CF29C66E04CC}"/>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5">
            <a:extLst xmlns:a="http://schemas.openxmlformats.org/drawingml/2006/main">
              <a:ext uri="{FF2B5EF4-FFF2-40B4-BE49-F238E27FC236}">
                <a16:creationId xmlns:a16="http://schemas.microsoft.com/office/drawing/2014/main" id="{932BD883-A2FA-49DF-A29E-5824A7502EF6}"/>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5">
            <a:extLst xmlns:a="http://schemas.openxmlformats.org/drawingml/2006/main">
              <a:ext uri="{FF2B5EF4-FFF2-40B4-BE49-F238E27FC236}">
                <a16:creationId xmlns:a16="http://schemas.microsoft.com/office/drawing/2014/main" id="{0C933723-37D8-4CFF-ACDC-0402BFE7C532}"/>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04 fixou a necessidade de transição gradual e mitigação de custos em terceirização e cadeia de responsabilidade.'): Férias remuneradas, licença-maternidade estendida e licença-paternidade obrigatória são pilares da dignidade humana e da divisão equitativa do cuidado familiar. O financiamento dessas licenças deve ser assumido pela seguridade social coletiva para evitar qualquer discriminação na contratação de mulheres em idade fértil.</a:t>
            </a:r>
          </a:p>
        </p:txBody>
      </p:sp>
      <p:sp>
        <p:nvSpPr>
          <p:cNvPr id="12" name="t1-a2-box-5">
            <a:extLst xmlns:a="http://schemas.openxmlformats.org/drawingml/2006/main">
              <a:ext uri="{FF2B5EF4-FFF2-40B4-BE49-F238E27FC236}">
                <a16:creationId xmlns:a16="http://schemas.microsoft.com/office/drawing/2014/main" id="{EE44DB7F-BDA7-4345-AAF7-1858C21D7A85}"/>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5">
            <a:extLst xmlns:a="http://schemas.openxmlformats.org/drawingml/2006/main">
              <a:ext uri="{FF2B5EF4-FFF2-40B4-BE49-F238E27FC236}">
                <a16:creationId xmlns:a16="http://schemas.microsoft.com/office/drawing/2014/main" id="{4018403B-4E73-41A2-8265-3756CCF2B58D}"/>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5">
            <a:extLst xmlns:a="http://schemas.openxmlformats.org/drawingml/2006/main">
              <a:ext uri="{FF2B5EF4-FFF2-40B4-BE49-F238E27FC236}">
                <a16:creationId xmlns:a16="http://schemas.microsoft.com/office/drawing/2014/main" id="{A8DFDD3A-BEBA-4913-AE4C-8861C18D7928}"/>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um equilíbrio entre custos da privatividade familiar e imposto fiscal pode levar a um aumento nas despesas fiscais dos contribuintes em detrimento das crianças</a:t>
            </a:r>
          </a:p>
          <a:p xmlns:a="http://schemas.openxmlformats.org/drawingml/2006/main">
            <a:pPr algn="l">
              <a:lnSpc>
                <a:spcPct val="115000"/>
              </a:lnSpc>
              <a:buNone/>
              <a:defRPr sz="900" b="0" i="0">
                <a:solidFill>
                  <a:srgbClr val="0F172A"/>
                </a:solidFill>
              </a:defRPr>
            </a:pPr>
            <a:r>
              <a:rPr sz="900" b="0" i="0">
                <a:solidFill>
                  <a:srgbClr val="0F172A"/>
                </a:solidFill>
              </a:rPr>
              <a:t>Pergunta: Quais são os principais obstáculos para garantir que o cuidado parental seja uma atividade remunerada, sem penalizar as mulheres da geração atual?</a:t>
            </a:r>
          </a:p>
        </p:txBody>
      </p:sp>
      <p:sp>
        <p:nvSpPr>
          <p:cNvPr id="15" name="t2-a2-box-5">
            <a:extLst xmlns:a="http://schemas.openxmlformats.org/drawingml/2006/main">
              <a:ext uri="{FF2B5EF4-FFF2-40B4-BE49-F238E27FC236}">
                <a16:creationId xmlns:a16="http://schemas.microsoft.com/office/drawing/2014/main" id="{3346DBBF-30C8-4884-8AAB-AAFBA35F0BA0}"/>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5">
            <a:extLst xmlns:a="http://schemas.openxmlformats.org/drawingml/2006/main">
              <a:ext uri="{FF2B5EF4-FFF2-40B4-BE49-F238E27FC236}">
                <a16:creationId xmlns:a16="http://schemas.microsoft.com/office/drawing/2014/main" id="{A8C383C7-F7C6-47D7-978C-A9AE8F8775C4}"/>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5">
            <a:extLst xmlns:a="http://schemas.openxmlformats.org/drawingml/2006/main">
              <a:ext uri="{FF2B5EF4-FFF2-40B4-BE49-F238E27FC236}">
                <a16:creationId xmlns:a16="http://schemas.microsoft.com/office/drawing/2014/main" id="{DF4F4D62-2B8E-40EF-8582-653473B7D382}"/>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um sistema financeiro adequado e sustentável pode levar a dificuldades para as empresas em manter funcionários que precisam se ausentar por tempo prolongado, como é o caso dos pais com filhos recém-nascidos ou adolescentes.</a:t>
            </a:r>
          </a:p>
          <a:p xmlns:a="http://schemas.openxmlformats.org/drawingml/2006/main">
            <a:pPr algn="l">
              <a:lnSpc>
                <a:spcPct val="115000"/>
              </a:lnSpc>
              <a:buNone/>
              <a:defRPr sz="900" b="0" i="0">
                <a:solidFill>
                  <a:srgbClr val="0F172A"/>
                </a:solidFill>
              </a:defRPr>
            </a:pPr>
            <a:r>
              <a:rPr sz="900" b="0" i="0">
                <a:solidFill>
                  <a:srgbClr val="0F172A"/>
                </a:solidFill>
              </a:rPr>
              <a:t>Pergunta: Como podemos garantir uma flexibilidade equilibrada entre os direitos do trabalhador e a responsabilidade social das empresas sem penalizar as mulheres na geração atual?</a:t>
            </a:r>
          </a:p>
        </p:txBody>
      </p:sp>
      <p:sp>
        <p:nvSpPr>
          <p:cNvPr id="18" name="t2-a1-box-5">
            <a:extLst xmlns:a="http://schemas.openxmlformats.org/drawingml/2006/main">
              <a:ext uri="{FF2B5EF4-FFF2-40B4-BE49-F238E27FC236}">
                <a16:creationId xmlns:a16="http://schemas.microsoft.com/office/drawing/2014/main" id="{15443E95-EB55-4E20-8792-C791C4BDD8D5}"/>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5">
            <a:extLst xmlns:a="http://schemas.openxmlformats.org/drawingml/2006/main">
              <a:ext uri="{FF2B5EF4-FFF2-40B4-BE49-F238E27FC236}">
                <a16:creationId xmlns:a16="http://schemas.microsoft.com/office/drawing/2014/main" id="{C675D59E-ADD4-4101-91F7-AF8BD75AC7D2}"/>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5">
            <a:extLst xmlns:a="http://schemas.openxmlformats.org/drawingml/2006/main">
              <a:ext uri="{FF2B5EF4-FFF2-40B4-BE49-F238E27FC236}">
                <a16:creationId xmlns:a16="http://schemas.microsoft.com/office/drawing/2014/main" id="{1093FD97-A4DB-4000-9314-34F3526FCF09}"/>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falta de um equilíbrio entre custos da privatividade familiar e imposto fiscal pode levar a um aumento nas desp...'), propomos que a implementação não seja abrupta nem cega à capacidade financeira dos negócios, adotando crédito presumido de transição e escalonamento setorial. Em relação ao segundo ponto levantado sobre financiamento tripartite ou solidário para trabalhadores que trocam de vínculo ('Risco: A falta de um sistema financeiro adequado e sustentável pode levar a dificuldades para as empresas em manter func...'),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5">
            <a:extLst xmlns:a="http://schemas.openxmlformats.org/drawingml/2006/main">
              <a:ext uri="{FF2B5EF4-FFF2-40B4-BE49-F238E27FC236}">
                <a16:creationId xmlns:a16="http://schemas.microsoft.com/office/drawing/2014/main" id="{FBA27E69-5401-4A0F-AB8E-704130524524}"/>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5">
            <a:extLst xmlns:a="http://schemas.openxmlformats.org/drawingml/2006/main">
              <a:ext uri="{FF2B5EF4-FFF2-40B4-BE49-F238E27FC236}">
                <a16:creationId xmlns:a16="http://schemas.microsoft.com/office/drawing/2014/main" id="{9B9D8DAD-5E86-4D98-9DF9-609D4A85A34E}"/>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5">
            <a:extLst xmlns:a="http://schemas.openxmlformats.org/drawingml/2006/main">
              <a:ext uri="{FF2B5EF4-FFF2-40B4-BE49-F238E27FC236}">
                <a16:creationId xmlns:a16="http://schemas.microsoft.com/office/drawing/2014/main" id="{FB91E170-485D-4A20-853E-B312B6AB79B4}"/>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5">
            <a:extLst xmlns:a="http://schemas.openxmlformats.org/drawingml/2006/main">
              <a:ext uri="{FF2B5EF4-FFF2-40B4-BE49-F238E27FC236}">
                <a16:creationId xmlns:a16="http://schemas.microsoft.com/office/drawing/2014/main" id="{332359F1-C085-423F-A14D-9FB74F03BADE}"/>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férias, licenças parentais e economia do cuidado e os custos/incentivos de mercado apontados pelo liberal.</a:t>
            </a:r>
          </a:p>
        </p:txBody>
      </p:sp>
      <p:sp>
        <p:nvSpPr>
          <p:cNvPr id="25" name="j-verd-box-5">
            <a:extLst xmlns:a="http://schemas.openxmlformats.org/drawingml/2006/main">
              <a:ext uri="{FF2B5EF4-FFF2-40B4-BE49-F238E27FC236}">
                <a16:creationId xmlns:a16="http://schemas.microsoft.com/office/drawing/2014/main" id="{437BCCD7-3FE3-4BBA-AF8B-D500DDB23C59}"/>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5">
            <a:extLst xmlns:a="http://schemas.openxmlformats.org/drawingml/2006/main">
              <a:ext uri="{FF2B5EF4-FFF2-40B4-BE49-F238E27FC236}">
                <a16:creationId xmlns:a16="http://schemas.microsoft.com/office/drawing/2014/main" id="{62EC6465-4F62-4BE7-B3F5-B8C5DE3D8B8A}"/>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5">
            <a:extLst xmlns:a="http://schemas.openxmlformats.org/drawingml/2006/main">
              <a:ext uri="{FF2B5EF4-FFF2-40B4-BE49-F238E27FC236}">
                <a16:creationId xmlns:a16="http://schemas.microsoft.com/office/drawing/2014/main" id="{1F4FEE44-AE68-455D-86E4-B72DCDBE5E9C}"/>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férias, licenças parentais e economia do cuidado,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5">
            <a:extLst xmlns:a="http://schemas.openxmlformats.org/drawingml/2006/main">
              <a:ext uri="{FF2B5EF4-FFF2-40B4-BE49-F238E27FC236}">
                <a16:creationId xmlns:a16="http://schemas.microsoft.com/office/drawing/2014/main" id="{ABDE4D02-9A52-41D8-9ED7-C6FACC1D91E6}"/>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5">
            <a:extLst xmlns:a="http://schemas.openxmlformats.org/drawingml/2006/main">
              <a:ext uri="{FF2B5EF4-FFF2-40B4-BE49-F238E27FC236}">
                <a16:creationId xmlns:a16="http://schemas.microsoft.com/office/drawing/2014/main" id="{D3ADAC7E-7ED4-407D-A909-4ACC7B0F8911}"/>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5">
            <a:extLst xmlns:a="http://schemas.openxmlformats.org/drawingml/2006/main">
              <a:ext uri="{FF2B5EF4-FFF2-40B4-BE49-F238E27FC236}">
                <a16:creationId xmlns:a16="http://schemas.microsoft.com/office/drawing/2014/main" id="{306A7D93-B9AD-4778-BD3A-F6EAAEC2C425}"/>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férias, licenças parentais e economia do cuidado, incorporar cláusula de transição faseada com incentivo à conformidade voluntária e repartição de encargos entre empregadores, poder público e fundos solidários, mitigando os custos apontados pelo liberal.</a:t>
            </a:r>
          </a:p>
        </p:txBody>
      </p:sp>
      <p:sp>
        <p:nvSpPr>
          <p:cNvPr id="31" name="j-pend-box-5">
            <a:extLst xmlns:a="http://schemas.openxmlformats.org/drawingml/2006/main">
              <a:ext uri="{FF2B5EF4-FFF2-40B4-BE49-F238E27FC236}">
                <a16:creationId xmlns:a16="http://schemas.microsoft.com/office/drawing/2014/main" id="{84F95502-EE10-4E52-9297-27990D2B8CF1}"/>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5">
            <a:extLst xmlns:a="http://schemas.openxmlformats.org/drawingml/2006/main">
              <a:ext uri="{FF2B5EF4-FFF2-40B4-BE49-F238E27FC236}">
                <a16:creationId xmlns:a16="http://schemas.microsoft.com/office/drawing/2014/main" id="{B943334E-7F97-40FB-A91F-9D3F1F080645}"/>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5">
            <a:extLst xmlns:a="http://schemas.openxmlformats.org/drawingml/2006/main">
              <a:ext uri="{FF2B5EF4-FFF2-40B4-BE49-F238E27FC236}">
                <a16:creationId xmlns:a16="http://schemas.microsoft.com/office/drawing/2014/main" id="{C0582D40-767E-4B5C-9F1E-C05AAB655B46}"/>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férias, licenças parentais e economia do cuidado.</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05 fixou a necessidade de transição gradual e mitigação de custos em férias, licenças parentais e economia do cuidado.</a:t>
            </a:r>
          </a:p>
        </p:txBody>
      </p:sp>
      <p:sp>
        <p:nvSpPr>
          <p:cNvPr id="34" name="j-spec-box-5">
            <a:extLst xmlns:a="http://schemas.openxmlformats.org/drawingml/2006/main">
              <a:ext uri="{FF2B5EF4-FFF2-40B4-BE49-F238E27FC236}">
                <a16:creationId xmlns:a16="http://schemas.microsoft.com/office/drawing/2014/main" id="{D8E2A72E-36C8-41C7-B68A-B9DB354C8E60}"/>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DF4FF"/>
          </a:solidFill>
          <a:ln xmlns:a="http://schemas.openxmlformats.org/drawingml/2006/main" w="14288">
            <a:solidFill>
              <a:srgbClr val="E879F9"/>
            </a:solidFill>
            <a:prstDash val="solid"/>
          </a:ln>
        </p:spPr>
      </p:sp>
      <p:sp>
        <p:nvSpPr>
          <p:cNvPr id="35" name="j-spec-badge-5">
            <a:extLst xmlns:a="http://schemas.openxmlformats.org/drawingml/2006/main">
              <a:ext uri="{FF2B5EF4-FFF2-40B4-BE49-F238E27FC236}">
                <a16:creationId xmlns:a16="http://schemas.microsoft.com/office/drawing/2014/main" id="{4B1F727D-298F-4575-9C60-6749AF13527C}"/>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86198F"/>
                </a:solidFill>
              </a:defRPr>
            </a:defPPr>
          </a:lstStyle>
          <a:p xmlns:a="http://schemas.openxmlformats.org/drawingml/2006/main">
            <a:pPr algn="l">
              <a:lnSpc>
                <a:spcPct val="115000"/>
              </a:lnSpc>
              <a:buNone/>
              <a:defRPr sz="825" b="1" i="0">
                <a:solidFill>
                  <a:srgbClr val="86198F"/>
                </a:solidFill>
              </a:defRPr>
            </a:pPr>
            <a:r>
              <a:rPr sz="825" b="1" i="0">
                <a:solidFill>
                  <a:srgbClr val="86198F"/>
                </a:solidFill>
              </a:rPr>
              <a:t>SÍNTESE PERIÓDICA DO BLOCO (RODADA 05)</a:t>
            </a:r>
          </a:p>
        </p:txBody>
      </p:sp>
      <p:sp>
        <p:nvSpPr>
          <p:cNvPr id="36" name="j-spec-txt-5">
            <a:extLst xmlns:a="http://schemas.openxmlformats.org/drawingml/2006/main">
              <a:ext uri="{FF2B5EF4-FFF2-40B4-BE49-F238E27FC236}">
                <a16:creationId xmlns:a16="http://schemas.microsoft.com/office/drawing/2014/main" id="{7405C018-A579-4743-B9D6-0A332B2233A0}"/>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0F172A"/>
                </a:solidFill>
              </a:defRPr>
            </a:defPPr>
          </a:lstStyle>
          <a:p xmlns:a="http://schemas.openxmlformats.org/drawingml/2006/main">
            <a:pPr algn="l">
              <a:lnSpc>
                <a:spcPct val="115000"/>
              </a:lnSpc>
              <a:buNone/>
              <a:defRPr sz="825" b="0" i="0">
                <a:solidFill>
                  <a:srgbClr val="0F172A"/>
                </a:solidFill>
              </a:defRPr>
            </a:pPr>
            <a:r>
              <a:rPr sz="825" b="0" i="0">
                <a:solidFill>
                  <a:srgbClr val="0F172A"/>
                </a:solidFill>
              </a:rPr>
              <a:t>Síntese do Bloco 1 (Rodadas 01–05): Os debates sobre salário mínimo, jornada, demissão, terceirização e licenças demonstraram que a proteção social universal depende de fundos mutualizados e solidários. Repassar todo o encargo diretamente à folha da empresa individual incentiva discriminação e demissões preventivas.</a:t>
            </a:r>
          </a:p>
        </p:txBody>
      </p:sp>
    </p:spTree>
    <p:extLst>
      <p:ext uri="{BB962C8B-B14F-4D97-AF65-F5344CB8AC3E}">
        <p14:creationId xmlns:p14="http://schemas.microsoft.com/office/powerpoint/2010/main" val="5759954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7ED2B4C3-0A3F-4F62-B31D-F13D8BE83768}"/>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D0E5E228-E142-4387-B066-762FD8B20C0C}"/>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E2040B35-5354-426C-8240-7C3EAA1577D3}"/>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06 · TRABALHO POR PLATAFORMAS E APLICATIVOS</a:t>
            </a:r>
          </a:p>
        </p:txBody>
      </p:sp>
      <p:sp>
        <p:nvSpPr>
          <p:cNvPr id="4" name="header-sub">
            <a:extLst xmlns:a="http://schemas.openxmlformats.org/drawingml/2006/main">
              <a:ext uri="{FF2B5EF4-FFF2-40B4-BE49-F238E27FC236}">
                <a16:creationId xmlns:a16="http://schemas.microsoft.com/office/drawing/2014/main" id="{8F3FFEE7-F9E3-4513-8565-5A1DA1007BD7}"/>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distinguir autonomia real de dependência econômica, financiando cobertura social sem destruir o modelo flexível?</a:t>
            </a:r>
          </a:p>
        </p:txBody>
      </p:sp>
      <p:sp>
        <p:nvSpPr>
          <p:cNvPr id="5" name="footer-rule">
            <a:extLst xmlns:a="http://schemas.openxmlformats.org/drawingml/2006/main">
              <a:ext uri="{FF2B5EF4-FFF2-40B4-BE49-F238E27FC236}">
                <a16:creationId xmlns:a16="http://schemas.microsoft.com/office/drawing/2014/main" id="{7EB2A508-C992-4054-857B-D6B20CD00283}"/>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DD7DB064-C256-4DF5-A7E1-D2F3888472D0}"/>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EC084F7C-E4BA-4B45-A0F6-85ADE88B00B4}"/>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10</a:t>
            </a:r>
          </a:p>
        </p:txBody>
      </p:sp>
      <p:sp>
        <p:nvSpPr>
          <p:cNvPr id="8" name="left-hdr-6">
            <a:extLst xmlns:a="http://schemas.openxmlformats.org/drawingml/2006/main">
              <a:ext uri="{FF2B5EF4-FFF2-40B4-BE49-F238E27FC236}">
                <a16:creationId xmlns:a16="http://schemas.microsoft.com/office/drawing/2014/main" id="{3421C5FF-F936-4C89-A359-67EEB91CDB51}"/>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6">
            <a:extLst xmlns:a="http://schemas.openxmlformats.org/drawingml/2006/main">
              <a:ext uri="{FF2B5EF4-FFF2-40B4-BE49-F238E27FC236}">
                <a16:creationId xmlns:a16="http://schemas.microsoft.com/office/drawing/2014/main" id="{22B2AEC2-40D1-4193-87A3-ACD6D89DBC5F}"/>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6">
            <a:extLst xmlns:a="http://schemas.openxmlformats.org/drawingml/2006/main">
              <a:ext uri="{FF2B5EF4-FFF2-40B4-BE49-F238E27FC236}">
                <a16:creationId xmlns:a16="http://schemas.microsoft.com/office/drawing/2014/main" id="{37CAC699-3BFE-4C65-8202-0C5DCBA47413}"/>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6">
            <a:extLst xmlns:a="http://schemas.openxmlformats.org/drawingml/2006/main">
              <a:ext uri="{FF2B5EF4-FFF2-40B4-BE49-F238E27FC236}">
                <a16:creationId xmlns:a16="http://schemas.microsoft.com/office/drawing/2014/main" id="{1656CD22-17F4-41F6-B6B1-1F57794FEF1F}"/>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05 fixou a necessidade de transição gradual e mitigação de custos em férias, licenças parentais e economia do cuidado.'): O trabalho sob demanda em plataformas digitais apresenta evidente subordinação algorítmica e controle tarifário unilateral. É imperativo estabelecer um estatuto protetivo que garanta remuneração mínima por hora logada, cobertura obrigatória contra acidentes, contribuição previdenciária compartilhada e transparência nas regras de desativação.</a:t>
            </a:r>
          </a:p>
        </p:txBody>
      </p:sp>
      <p:sp>
        <p:nvSpPr>
          <p:cNvPr id="12" name="t1-a2-box-6">
            <a:extLst xmlns:a="http://schemas.openxmlformats.org/drawingml/2006/main">
              <a:ext uri="{FF2B5EF4-FFF2-40B4-BE49-F238E27FC236}">
                <a16:creationId xmlns:a16="http://schemas.microsoft.com/office/drawing/2014/main" id="{BE4FD594-5813-4C26-9B86-FB68A6271929}"/>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6">
            <a:extLst xmlns:a="http://schemas.openxmlformats.org/drawingml/2006/main">
              <a:ext uri="{FF2B5EF4-FFF2-40B4-BE49-F238E27FC236}">
                <a16:creationId xmlns:a16="http://schemas.microsoft.com/office/drawing/2014/main" id="{613BEA3F-FD98-4BC6-B9AF-15AF1FEA127C}"/>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6">
            <a:extLst xmlns:a="http://schemas.openxmlformats.org/drawingml/2006/main">
              <a:ext uri="{FF2B5EF4-FFF2-40B4-BE49-F238E27FC236}">
                <a16:creationId xmlns:a16="http://schemas.microsoft.com/office/drawing/2014/main" id="{703B9519-C435-4F03-81EB-F1731DAE8E9E}"/>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regulamentação adequada pode levar a um aumento do risco de fraudes e violações trabalhistas.</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transparência na cobertura social em plataformas digitais sem penalizar os empregadores?</a:t>
            </a:r>
          </a:p>
        </p:txBody>
      </p:sp>
      <p:sp>
        <p:nvSpPr>
          <p:cNvPr id="15" name="t2-a2-box-6">
            <a:extLst xmlns:a="http://schemas.openxmlformats.org/drawingml/2006/main">
              <a:ext uri="{FF2B5EF4-FFF2-40B4-BE49-F238E27FC236}">
                <a16:creationId xmlns:a16="http://schemas.microsoft.com/office/drawing/2014/main" id="{D12B08A2-4752-4562-9CC6-68584F039F92}"/>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6">
            <a:extLst xmlns:a="http://schemas.openxmlformats.org/drawingml/2006/main">
              <a:ext uri="{FF2B5EF4-FFF2-40B4-BE49-F238E27FC236}">
                <a16:creationId xmlns:a16="http://schemas.microsoft.com/office/drawing/2014/main" id="{EB7D9ED5-43D2-41E6-81B2-A8F1689AF916}"/>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6">
            <a:extLst xmlns:a="http://schemas.openxmlformats.org/drawingml/2006/main">
              <a:ext uri="{FF2B5EF4-FFF2-40B4-BE49-F238E27FC236}">
                <a16:creationId xmlns:a16="http://schemas.microsoft.com/office/drawing/2014/main" id="{1B68E17D-6DAB-474C-8FC8-9C98CB0F63A4}"/>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regulamentação eficaz pode resultar em desvios éticos e injustiças trabalhistas.</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a transparência dos processos de portabilidade entre plataformas sem penalizar os empregadores?</a:t>
            </a:r>
          </a:p>
        </p:txBody>
      </p:sp>
      <p:sp>
        <p:nvSpPr>
          <p:cNvPr id="18" name="t2-a1-box-6">
            <a:extLst xmlns:a="http://schemas.openxmlformats.org/drawingml/2006/main">
              <a:ext uri="{FF2B5EF4-FFF2-40B4-BE49-F238E27FC236}">
                <a16:creationId xmlns:a16="http://schemas.microsoft.com/office/drawing/2014/main" id="{A90411AC-28BC-44A7-A685-69211C74639C}"/>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6">
            <a:extLst xmlns:a="http://schemas.openxmlformats.org/drawingml/2006/main">
              <a:ext uri="{FF2B5EF4-FFF2-40B4-BE49-F238E27FC236}">
                <a16:creationId xmlns:a16="http://schemas.microsoft.com/office/drawing/2014/main" id="{258532D1-F4C0-4C55-A09D-A71B2329EBB5}"/>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6">
            <a:extLst xmlns:a="http://schemas.openxmlformats.org/drawingml/2006/main">
              <a:ext uri="{FF2B5EF4-FFF2-40B4-BE49-F238E27FC236}">
                <a16:creationId xmlns:a16="http://schemas.microsoft.com/office/drawing/2014/main" id="{3583F7F9-D48C-4935-89D7-A66C8821DFF2}"/>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falta de regulamentação adequada pode levar a um aumento do risco de fraudes e violações trabalhistas.</a:t>
            </a:r>
          </a:p>
          <a:p xmlns:a="http://schemas.openxmlformats.org/drawingml/2006/main">
            <a:pPr algn="l">
              <a:lnSpc>
                <a:spcPct val="115000"/>
              </a:lnSpc>
              <a:buNone/>
              <a:defRPr sz="900" b="0" i="0">
                <a:solidFill>
                  <a:srgbClr val="0F172A"/>
                </a:solidFill>
              </a:defRPr>
            </a:pPr>
            <a:r>
              <a:rPr sz="900" b="0" i="0">
                <a:solidFill>
                  <a:srgbClr val="0F172A"/>
                </a:solidFill>
              </a:rPr>
              <a:t>Pergunta...'), propomos que a implementação não seja abrupta nem cega à capacidade financeira dos negócios, adotando crédito presumido de transição e escalonamento setorial. Em relação ao segundo ponto levantado sobre mecanismos transparentes de tarifas e portabilidade de pontuação entre plataformas ('Risco: A falta de regulamentação eficaz pode resultar em desvios éticos e injustiças trabalhistas.</a:t>
            </a:r>
          </a:p>
          <a:p xmlns:a="http://schemas.openxmlformats.org/drawingml/2006/main">
            <a:pPr algn="l">
              <a:lnSpc>
                <a:spcPct val="115000"/>
              </a:lnSpc>
              <a:buNone/>
              <a:defRPr sz="900" b="0" i="0">
                <a:solidFill>
                  <a:srgbClr val="0F172A"/>
                </a:solidFill>
              </a:defRPr>
            </a:pPr>
            <a:r>
              <a:rPr sz="900" b="0" i="0">
                <a:solidFill>
                  <a:srgbClr val="0F172A"/>
                </a:solidFill>
              </a:rPr>
              <a:t>Pergunta: Como garant...'),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6">
            <a:extLst xmlns:a="http://schemas.openxmlformats.org/drawingml/2006/main">
              <a:ext uri="{FF2B5EF4-FFF2-40B4-BE49-F238E27FC236}">
                <a16:creationId xmlns:a16="http://schemas.microsoft.com/office/drawing/2014/main" id="{1013DE05-7F25-4193-A74F-D369015F1190}"/>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6">
            <a:extLst xmlns:a="http://schemas.openxmlformats.org/drawingml/2006/main">
              <a:ext uri="{FF2B5EF4-FFF2-40B4-BE49-F238E27FC236}">
                <a16:creationId xmlns:a16="http://schemas.microsoft.com/office/drawing/2014/main" id="{6286B9BF-F66B-4649-A8B1-D1178DB45ED1}"/>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6">
            <a:extLst xmlns:a="http://schemas.openxmlformats.org/drawingml/2006/main">
              <a:ext uri="{FF2B5EF4-FFF2-40B4-BE49-F238E27FC236}">
                <a16:creationId xmlns:a16="http://schemas.microsoft.com/office/drawing/2014/main" id="{A39391D8-9AB7-4A02-ACA4-2F5E5739A5E4}"/>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6">
            <a:extLst xmlns:a="http://schemas.openxmlformats.org/drawingml/2006/main">
              <a:ext uri="{FF2B5EF4-FFF2-40B4-BE49-F238E27FC236}">
                <a16:creationId xmlns:a16="http://schemas.microsoft.com/office/drawing/2014/main" id="{32DE5FBB-FB38-478B-910A-C8E5D070C434}"/>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trabalho por plataformas e aplicativos e os custos/incentivos de mercado apontados pelo liberal.</a:t>
            </a:r>
          </a:p>
        </p:txBody>
      </p:sp>
      <p:sp>
        <p:nvSpPr>
          <p:cNvPr id="25" name="j-verd-box-6">
            <a:extLst xmlns:a="http://schemas.openxmlformats.org/drawingml/2006/main">
              <a:ext uri="{FF2B5EF4-FFF2-40B4-BE49-F238E27FC236}">
                <a16:creationId xmlns:a16="http://schemas.microsoft.com/office/drawing/2014/main" id="{98741BAF-DB29-4EA3-96AE-C25351A19AF9}"/>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6">
            <a:extLst xmlns:a="http://schemas.openxmlformats.org/drawingml/2006/main">
              <a:ext uri="{FF2B5EF4-FFF2-40B4-BE49-F238E27FC236}">
                <a16:creationId xmlns:a16="http://schemas.microsoft.com/office/drawing/2014/main" id="{E238BBCF-B7BB-41BE-A876-C5A3DBF2420C}"/>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6">
            <a:extLst xmlns:a="http://schemas.openxmlformats.org/drawingml/2006/main">
              <a:ext uri="{FF2B5EF4-FFF2-40B4-BE49-F238E27FC236}">
                <a16:creationId xmlns:a16="http://schemas.microsoft.com/office/drawing/2014/main" id="{8DBCFCF1-47BD-4647-8220-1A9D9682C326}"/>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trabalho por plataformas e aplicativos,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6">
            <a:extLst xmlns:a="http://schemas.openxmlformats.org/drawingml/2006/main">
              <a:ext uri="{FF2B5EF4-FFF2-40B4-BE49-F238E27FC236}">
                <a16:creationId xmlns:a16="http://schemas.microsoft.com/office/drawing/2014/main" id="{65C333FC-A38F-40D6-BEAC-AAAB78CC548B}"/>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6">
            <a:extLst xmlns:a="http://schemas.openxmlformats.org/drawingml/2006/main">
              <a:ext uri="{FF2B5EF4-FFF2-40B4-BE49-F238E27FC236}">
                <a16:creationId xmlns:a16="http://schemas.microsoft.com/office/drawing/2014/main" id="{DDFC6852-5F38-4966-8845-64AFDD0E7567}"/>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6">
            <a:extLst xmlns:a="http://schemas.openxmlformats.org/drawingml/2006/main">
              <a:ext uri="{FF2B5EF4-FFF2-40B4-BE49-F238E27FC236}">
                <a16:creationId xmlns:a16="http://schemas.microsoft.com/office/drawing/2014/main" id="{8BDE9BD5-3746-43A9-BEA7-CF83F3FBEB35}"/>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trabalho por plataformas e aplicativos, incorporar cláusula de transição faseada com incentivo à conformidade voluntária e repartição de encargos entre empregadores, poder público e fundos solidários, mitigando os custos apontados pelo liberal.</a:t>
            </a:r>
          </a:p>
        </p:txBody>
      </p:sp>
      <p:sp>
        <p:nvSpPr>
          <p:cNvPr id="31" name="j-pend-box-6">
            <a:extLst xmlns:a="http://schemas.openxmlformats.org/drawingml/2006/main">
              <a:ext uri="{FF2B5EF4-FFF2-40B4-BE49-F238E27FC236}">
                <a16:creationId xmlns:a16="http://schemas.microsoft.com/office/drawing/2014/main" id="{70AD60DB-19E9-43FE-99DF-8387CA091114}"/>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6">
            <a:extLst xmlns:a="http://schemas.openxmlformats.org/drawingml/2006/main">
              <a:ext uri="{FF2B5EF4-FFF2-40B4-BE49-F238E27FC236}">
                <a16:creationId xmlns:a16="http://schemas.microsoft.com/office/drawing/2014/main" id="{6B70D28B-BB51-4453-9262-E0744828B894}"/>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6">
            <a:extLst xmlns:a="http://schemas.openxmlformats.org/drawingml/2006/main">
              <a:ext uri="{FF2B5EF4-FFF2-40B4-BE49-F238E27FC236}">
                <a16:creationId xmlns:a16="http://schemas.microsoft.com/office/drawing/2014/main" id="{7190A6F2-BBE3-4026-AAED-918305D30C87}"/>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trabalho por plataformas e aplicativos.</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06 fixou a necessidade de transição gradual e mitigação de custos em trabalho por plataformas e aplicativos.</a:t>
            </a:r>
          </a:p>
        </p:txBody>
      </p:sp>
      <p:sp>
        <p:nvSpPr>
          <p:cNvPr id="34" name="j-spec-box-6">
            <a:extLst xmlns:a="http://schemas.openxmlformats.org/drawingml/2006/main">
              <a:ext uri="{FF2B5EF4-FFF2-40B4-BE49-F238E27FC236}">
                <a16:creationId xmlns:a16="http://schemas.microsoft.com/office/drawing/2014/main" id="{C3E0BDA9-1C7E-4E93-8AE3-88514D0F4731}"/>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6">
            <a:extLst xmlns:a="http://schemas.openxmlformats.org/drawingml/2006/main">
              <a:ext uri="{FF2B5EF4-FFF2-40B4-BE49-F238E27FC236}">
                <a16:creationId xmlns:a16="http://schemas.microsoft.com/office/drawing/2014/main" id="{DFC727A3-3F31-4BC2-BC32-37F98F2E994F}"/>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6">
            <a:extLst xmlns:a="http://schemas.openxmlformats.org/drawingml/2006/main">
              <a:ext uri="{FF2B5EF4-FFF2-40B4-BE49-F238E27FC236}">
                <a16:creationId xmlns:a16="http://schemas.microsoft.com/office/drawing/2014/main" id="{70F9D3DA-1453-4CA2-BDBC-4CDF67439433}"/>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2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07.</a:t>
            </a:r>
          </a:p>
        </p:txBody>
      </p:sp>
    </p:spTree>
    <p:extLst>
      <p:ext uri="{BB962C8B-B14F-4D97-AF65-F5344CB8AC3E}">
        <p14:creationId xmlns:p14="http://schemas.microsoft.com/office/powerpoint/2010/main" val="17038313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9EDE60F0-5C8B-46C5-86FF-1B7B93022D84}"/>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1F00DE72-920E-4E21-BCD1-87D9554C7773}"/>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3A645291-024F-4113-8A38-64B1ACB9B285}"/>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07 · INFORMALIDADE E BARREIRAS À FORMALIZAÇÃO</a:t>
            </a:r>
          </a:p>
        </p:txBody>
      </p:sp>
      <p:sp>
        <p:nvSpPr>
          <p:cNvPr id="4" name="header-sub">
            <a:extLst xmlns:a="http://schemas.openxmlformats.org/drawingml/2006/main">
              <a:ext uri="{FF2B5EF4-FFF2-40B4-BE49-F238E27FC236}">
                <a16:creationId xmlns:a16="http://schemas.microsoft.com/office/drawing/2014/main" id="{2C73973E-40B4-463B-996A-D30D91B83BD2}"/>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ampliar a rede de proteção social sem que a burocracia e o custo tributário empurrem trabalhadores para a margem?</a:t>
            </a:r>
          </a:p>
        </p:txBody>
      </p:sp>
      <p:sp>
        <p:nvSpPr>
          <p:cNvPr id="5" name="footer-rule">
            <a:extLst xmlns:a="http://schemas.openxmlformats.org/drawingml/2006/main">
              <a:ext uri="{FF2B5EF4-FFF2-40B4-BE49-F238E27FC236}">
                <a16:creationId xmlns:a16="http://schemas.microsoft.com/office/drawing/2014/main" id="{455AE2CF-FF07-4140-9569-2D8D5539B814}"/>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DDBED272-E85D-459A-93C7-61C52F9F1F01}"/>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0A03A876-2162-4B9F-84BA-550A04FAFF92}"/>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11</a:t>
            </a:r>
          </a:p>
        </p:txBody>
      </p:sp>
      <p:sp>
        <p:nvSpPr>
          <p:cNvPr id="8" name="left-hdr-7">
            <a:extLst xmlns:a="http://schemas.openxmlformats.org/drawingml/2006/main">
              <a:ext uri="{FF2B5EF4-FFF2-40B4-BE49-F238E27FC236}">
                <a16:creationId xmlns:a16="http://schemas.microsoft.com/office/drawing/2014/main" id="{097886D7-2382-4C34-93CB-8657AB179DF4}"/>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7">
            <a:extLst xmlns:a="http://schemas.openxmlformats.org/drawingml/2006/main">
              <a:ext uri="{FF2B5EF4-FFF2-40B4-BE49-F238E27FC236}">
                <a16:creationId xmlns:a16="http://schemas.microsoft.com/office/drawing/2014/main" id="{C61B56F7-381F-4F03-BB55-8E69AE93A72A}"/>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7">
            <a:extLst xmlns:a="http://schemas.openxmlformats.org/drawingml/2006/main">
              <a:ext uri="{FF2B5EF4-FFF2-40B4-BE49-F238E27FC236}">
                <a16:creationId xmlns:a16="http://schemas.microsoft.com/office/drawing/2014/main" id="{07E932B0-5BD8-4ECE-B876-5881366074E0}"/>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7">
            <a:extLst xmlns:a="http://schemas.openxmlformats.org/drawingml/2006/main">
              <a:ext uri="{FF2B5EF4-FFF2-40B4-BE49-F238E27FC236}">
                <a16:creationId xmlns:a16="http://schemas.microsoft.com/office/drawing/2014/main" id="{CDF67E99-6C9F-4250-A0F1-2947291ABB8D}"/>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06 fixou a necessidade de transição gradual e mitigação de custos em trabalho por plataformas e aplicativos.'): A informalidade atinge dezenas de milhões de trabalhadores sem qualquer rede de proteção contra velhice, invalidez ou doença. A transição para a formalidade exige regimes simplificados e subsidiados para autônomos e pequenos empreendimentos, mas sem esvaziar garantias básicas de saúde e segurança ocupacional.</a:t>
            </a:r>
          </a:p>
        </p:txBody>
      </p:sp>
      <p:sp>
        <p:nvSpPr>
          <p:cNvPr id="12" name="t1-a2-box-7">
            <a:extLst xmlns:a="http://schemas.openxmlformats.org/drawingml/2006/main">
              <a:ext uri="{FF2B5EF4-FFF2-40B4-BE49-F238E27FC236}">
                <a16:creationId xmlns:a16="http://schemas.microsoft.com/office/drawing/2014/main" id="{41440E54-728A-45E1-BB86-80D418755299}"/>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7">
            <a:extLst xmlns:a="http://schemas.openxmlformats.org/drawingml/2006/main">
              <a:ext uri="{FF2B5EF4-FFF2-40B4-BE49-F238E27FC236}">
                <a16:creationId xmlns:a16="http://schemas.microsoft.com/office/drawing/2014/main" id="{2D1F1DAD-1995-42BA-AAAC-077C30672FE1}"/>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7">
            <a:extLst xmlns:a="http://schemas.openxmlformats.org/drawingml/2006/main">
              <a:ext uri="{FF2B5EF4-FFF2-40B4-BE49-F238E27FC236}">
                <a16:creationId xmlns:a16="http://schemas.microsoft.com/office/drawing/2014/main" id="{38595104-EEF7-473F-9E48-AA32C1613C4B}"/>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burocracia excessiva pode impedir a formalização dos trabalhadores em situação precária.</a:t>
            </a:r>
          </a:p>
          <a:p xmlns:a="http://schemas.openxmlformats.org/drawingml/2006/main">
            <a:pPr algn="l">
              <a:lnSpc>
                <a:spcPct val="115000"/>
              </a:lnSpc>
              <a:buNone/>
              <a:defRPr sz="900" b="0" i="0">
                <a:solidFill>
                  <a:srgbClr val="0F172A"/>
                </a:solidFill>
              </a:defRPr>
            </a:pPr>
            <a:r>
              <a:rPr sz="900" b="0" i="0">
                <a:solidFill>
                  <a:srgbClr val="0F172A"/>
                </a:solidFill>
              </a:rPr>
              <a:t>Pergunta: Como mitigar os custos e dificuldades financeiras para autônomos sem comprometer as garantias sociais?</a:t>
            </a:r>
          </a:p>
        </p:txBody>
      </p:sp>
      <p:sp>
        <p:nvSpPr>
          <p:cNvPr id="15" name="t2-a2-box-7">
            <a:extLst xmlns:a="http://schemas.openxmlformats.org/drawingml/2006/main">
              <a:ext uri="{FF2B5EF4-FFF2-40B4-BE49-F238E27FC236}">
                <a16:creationId xmlns:a16="http://schemas.microsoft.com/office/drawing/2014/main" id="{047D0177-3353-483C-AA40-CCB480947F20}"/>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7">
            <a:extLst xmlns:a="http://schemas.openxmlformats.org/drawingml/2006/main">
              <a:ext uri="{FF2B5EF4-FFF2-40B4-BE49-F238E27FC236}">
                <a16:creationId xmlns:a16="http://schemas.microsoft.com/office/drawing/2014/main" id="{4996A1D1-28A6-4FD7-9B0D-010F6ECA8F48}"/>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7">
            <a:extLst xmlns:a="http://schemas.openxmlformats.org/drawingml/2006/main">
              <a:ext uri="{FF2B5EF4-FFF2-40B4-BE49-F238E27FC236}">
                <a16:creationId xmlns:a16="http://schemas.microsoft.com/office/drawing/2014/main" id="{B08282A5-D703-462D-A1BF-8CD14D81E0B9}"/>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Barreira de mercado: Concorrência desleal entre MEI e microempreendedores.</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a concorrência justa para os pequenos empresários que optam pela informalidade?</a:t>
            </a:r>
          </a:p>
        </p:txBody>
      </p:sp>
      <p:sp>
        <p:nvSpPr>
          <p:cNvPr id="18" name="t2-a1-box-7">
            <a:extLst xmlns:a="http://schemas.openxmlformats.org/drawingml/2006/main">
              <a:ext uri="{FF2B5EF4-FFF2-40B4-BE49-F238E27FC236}">
                <a16:creationId xmlns:a16="http://schemas.microsoft.com/office/drawing/2014/main" id="{825AAF60-CE60-4298-99CB-F6663DD271B1}"/>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7">
            <a:extLst xmlns:a="http://schemas.openxmlformats.org/drawingml/2006/main">
              <a:ext uri="{FF2B5EF4-FFF2-40B4-BE49-F238E27FC236}">
                <a16:creationId xmlns:a16="http://schemas.microsoft.com/office/drawing/2014/main" id="{582E83E4-966A-4877-B858-478498905922}"/>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7">
            <a:extLst xmlns:a="http://schemas.openxmlformats.org/drawingml/2006/main">
              <a:ext uri="{FF2B5EF4-FFF2-40B4-BE49-F238E27FC236}">
                <a16:creationId xmlns:a16="http://schemas.microsoft.com/office/drawing/2014/main" id="{D8873EEA-D9E2-4D3D-BED7-A03AE651F585}"/>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burocracia excessiva pode impedir a formalização dos trabalhadores em situação precária.</a:t>
            </a:r>
          </a:p>
          <a:p xmlns:a="http://schemas.openxmlformats.org/drawingml/2006/main">
            <a:pPr algn="l">
              <a:lnSpc>
                <a:spcPct val="115000"/>
              </a:lnSpc>
              <a:buNone/>
              <a:defRPr sz="900" b="0" i="0">
                <a:solidFill>
                  <a:srgbClr val="0F172A"/>
                </a:solidFill>
              </a:defRPr>
            </a:pPr>
            <a:r>
              <a:rPr sz="900" b="0" i="0">
                <a:solidFill>
                  <a:srgbClr val="0F172A"/>
                </a:solidFill>
              </a:rPr>
              <a:t>Pergunta: Como mitigar...'), propomos que a implementação não seja abrupta nem cega à capacidade financeira dos negócios, adotando crédito presumido de transição e escalonamento setorial. Em relação ao segundo ponto levantado sobre alíquotas progressivas de entrada e transição facilitada do MEI para microempresa ('Risco: Barreira de mercado: Concorrência desleal entre MEI e microempreendedores.</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a concorrência...'),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7">
            <a:extLst xmlns:a="http://schemas.openxmlformats.org/drawingml/2006/main">
              <a:ext uri="{FF2B5EF4-FFF2-40B4-BE49-F238E27FC236}">
                <a16:creationId xmlns:a16="http://schemas.microsoft.com/office/drawing/2014/main" id="{3A11FA6E-0ABA-437A-BE49-BB15F51855A6}"/>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7">
            <a:extLst xmlns:a="http://schemas.openxmlformats.org/drawingml/2006/main">
              <a:ext uri="{FF2B5EF4-FFF2-40B4-BE49-F238E27FC236}">
                <a16:creationId xmlns:a16="http://schemas.microsoft.com/office/drawing/2014/main" id="{6501BF19-6652-4271-969B-C92783284532}"/>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7">
            <a:extLst xmlns:a="http://schemas.openxmlformats.org/drawingml/2006/main">
              <a:ext uri="{FF2B5EF4-FFF2-40B4-BE49-F238E27FC236}">
                <a16:creationId xmlns:a16="http://schemas.microsoft.com/office/drawing/2014/main" id="{264CD1FF-4B29-4991-BDD0-67346F0FAAA8}"/>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7">
            <a:extLst xmlns:a="http://schemas.openxmlformats.org/drawingml/2006/main">
              <a:ext uri="{FF2B5EF4-FFF2-40B4-BE49-F238E27FC236}">
                <a16:creationId xmlns:a16="http://schemas.microsoft.com/office/drawing/2014/main" id="{FE161A50-4A62-4675-BABF-D9325ABDDE09}"/>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informalidade e barreiras à formalização e os custos/incentivos de mercado apontados pelo liberal.</a:t>
            </a:r>
          </a:p>
        </p:txBody>
      </p:sp>
      <p:sp>
        <p:nvSpPr>
          <p:cNvPr id="25" name="j-verd-box-7">
            <a:extLst xmlns:a="http://schemas.openxmlformats.org/drawingml/2006/main">
              <a:ext uri="{FF2B5EF4-FFF2-40B4-BE49-F238E27FC236}">
                <a16:creationId xmlns:a16="http://schemas.microsoft.com/office/drawing/2014/main" id="{4E8ADA0B-4760-4986-BC86-52471566E134}"/>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7">
            <a:extLst xmlns:a="http://schemas.openxmlformats.org/drawingml/2006/main">
              <a:ext uri="{FF2B5EF4-FFF2-40B4-BE49-F238E27FC236}">
                <a16:creationId xmlns:a16="http://schemas.microsoft.com/office/drawing/2014/main" id="{65D9C434-FB42-4A23-A6E3-6B7E087253A9}"/>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7">
            <a:extLst xmlns:a="http://schemas.openxmlformats.org/drawingml/2006/main">
              <a:ext uri="{FF2B5EF4-FFF2-40B4-BE49-F238E27FC236}">
                <a16:creationId xmlns:a16="http://schemas.microsoft.com/office/drawing/2014/main" id="{00EA19D9-3A48-429F-A4CA-7370056CB143}"/>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informalidade e barreiras à formalização,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7">
            <a:extLst xmlns:a="http://schemas.openxmlformats.org/drawingml/2006/main">
              <a:ext uri="{FF2B5EF4-FFF2-40B4-BE49-F238E27FC236}">
                <a16:creationId xmlns:a16="http://schemas.microsoft.com/office/drawing/2014/main" id="{335599CB-ED69-4CE0-82E7-2A75413CE722}"/>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7">
            <a:extLst xmlns:a="http://schemas.openxmlformats.org/drawingml/2006/main">
              <a:ext uri="{FF2B5EF4-FFF2-40B4-BE49-F238E27FC236}">
                <a16:creationId xmlns:a16="http://schemas.microsoft.com/office/drawing/2014/main" id="{61EF364C-E345-47F8-BAE7-EF540089AACD}"/>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7">
            <a:extLst xmlns:a="http://schemas.openxmlformats.org/drawingml/2006/main">
              <a:ext uri="{FF2B5EF4-FFF2-40B4-BE49-F238E27FC236}">
                <a16:creationId xmlns:a16="http://schemas.microsoft.com/office/drawing/2014/main" id="{1ABF22E3-B8BC-4D5B-A821-BD34D95D6512}"/>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informalidade e barreiras à formalização, incorporar cláusula de transição faseada com incentivo à conformidade voluntária e repartição de encargos entre empregadores, poder público e fundos solidários, mitigando os custos apontados pelo liberal.</a:t>
            </a:r>
          </a:p>
        </p:txBody>
      </p:sp>
      <p:sp>
        <p:nvSpPr>
          <p:cNvPr id="31" name="j-pend-box-7">
            <a:extLst xmlns:a="http://schemas.openxmlformats.org/drawingml/2006/main">
              <a:ext uri="{FF2B5EF4-FFF2-40B4-BE49-F238E27FC236}">
                <a16:creationId xmlns:a16="http://schemas.microsoft.com/office/drawing/2014/main" id="{C04F9FDF-E4D1-4D40-AF64-F2D251A6C807}"/>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7">
            <a:extLst xmlns:a="http://schemas.openxmlformats.org/drawingml/2006/main">
              <a:ext uri="{FF2B5EF4-FFF2-40B4-BE49-F238E27FC236}">
                <a16:creationId xmlns:a16="http://schemas.microsoft.com/office/drawing/2014/main" id="{A6B6E93A-C233-4C39-BD0A-A8F0C0086100}"/>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7">
            <a:extLst xmlns:a="http://schemas.openxmlformats.org/drawingml/2006/main">
              <a:ext uri="{FF2B5EF4-FFF2-40B4-BE49-F238E27FC236}">
                <a16:creationId xmlns:a16="http://schemas.microsoft.com/office/drawing/2014/main" id="{34D7C91D-744F-4F63-9B9E-60816B313E07}"/>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informalidade e barreiras à formalização.</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07 fixou a necessidade de transição gradual e mitigação de custos em informalidade e barreiras à formalização.</a:t>
            </a:r>
          </a:p>
        </p:txBody>
      </p:sp>
      <p:sp>
        <p:nvSpPr>
          <p:cNvPr id="34" name="j-spec-box-7">
            <a:extLst xmlns:a="http://schemas.openxmlformats.org/drawingml/2006/main">
              <a:ext uri="{FF2B5EF4-FFF2-40B4-BE49-F238E27FC236}">
                <a16:creationId xmlns:a16="http://schemas.microsoft.com/office/drawing/2014/main" id="{FCDCCD0C-EE9F-4BCC-A7C5-00FDF40EAAC9}"/>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7">
            <a:extLst xmlns:a="http://schemas.openxmlformats.org/drawingml/2006/main">
              <a:ext uri="{FF2B5EF4-FFF2-40B4-BE49-F238E27FC236}">
                <a16:creationId xmlns:a16="http://schemas.microsoft.com/office/drawing/2014/main" id="{14DE1521-AB2C-4B6A-B281-D24656F49C78}"/>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7">
            <a:extLst xmlns:a="http://schemas.openxmlformats.org/drawingml/2006/main">
              <a:ext uri="{FF2B5EF4-FFF2-40B4-BE49-F238E27FC236}">
                <a16:creationId xmlns:a16="http://schemas.microsoft.com/office/drawing/2014/main" id="{3E95320B-0494-46C7-9510-541C0215B732}"/>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2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08.</a:t>
            </a:r>
          </a:p>
        </p:txBody>
      </p:sp>
    </p:spTree>
    <p:extLst>
      <p:ext uri="{BB962C8B-B14F-4D97-AF65-F5344CB8AC3E}">
        <p14:creationId xmlns:p14="http://schemas.microsoft.com/office/powerpoint/2010/main" val="20326142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41E84F96-2CED-4B18-AD34-21EC1167E6BC}"/>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AB8FF15F-52F7-46A6-878F-0A74926D3CC2}"/>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5F61B5F4-B732-4460-8F10-189B6B78F20C}"/>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08 · NEGOCIAÇÃO COLETIVA E REPRESENTATIVIDADE</a:t>
            </a:r>
          </a:p>
        </p:txBody>
      </p:sp>
      <p:sp>
        <p:nvSpPr>
          <p:cNvPr id="4" name="header-sub">
            <a:extLst xmlns:a="http://schemas.openxmlformats.org/drawingml/2006/main">
              <a:ext uri="{FF2B5EF4-FFF2-40B4-BE49-F238E27FC236}">
                <a16:creationId xmlns:a16="http://schemas.microsoft.com/office/drawing/2014/main" id="{4D0D5887-444F-4E23-B753-C4AC80F1A730}"/>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assegurar acordos legítimos e dinâmicos garantindo representação para trabalhadores não sindicalizados e terceirizados?</a:t>
            </a:r>
          </a:p>
        </p:txBody>
      </p:sp>
      <p:sp>
        <p:nvSpPr>
          <p:cNvPr id="5" name="footer-rule">
            <a:extLst xmlns:a="http://schemas.openxmlformats.org/drawingml/2006/main">
              <a:ext uri="{FF2B5EF4-FFF2-40B4-BE49-F238E27FC236}">
                <a16:creationId xmlns:a16="http://schemas.microsoft.com/office/drawing/2014/main" id="{89A8120D-7D9E-4C65-AD31-7BC400E849A5}"/>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4F93FD77-D64E-4CD5-B12A-3F737B611AA9}"/>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D6B02F00-42FC-4F4A-BA64-05A1130410E0}"/>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12</a:t>
            </a:r>
          </a:p>
        </p:txBody>
      </p:sp>
      <p:sp>
        <p:nvSpPr>
          <p:cNvPr id="8" name="left-hdr-8">
            <a:extLst xmlns:a="http://schemas.openxmlformats.org/drawingml/2006/main">
              <a:ext uri="{FF2B5EF4-FFF2-40B4-BE49-F238E27FC236}">
                <a16:creationId xmlns:a16="http://schemas.microsoft.com/office/drawing/2014/main" id="{E76D7FB6-1BC4-41A3-8849-0BC0950858A5}"/>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8">
            <a:extLst xmlns:a="http://schemas.openxmlformats.org/drawingml/2006/main">
              <a:ext uri="{FF2B5EF4-FFF2-40B4-BE49-F238E27FC236}">
                <a16:creationId xmlns:a16="http://schemas.microsoft.com/office/drawing/2014/main" id="{8EB9163D-76EB-48F8-9C5E-27190A0B1124}"/>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8">
            <a:extLst xmlns:a="http://schemas.openxmlformats.org/drawingml/2006/main">
              <a:ext uri="{FF2B5EF4-FFF2-40B4-BE49-F238E27FC236}">
                <a16:creationId xmlns:a16="http://schemas.microsoft.com/office/drawing/2014/main" id="{741311B4-6979-41EE-BB32-B5EB96D82921}"/>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8">
            <a:extLst xmlns:a="http://schemas.openxmlformats.org/drawingml/2006/main">
              <a:ext uri="{FF2B5EF4-FFF2-40B4-BE49-F238E27FC236}">
                <a16:creationId xmlns:a16="http://schemas.microsoft.com/office/drawing/2014/main" id="{0B3DF283-6BEE-408E-91FB-9CE7AB981418}"/>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07 fixou a necessidade de transição gradual e mitigação de custos em informalidade e barreiras à formalização.'): A negociação coletiva através de sindicatos representativos e legítimos é o motor da distribuição equitativa dos ganhos de produtividade. A prevalência do negociado sobre o legislado só é aceitável quando amplia direitos ou quando respaldada por assembleias amplas, com participação de trabalhadores terceirizados e não sindicalizados.</a:t>
            </a:r>
          </a:p>
        </p:txBody>
      </p:sp>
      <p:sp>
        <p:nvSpPr>
          <p:cNvPr id="12" name="t1-a2-box-8">
            <a:extLst xmlns:a="http://schemas.openxmlformats.org/drawingml/2006/main">
              <a:ext uri="{FF2B5EF4-FFF2-40B4-BE49-F238E27FC236}">
                <a16:creationId xmlns:a16="http://schemas.microsoft.com/office/drawing/2014/main" id="{FD04E79B-D355-4625-8C70-4FE71BBC63A9}"/>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8">
            <a:extLst xmlns:a="http://schemas.openxmlformats.org/drawingml/2006/main">
              <a:ext uri="{FF2B5EF4-FFF2-40B4-BE49-F238E27FC236}">
                <a16:creationId xmlns:a16="http://schemas.microsoft.com/office/drawing/2014/main" id="{6B6C0C8B-5086-4D5D-B673-AD5331EE9991}"/>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8">
            <a:extLst xmlns:a="http://schemas.openxmlformats.org/drawingml/2006/main">
              <a:ext uri="{FF2B5EF4-FFF2-40B4-BE49-F238E27FC236}">
                <a16:creationId xmlns:a16="http://schemas.microsoft.com/office/drawing/2014/main" id="{1DD0DC3D-E980-4F32-B020-D43B1B73B8C7}"/>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representação dos trabalhadores não sindicalizados e terceirizados pode levar a negociações injustas que beneficiem apenas os mais influentes, potencialmente prejudicando esses grupos.</a:t>
            </a:r>
          </a:p>
          <a:p xmlns:a="http://schemas.openxmlformats.org/drawingml/2006/main">
            <a:pPr algn="l">
              <a:lnSpc>
                <a:spcPct val="115000"/>
              </a:lnSpc>
              <a:buNone/>
              <a:defRPr sz="900" b="0" i="0">
                <a:solidFill>
                  <a:srgbClr val="0F172A"/>
                </a:solidFill>
              </a:defRPr>
            </a:pPr>
            <a:r>
              <a:rPr sz="900" b="0" i="0">
                <a:solidFill>
                  <a:srgbClr val="0F172A"/>
                </a:solidFill>
              </a:rPr>
              <a:t>Pergunta: Quais são as alternativas para garantir transparência na distribuição de ganhos em contratos sem sindicalização?</a:t>
            </a:r>
          </a:p>
        </p:txBody>
      </p:sp>
      <p:sp>
        <p:nvSpPr>
          <p:cNvPr id="15" name="t2-a2-box-8">
            <a:extLst xmlns:a="http://schemas.openxmlformats.org/drawingml/2006/main">
              <a:ext uri="{FF2B5EF4-FFF2-40B4-BE49-F238E27FC236}">
                <a16:creationId xmlns:a16="http://schemas.microsoft.com/office/drawing/2014/main" id="{79362DEF-0D11-48FB-B0D0-D3C87F43E948}"/>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8">
            <a:extLst xmlns:a="http://schemas.openxmlformats.org/drawingml/2006/main">
              <a:ext uri="{FF2B5EF4-FFF2-40B4-BE49-F238E27FC236}">
                <a16:creationId xmlns:a16="http://schemas.microsoft.com/office/drawing/2014/main" id="{4605378E-715C-4C3B-ACFA-74BA067D392D}"/>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8">
            <a:extLst xmlns:a="http://schemas.openxmlformats.org/drawingml/2006/main">
              <a:ext uri="{FF2B5EF4-FFF2-40B4-BE49-F238E27FC236}">
                <a16:creationId xmlns:a16="http://schemas.microsoft.com/office/drawing/2014/main" id="{54CD58C3-63B6-4619-88A8-70D13EC932B6}"/>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transparência nas negociações coletivas pode resultar em acordos que beneficiem apenas os sindicalizados, prejudicando minorias funcionais e a efetiva representação dos trabalhadores.</a:t>
            </a:r>
          </a:p>
          <a:p xmlns:a="http://schemas.openxmlformats.org/drawingml/2006/main">
            <a:pPr algn="l">
              <a:lnSpc>
                <a:spcPct val="115000"/>
              </a:lnSpc>
              <a:buNone/>
              <a:defRPr sz="900" b="0" i="0">
                <a:solidFill>
                  <a:srgbClr val="0F172A"/>
                </a:solidFill>
              </a:defRPr>
            </a:pPr>
            <a:r>
              <a:rPr sz="900" b="0" i="0">
                <a:solidFill>
                  <a:srgbClr val="0F172A"/>
                </a:solidFill>
              </a:rPr>
              <a:t>Pergunta: Como as empresas podem garantir uma distribuição justa das ganhos sem ter que se submeter à negociação coletiva com o Sindicato?</a:t>
            </a:r>
          </a:p>
        </p:txBody>
      </p:sp>
      <p:sp>
        <p:nvSpPr>
          <p:cNvPr id="18" name="t2-a1-box-8">
            <a:extLst xmlns:a="http://schemas.openxmlformats.org/drawingml/2006/main">
              <a:ext uri="{FF2B5EF4-FFF2-40B4-BE49-F238E27FC236}">
                <a16:creationId xmlns:a16="http://schemas.microsoft.com/office/drawing/2014/main" id="{216A568E-B829-4F55-AFE4-8C101E5E9A66}"/>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8">
            <a:extLst xmlns:a="http://schemas.openxmlformats.org/drawingml/2006/main">
              <a:ext uri="{FF2B5EF4-FFF2-40B4-BE49-F238E27FC236}">
                <a16:creationId xmlns:a16="http://schemas.microsoft.com/office/drawing/2014/main" id="{44D27B2A-BFD2-4972-95C8-A60EE4716CBB}"/>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8">
            <a:extLst xmlns:a="http://schemas.openxmlformats.org/drawingml/2006/main">
              <a:ext uri="{FF2B5EF4-FFF2-40B4-BE49-F238E27FC236}">
                <a16:creationId xmlns:a16="http://schemas.microsoft.com/office/drawing/2014/main" id="{ED0FE195-1CED-49B2-BC26-C23F7D3A8040}"/>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falta de representação dos trabalhadores não sindicalizados e terceirizados pode levar a negociações injustas q...'), propomos que a implementação não seja abrupta nem cega à capacidade financeira dos negócios, adotando crédito presumido de transição e escalonamento setorial. Em relação ao segundo ponto levantado sobre validade de acordos individuais e representação de minorias funcionais na empresa ('Risco: A falta de transparência nas negociações coletivas pode resultar em acordos que beneficiem apenas os sindicalizad...'),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8">
            <a:extLst xmlns:a="http://schemas.openxmlformats.org/drawingml/2006/main">
              <a:ext uri="{FF2B5EF4-FFF2-40B4-BE49-F238E27FC236}">
                <a16:creationId xmlns:a16="http://schemas.microsoft.com/office/drawing/2014/main" id="{548149D3-FD3E-4314-8CD5-9410C3288BC7}"/>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8">
            <a:extLst xmlns:a="http://schemas.openxmlformats.org/drawingml/2006/main">
              <a:ext uri="{FF2B5EF4-FFF2-40B4-BE49-F238E27FC236}">
                <a16:creationId xmlns:a16="http://schemas.microsoft.com/office/drawing/2014/main" id="{4CEB839E-E2FA-4A2B-B9B0-A31F26A233AF}"/>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8">
            <a:extLst xmlns:a="http://schemas.openxmlformats.org/drawingml/2006/main">
              <a:ext uri="{FF2B5EF4-FFF2-40B4-BE49-F238E27FC236}">
                <a16:creationId xmlns:a16="http://schemas.microsoft.com/office/drawing/2014/main" id="{21C47D14-B728-41CB-8BF5-78F676F98484}"/>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8">
            <a:extLst xmlns:a="http://schemas.openxmlformats.org/drawingml/2006/main">
              <a:ext uri="{FF2B5EF4-FFF2-40B4-BE49-F238E27FC236}">
                <a16:creationId xmlns:a16="http://schemas.microsoft.com/office/drawing/2014/main" id="{A82F9B84-F381-4A2D-B851-BD08046797F2}"/>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negociação coletiva e representatividade e os custos/incentivos de mercado apontados pelo liberal.</a:t>
            </a:r>
          </a:p>
        </p:txBody>
      </p:sp>
      <p:sp>
        <p:nvSpPr>
          <p:cNvPr id="25" name="j-verd-box-8">
            <a:extLst xmlns:a="http://schemas.openxmlformats.org/drawingml/2006/main">
              <a:ext uri="{FF2B5EF4-FFF2-40B4-BE49-F238E27FC236}">
                <a16:creationId xmlns:a16="http://schemas.microsoft.com/office/drawing/2014/main" id="{D70CA15C-54BA-43F9-858A-23BCB6362174}"/>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8">
            <a:extLst xmlns:a="http://schemas.openxmlformats.org/drawingml/2006/main">
              <a:ext uri="{FF2B5EF4-FFF2-40B4-BE49-F238E27FC236}">
                <a16:creationId xmlns:a16="http://schemas.microsoft.com/office/drawing/2014/main" id="{23607E9D-39E3-4092-AD44-25759C30CF71}"/>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8">
            <a:extLst xmlns:a="http://schemas.openxmlformats.org/drawingml/2006/main">
              <a:ext uri="{FF2B5EF4-FFF2-40B4-BE49-F238E27FC236}">
                <a16:creationId xmlns:a16="http://schemas.microsoft.com/office/drawing/2014/main" id="{9F080677-8667-4B62-A964-5D03CF7DF4F5}"/>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negociação coletiva e representatividade,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8">
            <a:extLst xmlns:a="http://schemas.openxmlformats.org/drawingml/2006/main">
              <a:ext uri="{FF2B5EF4-FFF2-40B4-BE49-F238E27FC236}">
                <a16:creationId xmlns:a16="http://schemas.microsoft.com/office/drawing/2014/main" id="{6AFCD69C-76C7-4407-A66D-706F4FC9E9A1}"/>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8">
            <a:extLst xmlns:a="http://schemas.openxmlformats.org/drawingml/2006/main">
              <a:ext uri="{FF2B5EF4-FFF2-40B4-BE49-F238E27FC236}">
                <a16:creationId xmlns:a16="http://schemas.microsoft.com/office/drawing/2014/main" id="{F98F4A5A-5F8A-4B46-B658-2B2A5F58415E}"/>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8">
            <a:extLst xmlns:a="http://schemas.openxmlformats.org/drawingml/2006/main">
              <a:ext uri="{FF2B5EF4-FFF2-40B4-BE49-F238E27FC236}">
                <a16:creationId xmlns:a16="http://schemas.microsoft.com/office/drawing/2014/main" id="{B39E5F3E-ACF1-4DCE-88CD-DDA5DC58AC43}"/>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negociação coletiva e representatividade, incorporar cláusula de transição faseada com incentivo à conformidade voluntária e repartição de encargos entre empregadores, poder público e fundos solidários, mitigando os custos apontados pelo liberal.</a:t>
            </a:r>
          </a:p>
        </p:txBody>
      </p:sp>
      <p:sp>
        <p:nvSpPr>
          <p:cNvPr id="31" name="j-pend-box-8">
            <a:extLst xmlns:a="http://schemas.openxmlformats.org/drawingml/2006/main">
              <a:ext uri="{FF2B5EF4-FFF2-40B4-BE49-F238E27FC236}">
                <a16:creationId xmlns:a16="http://schemas.microsoft.com/office/drawing/2014/main" id="{27DC8A10-1A10-44B7-B157-3A03FE96AD13}"/>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8">
            <a:extLst xmlns:a="http://schemas.openxmlformats.org/drawingml/2006/main">
              <a:ext uri="{FF2B5EF4-FFF2-40B4-BE49-F238E27FC236}">
                <a16:creationId xmlns:a16="http://schemas.microsoft.com/office/drawing/2014/main" id="{91E30239-9C47-40B6-98C1-BD5BD2C5B063}"/>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8">
            <a:extLst xmlns:a="http://schemas.openxmlformats.org/drawingml/2006/main">
              <a:ext uri="{FF2B5EF4-FFF2-40B4-BE49-F238E27FC236}">
                <a16:creationId xmlns:a16="http://schemas.microsoft.com/office/drawing/2014/main" id="{8D0CF43F-6FF2-42B4-87EF-37CD83110A84}"/>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negociação coletiva e representatividade.</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08 fixou a necessidade de transição gradual e mitigação de custos em negociação coletiva e representatividade.</a:t>
            </a:r>
          </a:p>
        </p:txBody>
      </p:sp>
      <p:sp>
        <p:nvSpPr>
          <p:cNvPr id="34" name="j-spec-box-8">
            <a:extLst xmlns:a="http://schemas.openxmlformats.org/drawingml/2006/main">
              <a:ext uri="{FF2B5EF4-FFF2-40B4-BE49-F238E27FC236}">
                <a16:creationId xmlns:a16="http://schemas.microsoft.com/office/drawing/2014/main" id="{0E503BB1-D72F-4CED-960B-E76C7B382200}"/>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8">
            <a:extLst xmlns:a="http://schemas.openxmlformats.org/drawingml/2006/main">
              <a:ext uri="{FF2B5EF4-FFF2-40B4-BE49-F238E27FC236}">
                <a16:creationId xmlns:a16="http://schemas.microsoft.com/office/drawing/2014/main" id="{55526988-068D-48A4-8E0C-914F00C29366}"/>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8">
            <a:extLst xmlns:a="http://schemas.openxmlformats.org/drawingml/2006/main">
              <a:ext uri="{FF2B5EF4-FFF2-40B4-BE49-F238E27FC236}">
                <a16:creationId xmlns:a16="http://schemas.microsoft.com/office/drawing/2014/main" id="{FB054568-C4CC-4AAF-B740-6054AE095A45}"/>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09.</a:t>
            </a:r>
          </a:p>
        </p:txBody>
      </p:sp>
    </p:spTree>
    <p:extLst>
      <p:ext uri="{BB962C8B-B14F-4D97-AF65-F5344CB8AC3E}">
        <p14:creationId xmlns:p14="http://schemas.microsoft.com/office/powerpoint/2010/main" val="135018869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CED5A8AE-4EBE-421A-90E3-3218B99B4789}"/>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D29BAE82-5DE1-49A0-815D-6B9A83CCE279}"/>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18E9E192-8BDC-44E3-A318-A45666DC5AF5}"/>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09 · SAÚDE OCUPACIONAL E PREVENÇÃO DE ACIDENTES</a:t>
            </a:r>
          </a:p>
        </p:txBody>
      </p:sp>
      <p:sp>
        <p:nvSpPr>
          <p:cNvPr id="4" name="header-sub">
            <a:extLst xmlns:a="http://schemas.openxmlformats.org/drawingml/2006/main">
              <a:ext uri="{FF2B5EF4-FFF2-40B4-BE49-F238E27FC236}">
                <a16:creationId xmlns:a16="http://schemas.microsoft.com/office/drawing/2014/main" id="{B9006D85-2011-4A4D-8E6F-63DA5ED417AE}"/>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estabelecer normas preventivas rigorosas e verificáveis sem criar entraves operacionais desproporcionais?</a:t>
            </a:r>
          </a:p>
        </p:txBody>
      </p:sp>
      <p:sp>
        <p:nvSpPr>
          <p:cNvPr id="5" name="footer-rule">
            <a:extLst xmlns:a="http://schemas.openxmlformats.org/drawingml/2006/main">
              <a:ext uri="{FF2B5EF4-FFF2-40B4-BE49-F238E27FC236}">
                <a16:creationId xmlns:a16="http://schemas.microsoft.com/office/drawing/2014/main" id="{33E68ED9-50F4-4655-B087-D4D8F2DC73E8}"/>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F4032087-9D68-4E6C-9187-013430F4A7BE}"/>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DE3215B8-89EC-4B64-9330-F0CDC49944BC}"/>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13</a:t>
            </a:r>
          </a:p>
        </p:txBody>
      </p:sp>
      <p:sp>
        <p:nvSpPr>
          <p:cNvPr id="8" name="left-hdr-9">
            <a:extLst xmlns:a="http://schemas.openxmlformats.org/drawingml/2006/main">
              <a:ext uri="{FF2B5EF4-FFF2-40B4-BE49-F238E27FC236}">
                <a16:creationId xmlns:a16="http://schemas.microsoft.com/office/drawing/2014/main" id="{52AC513E-BAAB-4EE6-9193-EBE7A3B50D8C}"/>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9">
            <a:extLst xmlns:a="http://schemas.openxmlformats.org/drawingml/2006/main">
              <a:ext uri="{FF2B5EF4-FFF2-40B4-BE49-F238E27FC236}">
                <a16:creationId xmlns:a16="http://schemas.microsoft.com/office/drawing/2014/main" id="{A34AA815-2D6F-4C02-AA57-FE238BFAC2E1}"/>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9">
            <a:extLst xmlns:a="http://schemas.openxmlformats.org/drawingml/2006/main">
              <a:ext uri="{FF2B5EF4-FFF2-40B4-BE49-F238E27FC236}">
                <a16:creationId xmlns:a16="http://schemas.microsoft.com/office/drawing/2014/main" id="{D5A67FB3-3299-4682-8DE4-124AEF0F3D9D}"/>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9">
            <a:extLst xmlns:a="http://schemas.openxmlformats.org/drawingml/2006/main">
              <a:ext uri="{FF2B5EF4-FFF2-40B4-BE49-F238E27FC236}">
                <a16:creationId xmlns:a16="http://schemas.microsoft.com/office/drawing/2014/main" id="{29858B0E-D9C3-40D3-8C48-5A5E79F450FB}"/>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08 fixou a necessidade de transição gradual e mitigação de custos em negociação coletiva e representatividade.'): Normas Regulamentadoras (NRs) de saúde e segurança ocupacional devem ser rigorosamente fiscalizadas, com poder de embargo imediato em situações de risco grave e iminente. O custo da prevenção primária é infinitamente inferior aos prejuízos humanos, médicos e previdenciários causados por acidentes de trabalho e doenças laborais evitáveis.</a:t>
            </a:r>
          </a:p>
        </p:txBody>
      </p:sp>
      <p:sp>
        <p:nvSpPr>
          <p:cNvPr id="12" name="t1-a2-box-9">
            <a:extLst xmlns:a="http://schemas.openxmlformats.org/drawingml/2006/main">
              <a:ext uri="{FF2B5EF4-FFF2-40B4-BE49-F238E27FC236}">
                <a16:creationId xmlns:a16="http://schemas.microsoft.com/office/drawing/2014/main" id="{65E8DFAE-C818-4C1B-89DB-4D944F1C6BAB}"/>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9">
            <a:extLst xmlns:a="http://schemas.openxmlformats.org/drawingml/2006/main">
              <a:ext uri="{FF2B5EF4-FFF2-40B4-BE49-F238E27FC236}">
                <a16:creationId xmlns:a16="http://schemas.microsoft.com/office/drawing/2014/main" id="{5D259F3C-75F2-4D2E-8F56-C6875AF38BD5}"/>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9">
            <a:extLst xmlns:a="http://schemas.openxmlformats.org/drawingml/2006/main">
              <a:ext uri="{FF2B5EF4-FFF2-40B4-BE49-F238E27FC236}">
                <a16:creationId xmlns:a16="http://schemas.microsoft.com/office/drawing/2014/main" id="{9C9F5FA4-1603-45EB-8DF0-C4B60CCB10E6}"/>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Custo excessivo para empresas em investimentos preventivos pode levar a redução da oferta de empregos, aumentando o desemprego.</a:t>
            </a:r>
          </a:p>
          <a:p xmlns:a="http://schemas.openxmlformats.org/drawingml/2006/main">
            <a:pPr algn="l">
              <a:lnSpc>
                <a:spcPct val="115000"/>
              </a:lnSpc>
              <a:buNone/>
              <a:defRPr sz="900" b="0" i="0">
                <a:solidFill>
                  <a:srgbClr val="0F172A"/>
                </a:solidFill>
              </a:defRPr>
            </a:pPr>
            <a:r>
              <a:rPr sz="900" b="0" i="0">
                <a:solidFill>
                  <a:srgbClr val="0F172A"/>
                </a:solidFill>
              </a:rPr>
              <a:t>Pergunta: Como manter rigorosos padrões de saúde ocupacional sem prejudicar negociações coletivas e representatividade?</a:t>
            </a:r>
          </a:p>
        </p:txBody>
      </p:sp>
      <p:sp>
        <p:nvSpPr>
          <p:cNvPr id="15" name="t2-a2-box-9">
            <a:extLst xmlns:a="http://schemas.openxmlformats.org/drawingml/2006/main">
              <a:ext uri="{FF2B5EF4-FFF2-40B4-BE49-F238E27FC236}">
                <a16:creationId xmlns:a16="http://schemas.microsoft.com/office/drawing/2014/main" id="{E5DFE7EC-7FEA-475B-9236-1464040E8951}"/>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9">
            <a:extLst xmlns:a="http://schemas.openxmlformats.org/drawingml/2006/main">
              <a:ext uri="{FF2B5EF4-FFF2-40B4-BE49-F238E27FC236}">
                <a16:creationId xmlns:a16="http://schemas.microsoft.com/office/drawing/2014/main" id="{0A4E7001-6064-440D-93D9-910B8F5EC803}"/>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9">
            <a:extLst xmlns:a="http://schemas.openxmlformats.org/drawingml/2006/main">
              <a:ext uri="{FF2B5EF4-FFF2-40B4-BE49-F238E27FC236}">
                <a16:creationId xmlns:a16="http://schemas.microsoft.com/office/drawing/2014/main" id="{64684A22-1C56-4A6F-BA1A-A01D0EA98602}"/>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fiscalização orientada pode ser prejudicial ao ambiente produtivo, afetando negociações coletivas e compromissos trabalhistas.</a:t>
            </a:r>
          </a:p>
          <a:p xmlns:a="http://schemas.openxmlformats.org/drawingml/2006/main">
            <a:pPr algn="l">
              <a:lnSpc>
                <a:spcPct val="115000"/>
              </a:lnSpc>
              <a:buNone/>
              <a:defRPr sz="900" b="0" i="0">
                <a:solidFill>
                  <a:srgbClr val="0F172A"/>
                </a:solidFill>
              </a:defRPr>
            </a:pPr>
            <a:r>
              <a:rPr sz="900" b="0" i="0">
                <a:solidFill>
                  <a:srgbClr val="0F172A"/>
                </a:solidFill>
              </a:rPr>
              <a:t>Pergunta: Como implementar eficazmente a fiscalização preventiva sem penalizar as empresas com alto índice de sinistralidade?</a:t>
            </a:r>
          </a:p>
        </p:txBody>
      </p:sp>
      <p:sp>
        <p:nvSpPr>
          <p:cNvPr id="18" name="t2-a1-box-9">
            <a:extLst xmlns:a="http://schemas.openxmlformats.org/drawingml/2006/main">
              <a:ext uri="{FF2B5EF4-FFF2-40B4-BE49-F238E27FC236}">
                <a16:creationId xmlns:a16="http://schemas.microsoft.com/office/drawing/2014/main" id="{375EFD5E-8A1A-4AD4-BDF8-F96FF6A5ACC4}"/>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9">
            <a:extLst xmlns:a="http://schemas.openxmlformats.org/drawingml/2006/main">
              <a:ext uri="{FF2B5EF4-FFF2-40B4-BE49-F238E27FC236}">
                <a16:creationId xmlns:a16="http://schemas.microsoft.com/office/drawing/2014/main" id="{150A0E82-3542-451B-81F6-5B3E45AC9458}"/>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9">
            <a:extLst xmlns:a="http://schemas.openxmlformats.org/drawingml/2006/main">
              <a:ext uri="{FF2B5EF4-FFF2-40B4-BE49-F238E27FC236}">
                <a16:creationId xmlns:a16="http://schemas.microsoft.com/office/drawing/2014/main" id="{CF8BD116-DDAD-4114-9486-26B57CF8B97E}"/>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Custo excessivo para empresas em investimentos preventivos pode levar a redução da oferta de empregos, aumentando...'), propomos que a implementação não seja abrupta nem cega à capacidade financeira dos negócios, adotando crédito presumido de transição e escalonamento setorial. Em relação ao segundo ponto levantado sobre fiscalização orientadora e incentivos fiscais para empresas com baixo índice de sinistralidade ('Risco: A fiscalização orientada pode ser prejudicial ao ambiente produtivo, afetando negociações coletivas e compromisso...'),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9">
            <a:extLst xmlns:a="http://schemas.openxmlformats.org/drawingml/2006/main">
              <a:ext uri="{FF2B5EF4-FFF2-40B4-BE49-F238E27FC236}">
                <a16:creationId xmlns:a16="http://schemas.microsoft.com/office/drawing/2014/main" id="{67F66307-DB98-4E89-B793-2E3575A0BC5B}"/>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9">
            <a:extLst xmlns:a="http://schemas.openxmlformats.org/drawingml/2006/main">
              <a:ext uri="{FF2B5EF4-FFF2-40B4-BE49-F238E27FC236}">
                <a16:creationId xmlns:a16="http://schemas.microsoft.com/office/drawing/2014/main" id="{56B7764A-1069-4D0D-B36B-185D3B410C2F}"/>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9">
            <a:extLst xmlns:a="http://schemas.openxmlformats.org/drawingml/2006/main">
              <a:ext uri="{FF2B5EF4-FFF2-40B4-BE49-F238E27FC236}">
                <a16:creationId xmlns:a16="http://schemas.microsoft.com/office/drawing/2014/main" id="{7AF4F3B3-8161-4559-B865-85A0AD135A2E}"/>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9">
            <a:extLst xmlns:a="http://schemas.openxmlformats.org/drawingml/2006/main">
              <a:ext uri="{FF2B5EF4-FFF2-40B4-BE49-F238E27FC236}">
                <a16:creationId xmlns:a16="http://schemas.microsoft.com/office/drawing/2014/main" id="{94C8C665-EA8F-41B9-828B-C7E50F0438F9}"/>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saúde ocupacional e prevenção de acidentes e os custos/incentivos de mercado apontados pelo liberal.</a:t>
            </a:r>
          </a:p>
        </p:txBody>
      </p:sp>
      <p:sp>
        <p:nvSpPr>
          <p:cNvPr id="25" name="j-verd-box-9">
            <a:extLst xmlns:a="http://schemas.openxmlformats.org/drawingml/2006/main">
              <a:ext uri="{FF2B5EF4-FFF2-40B4-BE49-F238E27FC236}">
                <a16:creationId xmlns:a16="http://schemas.microsoft.com/office/drawing/2014/main" id="{D9F3585A-00C1-4E2D-A10B-CA76AB930633}"/>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9">
            <a:extLst xmlns:a="http://schemas.openxmlformats.org/drawingml/2006/main">
              <a:ext uri="{FF2B5EF4-FFF2-40B4-BE49-F238E27FC236}">
                <a16:creationId xmlns:a16="http://schemas.microsoft.com/office/drawing/2014/main" id="{5413FD85-32A8-4AA1-A4C0-F58067595748}"/>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9">
            <a:extLst xmlns:a="http://schemas.openxmlformats.org/drawingml/2006/main">
              <a:ext uri="{FF2B5EF4-FFF2-40B4-BE49-F238E27FC236}">
                <a16:creationId xmlns:a16="http://schemas.microsoft.com/office/drawing/2014/main" id="{62EC3C0F-25D6-4D1A-A7A7-420F23C6B82E}"/>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saúde ocupacional e prevenção de acidentes,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9">
            <a:extLst xmlns:a="http://schemas.openxmlformats.org/drawingml/2006/main">
              <a:ext uri="{FF2B5EF4-FFF2-40B4-BE49-F238E27FC236}">
                <a16:creationId xmlns:a16="http://schemas.microsoft.com/office/drawing/2014/main" id="{32D1163F-8FB8-4E2E-81B2-D4B81C9D9686}"/>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9">
            <a:extLst xmlns:a="http://schemas.openxmlformats.org/drawingml/2006/main">
              <a:ext uri="{FF2B5EF4-FFF2-40B4-BE49-F238E27FC236}">
                <a16:creationId xmlns:a16="http://schemas.microsoft.com/office/drawing/2014/main" id="{DDABD109-128C-471B-B93F-F37089455E9F}"/>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9">
            <a:extLst xmlns:a="http://schemas.openxmlformats.org/drawingml/2006/main">
              <a:ext uri="{FF2B5EF4-FFF2-40B4-BE49-F238E27FC236}">
                <a16:creationId xmlns:a16="http://schemas.microsoft.com/office/drawing/2014/main" id="{5374958E-A5BA-4709-9112-B955858784AC}"/>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saúde ocupacional e prevenção de acidentes, incorporar cláusula de transição faseada com incentivo à conformidade voluntária e repartição de encargos entre empregadores, poder público e fundos solidários, mitigando os custos apontados pelo liberal.</a:t>
            </a:r>
          </a:p>
        </p:txBody>
      </p:sp>
      <p:sp>
        <p:nvSpPr>
          <p:cNvPr id="31" name="j-pend-box-9">
            <a:extLst xmlns:a="http://schemas.openxmlformats.org/drawingml/2006/main">
              <a:ext uri="{FF2B5EF4-FFF2-40B4-BE49-F238E27FC236}">
                <a16:creationId xmlns:a16="http://schemas.microsoft.com/office/drawing/2014/main" id="{95075CDF-C05A-455A-AE69-9BF335AE7CB2}"/>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9">
            <a:extLst xmlns:a="http://schemas.openxmlformats.org/drawingml/2006/main">
              <a:ext uri="{FF2B5EF4-FFF2-40B4-BE49-F238E27FC236}">
                <a16:creationId xmlns:a16="http://schemas.microsoft.com/office/drawing/2014/main" id="{AFECD23B-BD37-45AF-93AE-510E009C140F}"/>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9">
            <a:extLst xmlns:a="http://schemas.openxmlformats.org/drawingml/2006/main">
              <a:ext uri="{FF2B5EF4-FFF2-40B4-BE49-F238E27FC236}">
                <a16:creationId xmlns:a16="http://schemas.microsoft.com/office/drawing/2014/main" id="{8DB2719D-69C8-4857-A2E0-AC61B495A1C2}"/>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saúde ocupacional e prevenção de acidentes.</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09 fixou a necessidade de transição gradual e mitigação de custos em saúde ocupacional e prevenção de acidentes.</a:t>
            </a:r>
          </a:p>
        </p:txBody>
      </p:sp>
      <p:sp>
        <p:nvSpPr>
          <p:cNvPr id="34" name="j-spec-box-9">
            <a:extLst xmlns:a="http://schemas.openxmlformats.org/drawingml/2006/main">
              <a:ext uri="{FF2B5EF4-FFF2-40B4-BE49-F238E27FC236}">
                <a16:creationId xmlns:a16="http://schemas.microsoft.com/office/drawing/2014/main" id="{AB000A47-16DA-4FAC-9B5C-84CB038854E3}"/>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9">
            <a:extLst xmlns:a="http://schemas.openxmlformats.org/drawingml/2006/main">
              <a:ext uri="{FF2B5EF4-FFF2-40B4-BE49-F238E27FC236}">
                <a16:creationId xmlns:a16="http://schemas.microsoft.com/office/drawing/2014/main" id="{FF7845DC-C985-45F7-96D0-90B8CA79EDA1}"/>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9">
            <a:extLst xmlns:a="http://schemas.openxmlformats.org/drawingml/2006/main">
              <a:ext uri="{FF2B5EF4-FFF2-40B4-BE49-F238E27FC236}">
                <a16:creationId xmlns:a16="http://schemas.microsoft.com/office/drawing/2014/main" id="{16E9A703-F810-4E54-B24A-A1C314023A20}"/>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2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3 tentativa(s) (Filtros: Ajustado)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10.</a:t>
            </a:r>
          </a:p>
        </p:txBody>
      </p:sp>
    </p:spTree>
    <p:extLst>
      <p:ext uri="{BB962C8B-B14F-4D97-AF65-F5344CB8AC3E}">
        <p14:creationId xmlns:p14="http://schemas.microsoft.com/office/powerpoint/2010/main" val="7149189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AD38827C-AB08-4A5F-9764-18EADA0B9873}"/>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925074A3-198E-4B56-AE5D-B65E9A5F2338}"/>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5FDE4057-B814-4BCB-897C-94B6C7D25188}"/>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10 · PROTEÇÃO SOCIAL PORTÁTIL E TRANSIÇÃO PROFISSIONAL</a:t>
            </a:r>
          </a:p>
        </p:txBody>
      </p:sp>
      <p:sp>
        <p:nvSpPr>
          <p:cNvPr id="4" name="header-sub">
            <a:extLst xmlns:a="http://schemas.openxmlformats.org/drawingml/2006/main">
              <a:ext uri="{FF2B5EF4-FFF2-40B4-BE49-F238E27FC236}">
                <a16:creationId xmlns:a16="http://schemas.microsoft.com/office/drawing/2014/main" id="{C2C732C9-34E6-4CC0-B992-ADAF5E07ECED}"/>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desenhar um sistema em que direitos e fundos previdenciários acompanhem o indivíduo entre múltiplos empregadores?</a:t>
            </a:r>
          </a:p>
        </p:txBody>
      </p:sp>
      <p:sp>
        <p:nvSpPr>
          <p:cNvPr id="5" name="footer-rule">
            <a:extLst xmlns:a="http://schemas.openxmlformats.org/drawingml/2006/main">
              <a:ext uri="{FF2B5EF4-FFF2-40B4-BE49-F238E27FC236}">
                <a16:creationId xmlns:a16="http://schemas.microsoft.com/office/drawing/2014/main" id="{37B784E3-9EEF-4174-8047-719B6A232A2C}"/>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B6DB8ED7-5914-4A70-B793-71F3A0A14C35}"/>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40A95EDB-76C8-48F1-9B26-77A1A5A97B65}"/>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14</a:t>
            </a:r>
          </a:p>
        </p:txBody>
      </p:sp>
      <p:sp>
        <p:nvSpPr>
          <p:cNvPr id="8" name="left-hdr-10">
            <a:extLst xmlns:a="http://schemas.openxmlformats.org/drawingml/2006/main">
              <a:ext uri="{FF2B5EF4-FFF2-40B4-BE49-F238E27FC236}">
                <a16:creationId xmlns:a16="http://schemas.microsoft.com/office/drawing/2014/main" id="{55EEB28F-7C17-4871-A5AB-A1071B9A187F}"/>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10">
            <a:extLst xmlns:a="http://schemas.openxmlformats.org/drawingml/2006/main">
              <a:ext uri="{FF2B5EF4-FFF2-40B4-BE49-F238E27FC236}">
                <a16:creationId xmlns:a16="http://schemas.microsoft.com/office/drawing/2014/main" id="{944D620A-7DC4-4FA5-9DED-3521E268DA1F}"/>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10">
            <a:extLst xmlns:a="http://schemas.openxmlformats.org/drawingml/2006/main">
              <a:ext uri="{FF2B5EF4-FFF2-40B4-BE49-F238E27FC236}">
                <a16:creationId xmlns:a16="http://schemas.microsoft.com/office/drawing/2014/main" id="{A2BEC804-7778-4BA6-9990-FB3911127723}"/>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10">
            <a:extLst xmlns:a="http://schemas.openxmlformats.org/drawingml/2006/main">
              <a:ext uri="{FF2B5EF4-FFF2-40B4-BE49-F238E27FC236}">
                <a16:creationId xmlns:a16="http://schemas.microsoft.com/office/drawing/2014/main" id="{046D59EC-45AD-4C05-A052-84DC410E6040}"/>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09 fixou a necessidade de transição gradual e mitigação de custos em saúde ocupacional e prevenção de acidentes.'): Em um mercado de trabalho dinâmico e flexível, os direitos e fundos previdenciários precisam ser plenamente portáteis. Propomos contas individuais de proteção social vinculadas ao CPF do trabalhador, alimentadas por contribuições proporcionais de qualquer tomador de serviços ou empregador, garantindo continuidade da seguridade ao longo da vida profissional.</a:t>
            </a:r>
          </a:p>
        </p:txBody>
      </p:sp>
      <p:sp>
        <p:nvSpPr>
          <p:cNvPr id="12" name="t1-a2-box-10">
            <a:extLst xmlns:a="http://schemas.openxmlformats.org/drawingml/2006/main">
              <a:ext uri="{FF2B5EF4-FFF2-40B4-BE49-F238E27FC236}">
                <a16:creationId xmlns:a16="http://schemas.microsoft.com/office/drawing/2014/main" id="{7A276A86-4A4C-4BB9-ACD4-B0C87FDD4657}"/>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10">
            <a:extLst xmlns:a="http://schemas.openxmlformats.org/drawingml/2006/main">
              <a:ext uri="{FF2B5EF4-FFF2-40B4-BE49-F238E27FC236}">
                <a16:creationId xmlns:a16="http://schemas.microsoft.com/office/drawing/2014/main" id="{D68A196B-808F-4A8B-B6AB-BA04CE85B635}"/>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10">
            <a:extLst xmlns:a="http://schemas.openxmlformats.org/drawingml/2006/main">
              <a:ext uri="{FF2B5EF4-FFF2-40B4-BE49-F238E27FC236}">
                <a16:creationId xmlns:a16="http://schemas.microsoft.com/office/drawing/2014/main" id="{0747EDBE-EB35-40A1-8C38-CD9BCF5268F3}"/>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transição entre múltiplos empregadores pode resultar em riscos financeiros e administrativos desnecessários.</a:t>
            </a:r>
          </a:p>
          <a:p xmlns:a="http://schemas.openxmlformats.org/drawingml/2006/main">
            <a:pPr algn="l">
              <a:lnSpc>
                <a:spcPct val="115000"/>
              </a:lnSpc>
              <a:buNone/>
              <a:defRPr sz="900" b="0" i="0">
                <a:solidFill>
                  <a:srgbClr val="0F172A"/>
                </a:solidFill>
              </a:defRPr>
            </a:pPr>
            <a:r>
              <a:rPr sz="900" b="0" i="0">
                <a:solidFill>
                  <a:srgbClr val="0F172A"/>
                </a:solidFill>
              </a:rPr>
              <a:t>Pergunta: Como manter a integridade do sistema previdenciário sem penalizar os trabalhadores que mudam de empresa? </a:t>
            </a:r>
          </a:p>
        </p:txBody>
      </p:sp>
      <p:sp>
        <p:nvSpPr>
          <p:cNvPr id="15" name="t2-a2-box-10">
            <a:extLst xmlns:a="http://schemas.openxmlformats.org/drawingml/2006/main">
              <a:ext uri="{FF2B5EF4-FFF2-40B4-BE49-F238E27FC236}">
                <a16:creationId xmlns:a16="http://schemas.microsoft.com/office/drawing/2014/main" id="{879E7EC8-7D41-4AAF-BC8F-868207131A29}"/>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10">
            <a:extLst xmlns:a="http://schemas.openxmlformats.org/drawingml/2006/main">
              <a:ext uri="{FF2B5EF4-FFF2-40B4-BE49-F238E27FC236}">
                <a16:creationId xmlns:a16="http://schemas.microsoft.com/office/drawing/2014/main" id="{D27AFCF7-3F6A-4F54-BAEE-3B65C295605E}"/>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10">
            <a:extLst xmlns:a="http://schemas.openxmlformats.org/drawingml/2006/main">
              <a:ext uri="{FF2B5EF4-FFF2-40B4-BE49-F238E27FC236}">
                <a16:creationId xmlns:a16="http://schemas.microsoft.com/office/drawing/2014/main" id="{D52CBFF4-BDE5-44E1-A66E-0C987108A8FF}"/>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Barreira à eficiência administrativa do sistema previdenciário.</a:t>
            </a:r>
          </a:p>
          <a:p xmlns:a="http://schemas.openxmlformats.org/drawingml/2006/main">
            <a:pPr algn="l">
              <a:lnSpc>
                <a:spcPct val="115000"/>
              </a:lnSpc>
              <a:buNone/>
              <a:defRPr sz="900" b="0" i="0">
                <a:solidFill>
                  <a:srgbClr val="0F172A"/>
                </a:solidFill>
              </a:defRPr>
            </a:pPr>
            <a:r>
              <a:rPr sz="900" b="0" i="0">
                <a:solidFill>
                  <a:srgbClr val="0F172A"/>
                </a:solidFill>
              </a:rPr>
              <a:t>Pergunta: Como as empresas podem garantir a segurança dos dados de arrecadações digitais em uma sociedade digitalmente avançada?</a:t>
            </a:r>
          </a:p>
        </p:txBody>
      </p:sp>
      <p:sp>
        <p:nvSpPr>
          <p:cNvPr id="18" name="t2-a1-box-10">
            <a:extLst xmlns:a="http://schemas.openxmlformats.org/drawingml/2006/main">
              <a:ext uri="{FF2B5EF4-FFF2-40B4-BE49-F238E27FC236}">
                <a16:creationId xmlns:a16="http://schemas.microsoft.com/office/drawing/2014/main" id="{7BA59B67-9D26-4812-B9C9-2B076BD29E49}"/>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10">
            <a:extLst xmlns:a="http://schemas.openxmlformats.org/drawingml/2006/main">
              <a:ext uri="{FF2B5EF4-FFF2-40B4-BE49-F238E27FC236}">
                <a16:creationId xmlns:a16="http://schemas.microsoft.com/office/drawing/2014/main" id="{27115C62-66FB-4C0C-8EE3-4C5A8B40EA42}"/>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10">
            <a:extLst xmlns:a="http://schemas.openxmlformats.org/drawingml/2006/main">
              <a:ext uri="{FF2B5EF4-FFF2-40B4-BE49-F238E27FC236}">
                <a16:creationId xmlns:a16="http://schemas.microsoft.com/office/drawing/2014/main" id="{78B439D9-0A04-4470-8687-5485BFA5FA96}"/>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transição entre múltiplos empregadores pode resultar em riscos financeiros e administrativos desnecessários.</a:t>
            </a:r>
          </a:p>
          <a:p xmlns:a="http://schemas.openxmlformats.org/drawingml/2006/main">
            <a:pPr algn="l">
              <a:lnSpc>
                <a:spcPct val="115000"/>
              </a:lnSpc>
              <a:buNone/>
              <a:defRPr sz="900" b="0" i="0">
                <a:solidFill>
                  <a:srgbClr val="0F172A"/>
                </a:solidFill>
              </a:defRPr>
            </a:pPr>
            <a:r>
              <a:rPr sz="900" b="0" i="0">
                <a:solidFill>
                  <a:srgbClr val="0F172A"/>
                </a:solidFill>
              </a:rPr>
              <a:t>Pe...'), propomos que a implementação não seja abrupta nem cega à capacidade financeira dos negócios, adotando crédito presumido de transição e escalonamento setorial. Em relação ao segundo ponto levantado sobre governança do fundo gestor e arrecadação sobre receitas digitais ou fracionadas ('Risco: Barreira à eficiência administrativa do sistema previdenciário.</a:t>
            </a:r>
          </a:p>
          <a:p xmlns:a="http://schemas.openxmlformats.org/drawingml/2006/main">
            <a:pPr algn="l">
              <a:lnSpc>
                <a:spcPct val="115000"/>
              </a:lnSpc>
              <a:buNone/>
              <a:defRPr sz="900" b="0" i="0">
                <a:solidFill>
                  <a:srgbClr val="0F172A"/>
                </a:solidFill>
              </a:defRPr>
            </a:pPr>
            <a:r>
              <a:rPr sz="900" b="0" i="0">
                <a:solidFill>
                  <a:srgbClr val="0F172A"/>
                </a:solidFill>
              </a:rPr>
              <a:t>Pergunta: Como as empresas podem garantir a segur...'),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10">
            <a:extLst xmlns:a="http://schemas.openxmlformats.org/drawingml/2006/main">
              <a:ext uri="{FF2B5EF4-FFF2-40B4-BE49-F238E27FC236}">
                <a16:creationId xmlns:a16="http://schemas.microsoft.com/office/drawing/2014/main" id="{2C05B0F0-E19B-49F0-B4D8-C905B685985E}"/>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10">
            <a:extLst xmlns:a="http://schemas.openxmlformats.org/drawingml/2006/main">
              <a:ext uri="{FF2B5EF4-FFF2-40B4-BE49-F238E27FC236}">
                <a16:creationId xmlns:a16="http://schemas.microsoft.com/office/drawing/2014/main" id="{1F96AB66-B382-47C2-8257-87D48D621C60}"/>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10">
            <a:extLst xmlns:a="http://schemas.openxmlformats.org/drawingml/2006/main">
              <a:ext uri="{FF2B5EF4-FFF2-40B4-BE49-F238E27FC236}">
                <a16:creationId xmlns:a16="http://schemas.microsoft.com/office/drawing/2014/main" id="{3A69AF56-2B8E-4F44-BA80-4EBD0E01331E}"/>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10">
            <a:extLst xmlns:a="http://schemas.openxmlformats.org/drawingml/2006/main">
              <a:ext uri="{FF2B5EF4-FFF2-40B4-BE49-F238E27FC236}">
                <a16:creationId xmlns:a16="http://schemas.microsoft.com/office/drawing/2014/main" id="{D16250CE-10C2-4E90-956D-16D83A424384}"/>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proteção social portátil e transição profissional e os custos/incentivos de mercado apontados pelo liberal.</a:t>
            </a:r>
          </a:p>
        </p:txBody>
      </p:sp>
      <p:sp>
        <p:nvSpPr>
          <p:cNvPr id="25" name="j-verd-box-10">
            <a:extLst xmlns:a="http://schemas.openxmlformats.org/drawingml/2006/main">
              <a:ext uri="{FF2B5EF4-FFF2-40B4-BE49-F238E27FC236}">
                <a16:creationId xmlns:a16="http://schemas.microsoft.com/office/drawing/2014/main" id="{12C7254B-6FE1-4191-8D98-641331E97CC2}"/>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10">
            <a:extLst xmlns:a="http://schemas.openxmlformats.org/drawingml/2006/main">
              <a:ext uri="{FF2B5EF4-FFF2-40B4-BE49-F238E27FC236}">
                <a16:creationId xmlns:a16="http://schemas.microsoft.com/office/drawing/2014/main" id="{6542E972-1A02-44EE-88E9-D8B9EE6F3B8A}"/>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10">
            <a:extLst xmlns:a="http://schemas.openxmlformats.org/drawingml/2006/main">
              <a:ext uri="{FF2B5EF4-FFF2-40B4-BE49-F238E27FC236}">
                <a16:creationId xmlns:a16="http://schemas.microsoft.com/office/drawing/2014/main" id="{72D98645-1108-49B7-B248-FD537C788A2B}"/>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proteção social portátil e transição profissional,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10">
            <a:extLst xmlns:a="http://schemas.openxmlformats.org/drawingml/2006/main">
              <a:ext uri="{FF2B5EF4-FFF2-40B4-BE49-F238E27FC236}">
                <a16:creationId xmlns:a16="http://schemas.microsoft.com/office/drawing/2014/main" id="{5F9A3947-8358-4C7E-B203-D92B64399D15}"/>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10">
            <a:extLst xmlns:a="http://schemas.openxmlformats.org/drawingml/2006/main">
              <a:ext uri="{FF2B5EF4-FFF2-40B4-BE49-F238E27FC236}">
                <a16:creationId xmlns:a16="http://schemas.microsoft.com/office/drawing/2014/main" id="{F4E92F85-9ECE-4975-A64D-C5B5BF9343DA}"/>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10">
            <a:extLst xmlns:a="http://schemas.openxmlformats.org/drawingml/2006/main">
              <a:ext uri="{FF2B5EF4-FFF2-40B4-BE49-F238E27FC236}">
                <a16:creationId xmlns:a16="http://schemas.microsoft.com/office/drawing/2014/main" id="{D39BBAC7-A3FB-4674-AE15-BD9C443BD938}"/>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proteção social portátil e transição profissional, incorporar cláusula de transição faseada com incentivo à conformidade voluntária e repartição de encargos entre empregadores, poder público e fundos solidários, mitigando os custos apontados pelo liberal.</a:t>
            </a:r>
          </a:p>
        </p:txBody>
      </p:sp>
      <p:sp>
        <p:nvSpPr>
          <p:cNvPr id="31" name="j-pend-box-10">
            <a:extLst xmlns:a="http://schemas.openxmlformats.org/drawingml/2006/main">
              <a:ext uri="{FF2B5EF4-FFF2-40B4-BE49-F238E27FC236}">
                <a16:creationId xmlns:a16="http://schemas.microsoft.com/office/drawing/2014/main" id="{31BF498D-3ECC-4535-B83F-7FF375C75439}"/>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10">
            <a:extLst xmlns:a="http://schemas.openxmlformats.org/drawingml/2006/main">
              <a:ext uri="{FF2B5EF4-FFF2-40B4-BE49-F238E27FC236}">
                <a16:creationId xmlns:a16="http://schemas.microsoft.com/office/drawing/2014/main" id="{2867E284-6231-4B9C-9B63-A1CDBDE56529}"/>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10">
            <a:extLst xmlns:a="http://schemas.openxmlformats.org/drawingml/2006/main">
              <a:ext uri="{FF2B5EF4-FFF2-40B4-BE49-F238E27FC236}">
                <a16:creationId xmlns:a16="http://schemas.microsoft.com/office/drawing/2014/main" id="{F0944932-F3DC-4FBF-AF11-03F0BEBB3F09}"/>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proteção social portátil e transição profissional.</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10 fixou a necessidade de transição gradual e mitigação de custos em proteção social portátil e transição profissional.</a:t>
            </a:r>
          </a:p>
        </p:txBody>
      </p:sp>
      <p:sp>
        <p:nvSpPr>
          <p:cNvPr id="34" name="j-spec-box-10">
            <a:extLst xmlns:a="http://schemas.openxmlformats.org/drawingml/2006/main">
              <a:ext uri="{FF2B5EF4-FFF2-40B4-BE49-F238E27FC236}">
                <a16:creationId xmlns:a16="http://schemas.microsoft.com/office/drawing/2014/main" id="{D309346E-9A1C-47D8-B030-839C2D2719F7}"/>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DF4FF"/>
          </a:solidFill>
          <a:ln xmlns:a="http://schemas.openxmlformats.org/drawingml/2006/main" w="14288">
            <a:solidFill>
              <a:srgbClr val="E879F9"/>
            </a:solidFill>
            <a:prstDash val="solid"/>
          </a:ln>
        </p:spPr>
      </p:sp>
      <p:sp>
        <p:nvSpPr>
          <p:cNvPr id="35" name="j-spec-badge-10">
            <a:extLst xmlns:a="http://schemas.openxmlformats.org/drawingml/2006/main">
              <a:ext uri="{FF2B5EF4-FFF2-40B4-BE49-F238E27FC236}">
                <a16:creationId xmlns:a16="http://schemas.microsoft.com/office/drawing/2014/main" id="{4EC1AC0E-E104-4C65-8067-4F9DC3E62AF8}"/>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86198F"/>
                </a:solidFill>
              </a:defRPr>
            </a:defPPr>
          </a:lstStyle>
          <a:p xmlns:a="http://schemas.openxmlformats.org/drawingml/2006/main">
            <a:pPr algn="l">
              <a:lnSpc>
                <a:spcPct val="115000"/>
              </a:lnSpc>
              <a:buNone/>
              <a:defRPr sz="825" b="1" i="0">
                <a:solidFill>
                  <a:srgbClr val="86198F"/>
                </a:solidFill>
              </a:defRPr>
            </a:pPr>
            <a:r>
              <a:rPr sz="825" b="1" i="0">
                <a:solidFill>
                  <a:srgbClr val="86198F"/>
                </a:solidFill>
              </a:rPr>
              <a:t>SÍNTESE PERIÓDICA DO BLOCO (RODADA 10)</a:t>
            </a:r>
          </a:p>
        </p:txBody>
      </p:sp>
      <p:sp>
        <p:nvSpPr>
          <p:cNvPr id="36" name="j-spec-txt-10">
            <a:extLst xmlns:a="http://schemas.openxmlformats.org/drawingml/2006/main">
              <a:ext uri="{FF2B5EF4-FFF2-40B4-BE49-F238E27FC236}">
                <a16:creationId xmlns:a16="http://schemas.microsoft.com/office/drawing/2014/main" id="{5D957FD9-03A1-479A-86C7-F837A373443C}"/>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0F172A"/>
                </a:solidFill>
              </a:defRPr>
            </a:defPPr>
          </a:lstStyle>
          <a:p xmlns:a="http://schemas.openxmlformats.org/drawingml/2006/main">
            <a:pPr algn="l">
              <a:lnSpc>
                <a:spcPct val="115000"/>
              </a:lnSpc>
              <a:buNone/>
              <a:defRPr sz="825" b="0" i="0">
                <a:solidFill>
                  <a:srgbClr val="0F172A"/>
                </a:solidFill>
              </a:defRPr>
            </a:pPr>
            <a:r>
              <a:rPr sz="825" b="0" i="0">
                <a:solidFill>
                  <a:srgbClr val="0F172A"/>
                </a:solidFill>
              </a:rPr>
              <a:t>Síntese do Bloco 2 (Rodadas 06–10): Ao abordar plataformas, informalidade, negociação coletiva, segurança do trabalho e proteção portátil, consolidou-se o consenso de que a regulação deve migrar do vínculo tradicional formal para a pessoa do trabalhador, garantindo cobertura contínua e proporcional ao tempo de serviço prestado.</a:t>
            </a:r>
          </a:p>
        </p:txBody>
      </p:sp>
    </p:spTree>
    <p:extLst>
      <p:ext uri="{BB962C8B-B14F-4D97-AF65-F5344CB8AC3E}">
        <p14:creationId xmlns:p14="http://schemas.microsoft.com/office/powerpoint/2010/main" val="171727212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01F70C1E-41FA-4B2F-8530-9D711A912B81}"/>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1E82BC8F-BF9D-4115-88BE-DD3FBCB2F472}"/>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1B9D4EB7-276A-42B9-9B96-FCDFFDDF9A90}"/>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11 · MICRO E PEQUENAS EMPRESAS: REGIMES DIFERENCIADOS</a:t>
            </a:r>
          </a:p>
        </p:txBody>
      </p:sp>
      <p:sp>
        <p:nvSpPr>
          <p:cNvPr id="4" name="header-sub">
            <a:extLst xmlns:a="http://schemas.openxmlformats.org/drawingml/2006/main">
              <a:ext uri="{FF2B5EF4-FFF2-40B4-BE49-F238E27FC236}">
                <a16:creationId xmlns:a16="http://schemas.microsoft.com/office/drawing/2014/main" id="{3D2EC438-4AD9-404A-AF3C-A8F8BE102601}"/>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adaptar regras trabalhistas ao porte do empregador sem rebaixar direitos humanos fundamentais?</a:t>
            </a:r>
          </a:p>
        </p:txBody>
      </p:sp>
      <p:sp>
        <p:nvSpPr>
          <p:cNvPr id="5" name="footer-rule">
            <a:extLst xmlns:a="http://schemas.openxmlformats.org/drawingml/2006/main">
              <a:ext uri="{FF2B5EF4-FFF2-40B4-BE49-F238E27FC236}">
                <a16:creationId xmlns:a16="http://schemas.microsoft.com/office/drawing/2014/main" id="{36B3D4E3-B213-4D4C-93D6-E8946ED2211C}"/>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152CDC33-EBDA-4E35-A852-67DB0494542C}"/>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514C3B1B-674A-48C8-BB34-CB914E6965CC}"/>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15</a:t>
            </a:r>
          </a:p>
        </p:txBody>
      </p:sp>
      <p:sp>
        <p:nvSpPr>
          <p:cNvPr id="8" name="left-hdr-11">
            <a:extLst xmlns:a="http://schemas.openxmlformats.org/drawingml/2006/main">
              <a:ext uri="{FF2B5EF4-FFF2-40B4-BE49-F238E27FC236}">
                <a16:creationId xmlns:a16="http://schemas.microsoft.com/office/drawing/2014/main" id="{F35ACC3D-830B-4C0F-9BBF-A68CE26325F2}"/>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11">
            <a:extLst xmlns:a="http://schemas.openxmlformats.org/drawingml/2006/main">
              <a:ext uri="{FF2B5EF4-FFF2-40B4-BE49-F238E27FC236}">
                <a16:creationId xmlns:a16="http://schemas.microsoft.com/office/drawing/2014/main" id="{A385697E-4113-492A-BC0B-6FAD2027EF8B}"/>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11">
            <a:extLst xmlns:a="http://schemas.openxmlformats.org/drawingml/2006/main">
              <a:ext uri="{FF2B5EF4-FFF2-40B4-BE49-F238E27FC236}">
                <a16:creationId xmlns:a16="http://schemas.microsoft.com/office/drawing/2014/main" id="{576262C4-ED13-4C2E-8E93-D02AB1244D97}"/>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11">
            <a:extLst xmlns:a="http://schemas.openxmlformats.org/drawingml/2006/main">
              <a:ext uri="{FF2B5EF4-FFF2-40B4-BE49-F238E27FC236}">
                <a16:creationId xmlns:a16="http://schemas.microsoft.com/office/drawing/2014/main" id="{BDE50FF8-3B67-452B-B217-5D3CD5033510}"/>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10 fixou a necessidade de transição gradual e mitigação de custos em proteção social portátil e transição profissional.'): Reconhecemos a relevância das micro e pequenas empresas na geração de empregos locais, admitindo desburocratização e simplificação de obrigações contábeis acessórias. No entanto, o núcleo essencial de direitos — salário mínimo, segurança, descanso e previdência — deve ser universal, para não criar uma cidadania de segunda classe.</a:t>
            </a:r>
          </a:p>
        </p:txBody>
      </p:sp>
      <p:sp>
        <p:nvSpPr>
          <p:cNvPr id="12" name="t1-a2-box-11">
            <a:extLst xmlns:a="http://schemas.openxmlformats.org/drawingml/2006/main">
              <a:ext uri="{FF2B5EF4-FFF2-40B4-BE49-F238E27FC236}">
                <a16:creationId xmlns:a16="http://schemas.microsoft.com/office/drawing/2014/main" id="{8BF4204F-FFB6-49E0-BC99-90DE8030B351}"/>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11">
            <a:extLst xmlns:a="http://schemas.openxmlformats.org/drawingml/2006/main">
              <a:ext uri="{FF2B5EF4-FFF2-40B4-BE49-F238E27FC236}">
                <a16:creationId xmlns:a16="http://schemas.microsoft.com/office/drawing/2014/main" id="{000675D3-7160-4CFD-93AB-E8F76C6CDB72}"/>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11">
            <a:extLst xmlns:a="http://schemas.openxmlformats.org/drawingml/2006/main">
              <a:ext uri="{FF2B5EF4-FFF2-40B4-BE49-F238E27FC236}">
                <a16:creationId xmlns:a16="http://schemas.microsoft.com/office/drawing/2014/main" id="{0DEFD36F-C9F9-4807-85AD-C323AA817102}"/>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transição gradual pode levar a um aumento desproporcional dos custos das micro e pequenas empresas com as obrigações trabalhistas, potencialmente afetando negativamente seu crescimento econômico.</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que esses empresários tenham acesso à proteção social sem comprometer suas operações fundamentais?</a:t>
            </a:r>
          </a:p>
        </p:txBody>
      </p:sp>
      <p:sp>
        <p:nvSpPr>
          <p:cNvPr id="15" name="t2-a2-box-11">
            <a:extLst xmlns:a="http://schemas.openxmlformats.org/drawingml/2006/main">
              <a:ext uri="{FF2B5EF4-FFF2-40B4-BE49-F238E27FC236}">
                <a16:creationId xmlns:a16="http://schemas.microsoft.com/office/drawing/2014/main" id="{1491E737-511F-46D1-BA52-AEFFAAE27F1A}"/>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11">
            <a:extLst xmlns:a="http://schemas.openxmlformats.org/drawingml/2006/main">
              <a:ext uri="{FF2B5EF4-FFF2-40B4-BE49-F238E27FC236}">
                <a16:creationId xmlns:a16="http://schemas.microsoft.com/office/drawing/2014/main" id="{2A8A0317-F8CE-4954-8483-FD9C29001289}"/>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11">
            <a:extLst xmlns:a="http://schemas.openxmlformats.org/drawingml/2006/main">
              <a:ext uri="{FF2B5EF4-FFF2-40B4-BE49-F238E27FC236}">
                <a16:creationId xmlns:a16="http://schemas.microsoft.com/office/drawing/2014/main" id="{508B6510-F7BC-4E96-B0B0-C9B3FAF8E393}"/>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mediação prévia obrigatória pode aumentar custos desnecessários para as micro e pequenas empresas.</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que essas empresas tenham uma medição eficaz sem comprometer a sua independência operacional?</a:t>
            </a:r>
          </a:p>
        </p:txBody>
      </p:sp>
      <p:sp>
        <p:nvSpPr>
          <p:cNvPr id="18" name="t2-a1-box-11">
            <a:extLst xmlns:a="http://schemas.openxmlformats.org/drawingml/2006/main">
              <a:ext uri="{FF2B5EF4-FFF2-40B4-BE49-F238E27FC236}">
                <a16:creationId xmlns:a16="http://schemas.microsoft.com/office/drawing/2014/main" id="{EF8D7637-33B8-493D-A7A1-932FEF908703}"/>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11">
            <a:extLst xmlns:a="http://schemas.openxmlformats.org/drawingml/2006/main">
              <a:ext uri="{FF2B5EF4-FFF2-40B4-BE49-F238E27FC236}">
                <a16:creationId xmlns:a16="http://schemas.microsoft.com/office/drawing/2014/main" id="{B4EF3918-F698-45DC-BE12-EAC3836161FA}"/>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11">
            <a:extLst xmlns:a="http://schemas.openxmlformats.org/drawingml/2006/main">
              <a:ext uri="{FF2B5EF4-FFF2-40B4-BE49-F238E27FC236}">
                <a16:creationId xmlns:a16="http://schemas.microsoft.com/office/drawing/2014/main" id="{47BAE1FC-9734-43B8-B6DB-1BCA614400CD}"/>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falta de transição gradual pode levar a um aumento desproporcional dos custos das micro e pequenas empresas com...'), propomos que a implementação não seja abrupta nem cega à capacidade financeira dos negócios, adotando crédito presumido de transição e escalonamento setorial. Em relação ao segundo ponto levantado sobre dispensa de obrigações acessórias redundantes e mediação prévia obrigatória ('Risco: A mediação prévia obrigatória pode aumentar custos desnecessários para as micro e pequenas empresas.</a:t>
            </a:r>
          </a:p>
          <a:p xmlns:a="http://schemas.openxmlformats.org/drawingml/2006/main">
            <a:pPr algn="l">
              <a:lnSpc>
                <a:spcPct val="115000"/>
              </a:lnSpc>
              <a:buNone/>
              <a:defRPr sz="900" b="0" i="0">
                <a:solidFill>
                  <a:srgbClr val="0F172A"/>
                </a:solidFill>
              </a:defRPr>
            </a:pPr>
            <a:r>
              <a:rPr sz="900" b="0" i="0">
                <a:solidFill>
                  <a:srgbClr val="0F172A"/>
                </a:solidFill>
              </a:rPr>
              <a:t>Pergunta: Co...'),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11">
            <a:extLst xmlns:a="http://schemas.openxmlformats.org/drawingml/2006/main">
              <a:ext uri="{FF2B5EF4-FFF2-40B4-BE49-F238E27FC236}">
                <a16:creationId xmlns:a16="http://schemas.microsoft.com/office/drawing/2014/main" id="{E75058EB-91AD-491A-8558-BA21A4E8BBD5}"/>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11">
            <a:extLst xmlns:a="http://schemas.openxmlformats.org/drawingml/2006/main">
              <a:ext uri="{FF2B5EF4-FFF2-40B4-BE49-F238E27FC236}">
                <a16:creationId xmlns:a16="http://schemas.microsoft.com/office/drawing/2014/main" id="{7D5FBFEF-6D74-4157-9375-23A85688F7CA}"/>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11">
            <a:extLst xmlns:a="http://schemas.openxmlformats.org/drawingml/2006/main">
              <a:ext uri="{FF2B5EF4-FFF2-40B4-BE49-F238E27FC236}">
                <a16:creationId xmlns:a16="http://schemas.microsoft.com/office/drawing/2014/main" id="{1852E542-FCA8-49EE-8A19-E1ED23E41084}"/>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11">
            <a:extLst xmlns:a="http://schemas.openxmlformats.org/drawingml/2006/main">
              <a:ext uri="{FF2B5EF4-FFF2-40B4-BE49-F238E27FC236}">
                <a16:creationId xmlns:a16="http://schemas.microsoft.com/office/drawing/2014/main" id="{B60A78B6-4F45-4E83-905E-8686C4397C93}"/>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micro e pequenas empresas: regimes diferenciados e os custos/incentivos de mercado apontados pelo liberal.</a:t>
            </a:r>
          </a:p>
        </p:txBody>
      </p:sp>
      <p:sp>
        <p:nvSpPr>
          <p:cNvPr id="25" name="j-verd-box-11">
            <a:extLst xmlns:a="http://schemas.openxmlformats.org/drawingml/2006/main">
              <a:ext uri="{FF2B5EF4-FFF2-40B4-BE49-F238E27FC236}">
                <a16:creationId xmlns:a16="http://schemas.microsoft.com/office/drawing/2014/main" id="{03C40A83-B301-454C-87B5-D5BCF6A89527}"/>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11">
            <a:extLst xmlns:a="http://schemas.openxmlformats.org/drawingml/2006/main">
              <a:ext uri="{FF2B5EF4-FFF2-40B4-BE49-F238E27FC236}">
                <a16:creationId xmlns:a16="http://schemas.microsoft.com/office/drawing/2014/main" id="{B077F815-3600-4688-AE55-21AC0C773749}"/>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11">
            <a:extLst xmlns:a="http://schemas.openxmlformats.org/drawingml/2006/main">
              <a:ext uri="{FF2B5EF4-FFF2-40B4-BE49-F238E27FC236}">
                <a16:creationId xmlns:a16="http://schemas.microsoft.com/office/drawing/2014/main" id="{9E16C404-1167-4CA2-8E20-384C5BA18951}"/>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micro e pequenas empresas: regimes diferenciados,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11">
            <a:extLst xmlns:a="http://schemas.openxmlformats.org/drawingml/2006/main">
              <a:ext uri="{FF2B5EF4-FFF2-40B4-BE49-F238E27FC236}">
                <a16:creationId xmlns:a16="http://schemas.microsoft.com/office/drawing/2014/main" id="{C5388B50-509C-4065-82C4-5D6D2D05230C}"/>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11">
            <a:extLst xmlns:a="http://schemas.openxmlformats.org/drawingml/2006/main">
              <a:ext uri="{FF2B5EF4-FFF2-40B4-BE49-F238E27FC236}">
                <a16:creationId xmlns:a16="http://schemas.microsoft.com/office/drawing/2014/main" id="{CF0A67C8-AECC-4CA3-BA47-29D9DF69D339}"/>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11">
            <a:extLst xmlns:a="http://schemas.openxmlformats.org/drawingml/2006/main">
              <a:ext uri="{FF2B5EF4-FFF2-40B4-BE49-F238E27FC236}">
                <a16:creationId xmlns:a16="http://schemas.microsoft.com/office/drawing/2014/main" id="{11397640-EB1F-4A1A-A045-03D9AE1E57A4}"/>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micro e pequenas empresas: regimes diferenciados, incorporar cláusula de transição faseada com incentivo à conformidade voluntária e repartição de encargos entre empregadores, poder público e fundos solidários, mitigando os custos apontados pelo liberal.</a:t>
            </a:r>
          </a:p>
        </p:txBody>
      </p:sp>
      <p:sp>
        <p:nvSpPr>
          <p:cNvPr id="31" name="j-pend-box-11">
            <a:extLst xmlns:a="http://schemas.openxmlformats.org/drawingml/2006/main">
              <a:ext uri="{FF2B5EF4-FFF2-40B4-BE49-F238E27FC236}">
                <a16:creationId xmlns:a16="http://schemas.microsoft.com/office/drawing/2014/main" id="{7B4EFCDB-A4BC-4121-947C-E2E4C3E8E9FD}"/>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11">
            <a:extLst xmlns:a="http://schemas.openxmlformats.org/drawingml/2006/main">
              <a:ext uri="{FF2B5EF4-FFF2-40B4-BE49-F238E27FC236}">
                <a16:creationId xmlns:a16="http://schemas.microsoft.com/office/drawing/2014/main" id="{38F282FF-F292-48C7-829E-0AE4A43E5966}"/>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11">
            <a:extLst xmlns:a="http://schemas.openxmlformats.org/drawingml/2006/main">
              <a:ext uri="{FF2B5EF4-FFF2-40B4-BE49-F238E27FC236}">
                <a16:creationId xmlns:a16="http://schemas.microsoft.com/office/drawing/2014/main" id="{54637948-FE48-4603-A2E4-F4BF7CF30BA9}"/>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micro e pequenas empresas: regimes diferenciados.</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11 fixou a necessidade de transição gradual e mitigação de custos em micro e pequenas empresas: regimes diferenciados.</a:t>
            </a:r>
          </a:p>
        </p:txBody>
      </p:sp>
      <p:sp>
        <p:nvSpPr>
          <p:cNvPr id="34" name="j-spec-box-11">
            <a:extLst xmlns:a="http://schemas.openxmlformats.org/drawingml/2006/main">
              <a:ext uri="{FF2B5EF4-FFF2-40B4-BE49-F238E27FC236}">
                <a16:creationId xmlns:a16="http://schemas.microsoft.com/office/drawing/2014/main" id="{2ACEA20A-093A-46C8-B90F-75A6D6FEA715}"/>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11">
            <a:extLst xmlns:a="http://schemas.openxmlformats.org/drawingml/2006/main">
              <a:ext uri="{FF2B5EF4-FFF2-40B4-BE49-F238E27FC236}">
                <a16:creationId xmlns:a16="http://schemas.microsoft.com/office/drawing/2014/main" id="{D8054D70-F534-4799-A563-902EF6C7670A}"/>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11">
            <a:extLst xmlns:a="http://schemas.openxmlformats.org/drawingml/2006/main">
              <a:ext uri="{FF2B5EF4-FFF2-40B4-BE49-F238E27FC236}">
                <a16:creationId xmlns:a16="http://schemas.microsoft.com/office/drawing/2014/main" id="{35268E2B-AE90-437A-BB4B-7302FBF3DB79}"/>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3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12.</a:t>
            </a:r>
          </a:p>
        </p:txBody>
      </p:sp>
    </p:spTree>
    <p:extLst>
      <p:ext uri="{BB962C8B-B14F-4D97-AF65-F5344CB8AC3E}">
        <p14:creationId xmlns:p14="http://schemas.microsoft.com/office/powerpoint/2010/main" val="15171517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A3286E89-B517-49D7-9A30-5A8020237A56}"/>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54309458-DE4C-41DB-9CD7-DBC3F14A8CB3}"/>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454E167A-001D-4DD6-9F41-9E1E021EF406}"/>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12 · EQUIDADE SALARIAL E COMBATE À DISCRIMINAÇÃO</a:t>
            </a:r>
          </a:p>
        </p:txBody>
      </p:sp>
      <p:sp>
        <p:nvSpPr>
          <p:cNvPr id="4" name="header-sub">
            <a:extLst xmlns:a="http://schemas.openxmlformats.org/drawingml/2006/main">
              <a:ext uri="{FF2B5EF4-FFF2-40B4-BE49-F238E27FC236}">
                <a16:creationId xmlns:a16="http://schemas.microsoft.com/office/drawing/2014/main" id="{AC64C439-D768-4584-9BB4-B24378D561E1}"/>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auditar e punir discriminações de gênero e raça respeitando avaliações legítimas de mérito e função?</a:t>
            </a:r>
          </a:p>
        </p:txBody>
      </p:sp>
      <p:sp>
        <p:nvSpPr>
          <p:cNvPr id="5" name="footer-rule">
            <a:extLst xmlns:a="http://schemas.openxmlformats.org/drawingml/2006/main">
              <a:ext uri="{FF2B5EF4-FFF2-40B4-BE49-F238E27FC236}">
                <a16:creationId xmlns:a16="http://schemas.microsoft.com/office/drawing/2014/main" id="{3B0BE7B6-20E1-433B-B974-7344E548909F}"/>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75B36F65-C482-437D-BC46-78EFAC584823}"/>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2D8D4942-F1E6-4597-A19A-BABCAD03C748}"/>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16</a:t>
            </a:r>
          </a:p>
        </p:txBody>
      </p:sp>
      <p:sp>
        <p:nvSpPr>
          <p:cNvPr id="8" name="left-hdr-12">
            <a:extLst xmlns:a="http://schemas.openxmlformats.org/drawingml/2006/main">
              <a:ext uri="{FF2B5EF4-FFF2-40B4-BE49-F238E27FC236}">
                <a16:creationId xmlns:a16="http://schemas.microsoft.com/office/drawing/2014/main" id="{5344554E-4A3D-4796-8676-95A2C47193BC}"/>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12">
            <a:extLst xmlns:a="http://schemas.openxmlformats.org/drawingml/2006/main">
              <a:ext uri="{FF2B5EF4-FFF2-40B4-BE49-F238E27FC236}">
                <a16:creationId xmlns:a16="http://schemas.microsoft.com/office/drawing/2014/main" id="{6BEF021B-7915-4CC9-9AB6-DF37DB477258}"/>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12">
            <a:extLst xmlns:a="http://schemas.openxmlformats.org/drawingml/2006/main">
              <a:ext uri="{FF2B5EF4-FFF2-40B4-BE49-F238E27FC236}">
                <a16:creationId xmlns:a16="http://schemas.microsoft.com/office/drawing/2014/main" id="{D15B695C-C3CF-4390-9333-02255A88C5DA}"/>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12">
            <a:extLst xmlns:a="http://schemas.openxmlformats.org/drawingml/2006/main">
              <a:ext uri="{FF2B5EF4-FFF2-40B4-BE49-F238E27FC236}">
                <a16:creationId xmlns:a16="http://schemas.microsoft.com/office/drawing/2014/main" id="{69A869D4-9DCF-42C1-B463-36D8EACB6244}"/>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11 fixou a necessidade de transição gradual e mitigação de custos em micro e pequenas empresas: regimes diferenciados.'): A equiparação salarial para trabalho de igual valor é exigência ética e constitucional contra discriminações históricas de gênero, raça e orientação. Exigimos relatórios obrigatórios de transparência remuneratória e canais independentes de ouvidoria, com inversão do ônus da prova em discrepâncias salariais não justificadas objetivamente.</a:t>
            </a:r>
          </a:p>
        </p:txBody>
      </p:sp>
      <p:sp>
        <p:nvSpPr>
          <p:cNvPr id="12" name="t1-a2-box-12">
            <a:extLst xmlns:a="http://schemas.openxmlformats.org/drawingml/2006/main">
              <a:ext uri="{FF2B5EF4-FFF2-40B4-BE49-F238E27FC236}">
                <a16:creationId xmlns:a16="http://schemas.microsoft.com/office/drawing/2014/main" id="{11532CD3-66FA-4B7E-91B9-A18591E24A7C}"/>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12">
            <a:extLst xmlns:a="http://schemas.openxmlformats.org/drawingml/2006/main">
              <a:ext uri="{FF2B5EF4-FFF2-40B4-BE49-F238E27FC236}">
                <a16:creationId xmlns:a16="http://schemas.microsoft.com/office/drawing/2014/main" id="{16A16781-8376-4F8D-BFBB-39511AB4AF63}"/>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12">
            <a:extLst xmlns:a="http://schemas.openxmlformats.org/drawingml/2006/main">
              <a:ext uri="{FF2B5EF4-FFF2-40B4-BE49-F238E27FC236}">
                <a16:creationId xmlns:a16="http://schemas.microsoft.com/office/drawing/2014/main" id="{EBBEB142-F051-4D6A-977B-62E399D7A07C}"/>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Inovações tecnológicas podem reduzir custos de contratação, o que pode causar um impacto negativo na equação salarial.</a:t>
            </a:r>
          </a:p>
          <a:p xmlns:a="http://schemas.openxmlformats.org/drawingml/2006/main">
            <a:pPr algn="l">
              <a:lnSpc>
                <a:spcPct val="115000"/>
              </a:lnSpc>
              <a:buNone/>
              <a:defRPr sz="900" b="0" i="0">
                <a:solidFill>
                  <a:srgbClr val="0F172A"/>
                </a:solidFill>
              </a:defRPr>
            </a:pPr>
            <a:r>
              <a:rPr sz="900" b="0" i="0">
                <a:solidFill>
                  <a:srgbClr val="0F172A"/>
                </a:solidFill>
              </a:rPr>
              <a:t>Pergunta: Como manter uma relação justa entre gênero e raça em situações onde a avaliação do mérito é subjetiva?</a:t>
            </a:r>
          </a:p>
        </p:txBody>
      </p:sp>
      <p:sp>
        <p:nvSpPr>
          <p:cNvPr id="15" name="t2-a2-box-12">
            <a:extLst xmlns:a="http://schemas.openxmlformats.org/drawingml/2006/main">
              <a:ext uri="{FF2B5EF4-FFF2-40B4-BE49-F238E27FC236}">
                <a16:creationId xmlns:a16="http://schemas.microsoft.com/office/drawing/2014/main" id="{754A4D57-7DA0-49B4-BE84-3242110539F9}"/>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12">
            <a:extLst xmlns:a="http://schemas.openxmlformats.org/drawingml/2006/main">
              <a:ext uri="{FF2B5EF4-FFF2-40B4-BE49-F238E27FC236}">
                <a16:creationId xmlns:a16="http://schemas.microsoft.com/office/drawing/2014/main" id="{70DB600B-21E0-4604-97DE-18B25590DD6F}"/>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12">
            <a:extLst xmlns:a="http://schemas.openxmlformats.org/drawingml/2006/main">
              <a:ext uri="{FF2B5EF4-FFF2-40B4-BE49-F238E27FC236}">
                <a16:creationId xmlns:a16="http://schemas.microsoft.com/office/drawing/2014/main" id="{7B2DEA87-C3E2-4A4A-87EC-F8068F4E49EB}"/>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transparência nas práticas de seleção pode levar a discriminações invisíveis, como favoritismo por raça ou gênero.</a:t>
            </a:r>
          </a:p>
          <a:p xmlns:a="http://schemas.openxmlformats.org/drawingml/2006/main">
            <a:pPr algn="l">
              <a:lnSpc>
                <a:spcPct val="115000"/>
              </a:lnSpc>
              <a:buNone/>
              <a:defRPr sz="900" b="0" i="0">
                <a:solidFill>
                  <a:srgbClr val="0F172A"/>
                </a:solidFill>
              </a:defRPr>
            </a:pPr>
            <a:r>
              <a:rPr sz="900" b="0" i="0">
                <a:solidFill>
                  <a:srgbClr val="0F172A"/>
                </a:solidFill>
              </a:rPr>
              <a:t>Pergunta: Como as empresas podem garantir que os critérios de promoção sejam justamente aplicados sem favorecimento?</a:t>
            </a:r>
          </a:p>
        </p:txBody>
      </p:sp>
      <p:sp>
        <p:nvSpPr>
          <p:cNvPr id="18" name="t2-a1-box-12">
            <a:extLst xmlns:a="http://schemas.openxmlformats.org/drawingml/2006/main">
              <a:ext uri="{FF2B5EF4-FFF2-40B4-BE49-F238E27FC236}">
                <a16:creationId xmlns:a16="http://schemas.microsoft.com/office/drawing/2014/main" id="{FAB5C2B4-7CFA-416D-A51E-2493E3B45FF6}"/>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12">
            <a:extLst xmlns:a="http://schemas.openxmlformats.org/drawingml/2006/main">
              <a:ext uri="{FF2B5EF4-FFF2-40B4-BE49-F238E27FC236}">
                <a16:creationId xmlns:a16="http://schemas.microsoft.com/office/drawing/2014/main" id="{CD5EDB75-C05B-4785-9004-B89763507843}"/>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12">
            <a:extLst xmlns:a="http://schemas.openxmlformats.org/drawingml/2006/main">
              <a:ext uri="{FF2B5EF4-FFF2-40B4-BE49-F238E27FC236}">
                <a16:creationId xmlns:a16="http://schemas.microsoft.com/office/drawing/2014/main" id="{1A7BC85C-B353-4093-BDA2-C77D482903DF}"/>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Inovações tecnológicas podem reduzir custos de contratação, o que pode causar um impacto negativo na equação sala...'), propomos que a implementação não seja abrupta nem cega à capacidade financeira dos negócios, adotando crédito presumido de transição e escalonamento setorial. Em relação ao segundo ponto levantado sobre transparência de critérios de promoção e canais anônimos de ouvidoria externa ('Risco: A falta de transparência nas práticas de seleção pode levar a discriminações invisíveis, como favoritismo por raç...'),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12">
            <a:extLst xmlns:a="http://schemas.openxmlformats.org/drawingml/2006/main">
              <a:ext uri="{FF2B5EF4-FFF2-40B4-BE49-F238E27FC236}">
                <a16:creationId xmlns:a16="http://schemas.microsoft.com/office/drawing/2014/main" id="{3B896D3B-EF42-4BB3-8C0A-AAAE645FEB17}"/>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12">
            <a:extLst xmlns:a="http://schemas.openxmlformats.org/drawingml/2006/main">
              <a:ext uri="{FF2B5EF4-FFF2-40B4-BE49-F238E27FC236}">
                <a16:creationId xmlns:a16="http://schemas.microsoft.com/office/drawing/2014/main" id="{2301CABF-8DA0-4830-B547-65BFE4B38562}"/>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12">
            <a:extLst xmlns:a="http://schemas.openxmlformats.org/drawingml/2006/main">
              <a:ext uri="{FF2B5EF4-FFF2-40B4-BE49-F238E27FC236}">
                <a16:creationId xmlns:a16="http://schemas.microsoft.com/office/drawing/2014/main" id="{50AC35C5-B6E3-4135-9AA5-A238A277B6A2}"/>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12">
            <a:extLst xmlns:a="http://schemas.openxmlformats.org/drawingml/2006/main">
              <a:ext uri="{FF2B5EF4-FFF2-40B4-BE49-F238E27FC236}">
                <a16:creationId xmlns:a16="http://schemas.microsoft.com/office/drawing/2014/main" id="{AAAFCF48-E8A0-4FE6-912E-F2A0BE793E47}"/>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equidade salarial e combate à discriminação e os custos/incentivos de mercado apontados pelo liberal.</a:t>
            </a:r>
          </a:p>
        </p:txBody>
      </p:sp>
      <p:sp>
        <p:nvSpPr>
          <p:cNvPr id="25" name="j-verd-box-12">
            <a:extLst xmlns:a="http://schemas.openxmlformats.org/drawingml/2006/main">
              <a:ext uri="{FF2B5EF4-FFF2-40B4-BE49-F238E27FC236}">
                <a16:creationId xmlns:a16="http://schemas.microsoft.com/office/drawing/2014/main" id="{08BAA99F-1D1B-43D4-A1BF-2CC5A5394BDC}"/>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12">
            <a:extLst xmlns:a="http://schemas.openxmlformats.org/drawingml/2006/main">
              <a:ext uri="{FF2B5EF4-FFF2-40B4-BE49-F238E27FC236}">
                <a16:creationId xmlns:a16="http://schemas.microsoft.com/office/drawing/2014/main" id="{A2903D0E-C218-4351-86F3-803E35AE55E1}"/>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12">
            <a:extLst xmlns:a="http://schemas.openxmlformats.org/drawingml/2006/main">
              <a:ext uri="{FF2B5EF4-FFF2-40B4-BE49-F238E27FC236}">
                <a16:creationId xmlns:a16="http://schemas.microsoft.com/office/drawing/2014/main" id="{A4DDB496-9AE2-4D01-9DDE-04C78869DE76}"/>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equidade salarial e combate à discriminação,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12">
            <a:extLst xmlns:a="http://schemas.openxmlformats.org/drawingml/2006/main">
              <a:ext uri="{FF2B5EF4-FFF2-40B4-BE49-F238E27FC236}">
                <a16:creationId xmlns:a16="http://schemas.microsoft.com/office/drawing/2014/main" id="{9CDB7AFA-8B9E-4F42-A5C5-EFBE4FAC3223}"/>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12">
            <a:extLst xmlns:a="http://schemas.openxmlformats.org/drawingml/2006/main">
              <a:ext uri="{FF2B5EF4-FFF2-40B4-BE49-F238E27FC236}">
                <a16:creationId xmlns:a16="http://schemas.microsoft.com/office/drawing/2014/main" id="{3C7EEBF5-85B9-49E8-A6B8-3C4A548AC28E}"/>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12">
            <a:extLst xmlns:a="http://schemas.openxmlformats.org/drawingml/2006/main">
              <a:ext uri="{FF2B5EF4-FFF2-40B4-BE49-F238E27FC236}">
                <a16:creationId xmlns:a16="http://schemas.microsoft.com/office/drawing/2014/main" id="{65F34EE3-3604-4597-9AD1-B8B3AA37BB8B}"/>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equidade salarial e combate à discriminação, incorporar cláusula de transição faseada com incentivo à conformidade voluntária e repartição de encargos entre empregadores, poder público e fundos solidários, mitigando os custos apontados pelo liberal.</a:t>
            </a:r>
          </a:p>
        </p:txBody>
      </p:sp>
      <p:sp>
        <p:nvSpPr>
          <p:cNvPr id="31" name="j-pend-box-12">
            <a:extLst xmlns:a="http://schemas.openxmlformats.org/drawingml/2006/main">
              <a:ext uri="{FF2B5EF4-FFF2-40B4-BE49-F238E27FC236}">
                <a16:creationId xmlns:a16="http://schemas.microsoft.com/office/drawing/2014/main" id="{470DE4E1-E185-4703-95D9-BCBB11FB941E}"/>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12">
            <a:extLst xmlns:a="http://schemas.openxmlformats.org/drawingml/2006/main">
              <a:ext uri="{FF2B5EF4-FFF2-40B4-BE49-F238E27FC236}">
                <a16:creationId xmlns:a16="http://schemas.microsoft.com/office/drawing/2014/main" id="{AC4C394F-2EEB-480A-B307-CC741B991758}"/>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12">
            <a:extLst xmlns:a="http://schemas.openxmlformats.org/drawingml/2006/main">
              <a:ext uri="{FF2B5EF4-FFF2-40B4-BE49-F238E27FC236}">
                <a16:creationId xmlns:a16="http://schemas.microsoft.com/office/drawing/2014/main" id="{C8FA3599-550E-4958-9E9F-F5FF8394E62C}"/>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equidade salarial e combate à discriminação.</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12 fixou a necessidade de transição gradual e mitigação de custos em equidade salarial e combate à discriminação.</a:t>
            </a:r>
          </a:p>
        </p:txBody>
      </p:sp>
      <p:sp>
        <p:nvSpPr>
          <p:cNvPr id="34" name="j-spec-box-12">
            <a:extLst xmlns:a="http://schemas.openxmlformats.org/drawingml/2006/main">
              <a:ext uri="{FF2B5EF4-FFF2-40B4-BE49-F238E27FC236}">
                <a16:creationId xmlns:a16="http://schemas.microsoft.com/office/drawing/2014/main" id="{C43943FD-05B2-4A5E-B901-F8968824FF59}"/>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12">
            <a:extLst xmlns:a="http://schemas.openxmlformats.org/drawingml/2006/main">
              <a:ext uri="{FF2B5EF4-FFF2-40B4-BE49-F238E27FC236}">
                <a16:creationId xmlns:a16="http://schemas.microsoft.com/office/drawing/2014/main" id="{7C06BAD1-D5E3-457F-8350-ECB6146BAD15}"/>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12">
            <a:extLst xmlns:a="http://schemas.openxmlformats.org/drawingml/2006/main">
              <a:ext uri="{FF2B5EF4-FFF2-40B4-BE49-F238E27FC236}">
                <a16:creationId xmlns:a16="http://schemas.microsoft.com/office/drawing/2014/main" id="{F2FB3F51-585F-4940-B602-BC4B5B503184}"/>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2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13.</a:t>
            </a:r>
          </a:p>
        </p:txBody>
      </p:sp>
    </p:spTree>
    <p:extLst>
      <p:ext uri="{BB962C8B-B14F-4D97-AF65-F5344CB8AC3E}">
        <p14:creationId xmlns:p14="http://schemas.microsoft.com/office/powerpoint/2010/main" val="22153736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03F59386-91F0-4F18-9818-8E23A17A9A99}"/>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379D916F-1E24-4125-AA21-018DD483BCED}"/>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150C3EBE-F9D0-4E0B-A664-90B76E3036EC}"/>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13 · EDUCAÇÃO CONTÍNUA E REQUALIFICAÇÃO PROFISSIONAL</a:t>
            </a:r>
          </a:p>
        </p:txBody>
      </p:sp>
      <p:sp>
        <p:nvSpPr>
          <p:cNvPr id="4" name="header-sub">
            <a:extLst xmlns:a="http://schemas.openxmlformats.org/drawingml/2006/main">
              <a:ext uri="{FF2B5EF4-FFF2-40B4-BE49-F238E27FC236}">
                <a16:creationId xmlns:a16="http://schemas.microsoft.com/office/drawing/2014/main" id="{9A168F03-DB84-4708-900C-799D4E678522}"/>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De quem é a responsabilidade de financiar a reciclagem de habilidades em mercados em rápida mutação?</a:t>
            </a:r>
          </a:p>
        </p:txBody>
      </p:sp>
      <p:sp>
        <p:nvSpPr>
          <p:cNvPr id="5" name="footer-rule">
            <a:extLst xmlns:a="http://schemas.openxmlformats.org/drawingml/2006/main">
              <a:ext uri="{FF2B5EF4-FFF2-40B4-BE49-F238E27FC236}">
                <a16:creationId xmlns:a16="http://schemas.microsoft.com/office/drawing/2014/main" id="{E6E36B7B-957B-4672-BD8D-F690F07F1271}"/>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464FADDA-9317-43BA-BC45-9D40FC26689C}"/>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7B72282C-181E-4B07-A79B-854142EE87EC}"/>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17</a:t>
            </a:r>
          </a:p>
        </p:txBody>
      </p:sp>
      <p:sp>
        <p:nvSpPr>
          <p:cNvPr id="8" name="left-hdr-13">
            <a:extLst xmlns:a="http://schemas.openxmlformats.org/drawingml/2006/main">
              <a:ext uri="{FF2B5EF4-FFF2-40B4-BE49-F238E27FC236}">
                <a16:creationId xmlns:a16="http://schemas.microsoft.com/office/drawing/2014/main" id="{DD5DDC70-0B79-459E-B66B-6498BF0EA074}"/>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13">
            <a:extLst xmlns:a="http://schemas.openxmlformats.org/drawingml/2006/main">
              <a:ext uri="{FF2B5EF4-FFF2-40B4-BE49-F238E27FC236}">
                <a16:creationId xmlns:a16="http://schemas.microsoft.com/office/drawing/2014/main" id="{C85DA0DE-3B1B-4BBF-9AD3-7F4E2509AEE0}"/>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13">
            <a:extLst xmlns:a="http://schemas.openxmlformats.org/drawingml/2006/main">
              <a:ext uri="{FF2B5EF4-FFF2-40B4-BE49-F238E27FC236}">
                <a16:creationId xmlns:a16="http://schemas.microsoft.com/office/drawing/2014/main" id="{4F6DBA73-B986-446A-9CA3-F2CA07B9ED43}"/>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13">
            <a:extLst xmlns:a="http://schemas.openxmlformats.org/drawingml/2006/main">
              <a:ext uri="{FF2B5EF4-FFF2-40B4-BE49-F238E27FC236}">
                <a16:creationId xmlns:a16="http://schemas.microsoft.com/office/drawing/2014/main" id="{D73D74E5-B10F-4250-BB29-0B1A96220D11}"/>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12 fixou a necessidade de transição gradual e mitigação de custos em equidade salarial e combate à discriminação.'): A qualificação profissional contínua é direito do trabalhador e condição de competitividade do país. Defendemos a instituição de horas anuais remuneradas destinadas à requalificação em tecnologias emergentes, cofinanciadas pelo Estado e pelo setor empresarial através de fundos setoriais de capacitação.</a:t>
            </a:r>
          </a:p>
        </p:txBody>
      </p:sp>
      <p:sp>
        <p:nvSpPr>
          <p:cNvPr id="12" name="t1-a2-box-13">
            <a:extLst xmlns:a="http://schemas.openxmlformats.org/drawingml/2006/main">
              <a:ext uri="{FF2B5EF4-FFF2-40B4-BE49-F238E27FC236}">
                <a16:creationId xmlns:a16="http://schemas.microsoft.com/office/drawing/2014/main" id="{4A4690CD-DD34-4D18-BC01-FAD2E27D5F41}"/>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13">
            <a:extLst xmlns:a="http://schemas.openxmlformats.org/drawingml/2006/main">
              <a:ext uri="{FF2B5EF4-FFF2-40B4-BE49-F238E27FC236}">
                <a16:creationId xmlns:a16="http://schemas.microsoft.com/office/drawing/2014/main" id="{45EE72BE-4A20-4650-9766-393E2E04F44C}"/>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13">
            <a:extLst xmlns:a="http://schemas.openxmlformats.org/drawingml/2006/main">
              <a:ext uri="{FF2B5EF4-FFF2-40B4-BE49-F238E27FC236}">
                <a16:creationId xmlns:a16="http://schemas.microsoft.com/office/drawing/2014/main" id="{DE4FDE32-8983-4579-B123-1DF0ACBCD72B}"/>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investimento público na educação contínua pode levar a um emprego em desqualificação e reduzir o potencial produtivo do país.</a:t>
            </a:r>
          </a:p>
          <a:p xmlns:a="http://schemas.openxmlformats.org/drawingml/2006/main">
            <a:pPr algn="l">
              <a:lnSpc>
                <a:spcPct val="115000"/>
              </a:lnSpc>
              <a:buNone/>
              <a:defRPr sz="900" b="0" i="0">
                <a:solidFill>
                  <a:srgbClr val="0F172A"/>
                </a:solidFill>
              </a:defRPr>
            </a:pPr>
            <a:r>
              <a:rPr sz="900" b="0" i="0">
                <a:solidFill>
                  <a:srgbClr val="0F172A"/>
                </a:solidFill>
              </a:rPr>
              <a:t>Pergunta: Como podemos garantir que as empresas se comprometam com financiar programas de requalificação profissional?</a:t>
            </a:r>
          </a:p>
        </p:txBody>
      </p:sp>
      <p:sp>
        <p:nvSpPr>
          <p:cNvPr id="15" name="t2-a2-box-13">
            <a:extLst xmlns:a="http://schemas.openxmlformats.org/drawingml/2006/main">
              <a:ext uri="{FF2B5EF4-FFF2-40B4-BE49-F238E27FC236}">
                <a16:creationId xmlns:a16="http://schemas.microsoft.com/office/drawing/2014/main" id="{168327D1-AED4-449E-9EF2-7D02EF996E28}"/>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13">
            <a:extLst xmlns:a="http://schemas.openxmlformats.org/drawingml/2006/main">
              <a:ext uri="{FF2B5EF4-FFF2-40B4-BE49-F238E27FC236}">
                <a16:creationId xmlns:a16="http://schemas.microsoft.com/office/drawing/2014/main" id="{2D3FE7C4-031E-479B-91EE-40A51916ED12}"/>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13">
            <a:extLst xmlns:a="http://schemas.openxmlformats.org/drawingml/2006/main">
              <a:ext uri="{FF2B5EF4-FFF2-40B4-BE49-F238E27FC236}">
                <a16:creationId xmlns:a16="http://schemas.microsoft.com/office/drawing/2014/main" id="{BBE89AA8-264B-4771-B9E1-839CE0E4D251}"/>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falta de incentivo financeiro às empresas em investir na requalificação profissional pode resultar em um déficit produtivo, diminuindo a competitividade do país.</a:t>
            </a:r>
          </a:p>
          <a:p xmlns:a="http://schemas.openxmlformats.org/drawingml/2006/main">
            <a:pPr algn="l">
              <a:lnSpc>
                <a:spcPct val="115000"/>
              </a:lnSpc>
              <a:buNone/>
              <a:defRPr sz="900" b="0" i="0">
                <a:solidFill>
                  <a:srgbClr val="0F172A"/>
                </a:solidFill>
              </a:defRPr>
            </a:pPr>
            <a:r>
              <a:rPr sz="900" b="0" i="0">
                <a:solidFill>
                  <a:srgbClr val="0F172A"/>
                </a:solidFill>
              </a:rPr>
              <a:t>Pergunta: Como podemos garantir que as empresas se comprometam com o investimento em educação contínua e requalificação?</a:t>
            </a:r>
          </a:p>
        </p:txBody>
      </p:sp>
      <p:sp>
        <p:nvSpPr>
          <p:cNvPr id="18" name="t2-a1-box-13">
            <a:extLst xmlns:a="http://schemas.openxmlformats.org/drawingml/2006/main">
              <a:ext uri="{FF2B5EF4-FFF2-40B4-BE49-F238E27FC236}">
                <a16:creationId xmlns:a16="http://schemas.microsoft.com/office/drawing/2014/main" id="{F5CD3052-69A2-45D3-B2AD-A5DF3D345A6F}"/>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13">
            <a:extLst xmlns:a="http://schemas.openxmlformats.org/drawingml/2006/main">
              <a:ext uri="{FF2B5EF4-FFF2-40B4-BE49-F238E27FC236}">
                <a16:creationId xmlns:a16="http://schemas.microsoft.com/office/drawing/2014/main" id="{819DC6F0-2F0C-423B-86A4-2DB16D3FC7B2}"/>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13">
            <a:extLst xmlns:a="http://schemas.openxmlformats.org/drawingml/2006/main">
              <a:ext uri="{FF2B5EF4-FFF2-40B4-BE49-F238E27FC236}">
                <a16:creationId xmlns:a16="http://schemas.microsoft.com/office/drawing/2014/main" id="{F5BE2D60-F786-4E5E-AEDB-E3958F18390D}"/>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falta de investimento público na educação contínua pode levar a um emprego em desqualificação e reduzir o poten...'), propomos que a implementação não seja abrupta nem cega à capacidade financeira dos negócios, adotando crédito presumido de transição e escalonamento setorial. Em relação ao segundo ponto levantado sobre tempo remunerado para estudo versus contrapartidas de permanência no emprego ('Risco: A falta de incentivo financeiro às empresas em investir na requalificação profissional pode resultar em um défici...'),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13">
            <a:extLst xmlns:a="http://schemas.openxmlformats.org/drawingml/2006/main">
              <a:ext uri="{FF2B5EF4-FFF2-40B4-BE49-F238E27FC236}">
                <a16:creationId xmlns:a16="http://schemas.microsoft.com/office/drawing/2014/main" id="{76ED6227-EE32-49BB-A1AE-3DFBA2F35848}"/>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13">
            <a:extLst xmlns:a="http://schemas.openxmlformats.org/drawingml/2006/main">
              <a:ext uri="{FF2B5EF4-FFF2-40B4-BE49-F238E27FC236}">
                <a16:creationId xmlns:a16="http://schemas.microsoft.com/office/drawing/2014/main" id="{A019F85B-181D-4D01-BDAE-CC8486DEB844}"/>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13">
            <a:extLst xmlns:a="http://schemas.openxmlformats.org/drawingml/2006/main">
              <a:ext uri="{FF2B5EF4-FFF2-40B4-BE49-F238E27FC236}">
                <a16:creationId xmlns:a16="http://schemas.microsoft.com/office/drawing/2014/main" id="{A1DE457F-EC72-434B-8FB5-4FE1FC253442}"/>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13">
            <a:extLst xmlns:a="http://schemas.openxmlformats.org/drawingml/2006/main">
              <a:ext uri="{FF2B5EF4-FFF2-40B4-BE49-F238E27FC236}">
                <a16:creationId xmlns:a16="http://schemas.microsoft.com/office/drawing/2014/main" id="{76C506EF-8D12-4B66-A334-F5862E4DC896}"/>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educação contínua e requalificação profissional e os custos/incentivos de mercado apontados pelo liberal.</a:t>
            </a:r>
          </a:p>
        </p:txBody>
      </p:sp>
      <p:sp>
        <p:nvSpPr>
          <p:cNvPr id="25" name="j-verd-box-13">
            <a:extLst xmlns:a="http://schemas.openxmlformats.org/drawingml/2006/main">
              <a:ext uri="{FF2B5EF4-FFF2-40B4-BE49-F238E27FC236}">
                <a16:creationId xmlns:a16="http://schemas.microsoft.com/office/drawing/2014/main" id="{89F9C279-6BAA-4B7B-B9F8-7A8FB1037DEA}"/>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13">
            <a:extLst xmlns:a="http://schemas.openxmlformats.org/drawingml/2006/main">
              <a:ext uri="{FF2B5EF4-FFF2-40B4-BE49-F238E27FC236}">
                <a16:creationId xmlns:a16="http://schemas.microsoft.com/office/drawing/2014/main" id="{7D58C354-CAD5-4508-8494-DC81E01B0731}"/>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13">
            <a:extLst xmlns:a="http://schemas.openxmlformats.org/drawingml/2006/main">
              <a:ext uri="{FF2B5EF4-FFF2-40B4-BE49-F238E27FC236}">
                <a16:creationId xmlns:a16="http://schemas.microsoft.com/office/drawing/2014/main" id="{A6353945-4D8D-42BD-914C-222BCE540884}"/>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educação contínua e requalificação profissional,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13">
            <a:extLst xmlns:a="http://schemas.openxmlformats.org/drawingml/2006/main">
              <a:ext uri="{FF2B5EF4-FFF2-40B4-BE49-F238E27FC236}">
                <a16:creationId xmlns:a16="http://schemas.microsoft.com/office/drawing/2014/main" id="{B5430017-1040-4FD3-814A-0B6762680547}"/>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13">
            <a:extLst xmlns:a="http://schemas.openxmlformats.org/drawingml/2006/main">
              <a:ext uri="{FF2B5EF4-FFF2-40B4-BE49-F238E27FC236}">
                <a16:creationId xmlns:a16="http://schemas.microsoft.com/office/drawing/2014/main" id="{82AACB59-557A-4E21-A23A-8DF903843A5C}"/>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13">
            <a:extLst xmlns:a="http://schemas.openxmlformats.org/drawingml/2006/main">
              <a:ext uri="{FF2B5EF4-FFF2-40B4-BE49-F238E27FC236}">
                <a16:creationId xmlns:a16="http://schemas.microsoft.com/office/drawing/2014/main" id="{08ACB638-338F-439C-9451-841D4382E7B6}"/>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educação contínua e requalificação profissional, incorporar cláusula de transição faseada com incentivo à conformidade voluntária e repartição de encargos entre empregadores, poder público e fundos solidários, mitigando os custos apontados pelo liberal.</a:t>
            </a:r>
          </a:p>
        </p:txBody>
      </p:sp>
      <p:sp>
        <p:nvSpPr>
          <p:cNvPr id="31" name="j-pend-box-13">
            <a:extLst xmlns:a="http://schemas.openxmlformats.org/drawingml/2006/main">
              <a:ext uri="{FF2B5EF4-FFF2-40B4-BE49-F238E27FC236}">
                <a16:creationId xmlns:a16="http://schemas.microsoft.com/office/drawing/2014/main" id="{786CD4E1-2F85-4209-A0F2-46297B9D7C2C}"/>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13">
            <a:extLst xmlns:a="http://schemas.openxmlformats.org/drawingml/2006/main">
              <a:ext uri="{FF2B5EF4-FFF2-40B4-BE49-F238E27FC236}">
                <a16:creationId xmlns:a16="http://schemas.microsoft.com/office/drawing/2014/main" id="{1E15263C-F13B-49CE-85CC-BB617DC7C7DF}"/>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13">
            <a:extLst xmlns:a="http://schemas.openxmlformats.org/drawingml/2006/main">
              <a:ext uri="{FF2B5EF4-FFF2-40B4-BE49-F238E27FC236}">
                <a16:creationId xmlns:a16="http://schemas.microsoft.com/office/drawing/2014/main" id="{89EC03A6-B4CE-4A45-8038-2F5237EFDE82}"/>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educação contínua e requalificação profissional.</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13 fixou a necessidade de transição gradual e mitigação de custos em educação contínua e requalificação profissional.</a:t>
            </a:r>
          </a:p>
        </p:txBody>
      </p:sp>
      <p:sp>
        <p:nvSpPr>
          <p:cNvPr id="34" name="j-spec-box-13">
            <a:extLst xmlns:a="http://schemas.openxmlformats.org/drawingml/2006/main">
              <a:ext uri="{FF2B5EF4-FFF2-40B4-BE49-F238E27FC236}">
                <a16:creationId xmlns:a16="http://schemas.microsoft.com/office/drawing/2014/main" id="{4D3B8BEF-4344-4F9F-A090-C7F9B4532A8C}"/>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13">
            <a:extLst xmlns:a="http://schemas.openxmlformats.org/drawingml/2006/main">
              <a:ext uri="{FF2B5EF4-FFF2-40B4-BE49-F238E27FC236}">
                <a16:creationId xmlns:a16="http://schemas.microsoft.com/office/drawing/2014/main" id="{D350ABB3-8F4C-45B7-B180-B05D1CB8983E}"/>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13">
            <a:extLst xmlns:a="http://schemas.openxmlformats.org/drawingml/2006/main">
              <a:ext uri="{FF2B5EF4-FFF2-40B4-BE49-F238E27FC236}">
                <a16:creationId xmlns:a16="http://schemas.microsoft.com/office/drawing/2014/main" id="{C49A9E81-AB4C-4277-8C55-DF332BC6347E}"/>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14.</a:t>
            </a:r>
          </a:p>
        </p:txBody>
      </p:sp>
    </p:spTree>
    <p:extLst>
      <p:ext uri="{BB962C8B-B14F-4D97-AF65-F5344CB8AC3E}">
        <p14:creationId xmlns:p14="http://schemas.microsoft.com/office/powerpoint/2010/main" val="16461420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BD5A0BBA-4537-4A2B-B306-E02C8056239B}"/>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DEF7225B-8CF3-49E9-A152-13E25C96C994}"/>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61CC0132-B3FC-4672-A664-47C256A26F11}"/>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14 · INTELIGÊNCIA ARTIFICIAL, AUTOMAÇÃO E IMPACTO NO EMPREGO</a:t>
            </a:r>
          </a:p>
        </p:txBody>
      </p:sp>
      <p:sp>
        <p:nvSpPr>
          <p:cNvPr id="4" name="header-sub">
            <a:extLst xmlns:a="http://schemas.openxmlformats.org/drawingml/2006/main">
              <a:ext uri="{FF2B5EF4-FFF2-40B4-BE49-F238E27FC236}">
                <a16:creationId xmlns:a16="http://schemas.microsoft.com/office/drawing/2014/main" id="{1B2C12FA-EE43-44DC-A2DE-F0EC42552523}"/>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gerenciar a substituição de tarefas repetitivas compartilhando os ganhos de produtividade com a força de trabalho?</a:t>
            </a:r>
          </a:p>
        </p:txBody>
      </p:sp>
      <p:sp>
        <p:nvSpPr>
          <p:cNvPr id="5" name="footer-rule">
            <a:extLst xmlns:a="http://schemas.openxmlformats.org/drawingml/2006/main">
              <a:ext uri="{FF2B5EF4-FFF2-40B4-BE49-F238E27FC236}">
                <a16:creationId xmlns:a16="http://schemas.microsoft.com/office/drawing/2014/main" id="{FEC248AF-75C5-4E67-B72F-7FC5C4AF5C18}"/>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ED78E600-BAB7-4318-BF1B-7A95E6B0F2D6}"/>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B9F1AD49-2D44-4DE5-984A-92D0E772205E}"/>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18</a:t>
            </a:r>
          </a:p>
        </p:txBody>
      </p:sp>
      <p:sp>
        <p:nvSpPr>
          <p:cNvPr id="8" name="left-hdr-14">
            <a:extLst xmlns:a="http://schemas.openxmlformats.org/drawingml/2006/main">
              <a:ext uri="{FF2B5EF4-FFF2-40B4-BE49-F238E27FC236}">
                <a16:creationId xmlns:a16="http://schemas.microsoft.com/office/drawing/2014/main" id="{C4058565-4B61-4171-A05F-9F8A2D92C60F}"/>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14">
            <a:extLst xmlns:a="http://schemas.openxmlformats.org/drawingml/2006/main">
              <a:ext uri="{FF2B5EF4-FFF2-40B4-BE49-F238E27FC236}">
                <a16:creationId xmlns:a16="http://schemas.microsoft.com/office/drawing/2014/main" id="{A6AED291-B46B-4119-B4FC-20C64197AF0A}"/>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14">
            <a:extLst xmlns:a="http://schemas.openxmlformats.org/drawingml/2006/main">
              <a:ext uri="{FF2B5EF4-FFF2-40B4-BE49-F238E27FC236}">
                <a16:creationId xmlns:a16="http://schemas.microsoft.com/office/drawing/2014/main" id="{2DF21F3D-6819-4B98-A7D7-7F221B375A24}"/>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14">
            <a:extLst xmlns:a="http://schemas.openxmlformats.org/drawingml/2006/main">
              <a:ext uri="{FF2B5EF4-FFF2-40B4-BE49-F238E27FC236}">
                <a16:creationId xmlns:a16="http://schemas.microsoft.com/office/drawing/2014/main" id="{2937335D-25B5-4F5A-9F0A-7E8EC0631E6F}"/>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13 fixou a necessidade de transição gradual e mitigação de custos em educação contínua e requalificação profissional.'): A automação e a inteligência artificial não podem gerar apenas descarte em massa da força de trabalho e concentração exclusiva de lucros no capital. Exigimos planos de transição negociados, aviso prévio estendido em automações de larga escala e reinvestimento compulsório de parte dos ganhos de produtividade na recolocação interna de pessoal.</a:t>
            </a:r>
          </a:p>
        </p:txBody>
      </p:sp>
      <p:sp>
        <p:nvSpPr>
          <p:cNvPr id="12" name="t1-a2-box-14">
            <a:extLst xmlns:a="http://schemas.openxmlformats.org/drawingml/2006/main">
              <a:ext uri="{FF2B5EF4-FFF2-40B4-BE49-F238E27FC236}">
                <a16:creationId xmlns:a16="http://schemas.microsoft.com/office/drawing/2014/main" id="{00926CC6-0A3A-4FF5-BF7E-B618AB334268}"/>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14">
            <a:extLst xmlns:a="http://schemas.openxmlformats.org/drawingml/2006/main">
              <a:ext uri="{FF2B5EF4-FFF2-40B4-BE49-F238E27FC236}">
                <a16:creationId xmlns:a16="http://schemas.microsoft.com/office/drawing/2014/main" id="{FAB02C53-93F5-4937-B42A-5830620DE3BC}"/>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14">
            <a:extLst xmlns:a="http://schemas.openxmlformats.org/drawingml/2006/main">
              <a:ext uri="{FF2B5EF4-FFF2-40B4-BE49-F238E27FC236}">
                <a16:creationId xmlns:a16="http://schemas.microsoft.com/office/drawing/2014/main" id="{C3BCCED9-8300-45D1-97DB-A0697845214C}"/>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O risco é a perda do emprego e o aumento da precariedade dos trabalhadores.</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que os ganhos de produtividade sejam distribuídos equitativamente entre todos os setores econômicos?</a:t>
            </a:r>
          </a:p>
        </p:txBody>
      </p:sp>
      <p:sp>
        <p:nvSpPr>
          <p:cNvPr id="15" name="t2-a2-box-14">
            <a:extLst xmlns:a="http://schemas.openxmlformats.org/drawingml/2006/main">
              <a:ext uri="{FF2B5EF4-FFF2-40B4-BE49-F238E27FC236}">
                <a16:creationId xmlns:a16="http://schemas.microsoft.com/office/drawing/2014/main" id="{3605C918-992E-4436-9BD2-38B711856097}"/>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14">
            <a:extLst xmlns:a="http://schemas.openxmlformats.org/drawingml/2006/main">
              <a:ext uri="{FF2B5EF4-FFF2-40B4-BE49-F238E27FC236}">
                <a16:creationId xmlns:a16="http://schemas.microsoft.com/office/drawing/2014/main" id="{AFE31373-30A9-43A6-93A4-B7C66FD557A8}"/>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14">
            <a:extLst xmlns:a="http://schemas.openxmlformats.org/drawingml/2006/main">
              <a:ext uri="{FF2B5EF4-FFF2-40B4-BE49-F238E27FC236}">
                <a16:creationId xmlns:a16="http://schemas.microsoft.com/office/drawing/2014/main" id="{E90E57E8-4A74-414E-B5F9-18FBAD097A4B}"/>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principal barreira de mercado para as empresas é o medo da perda de clientes ao implementar tecnologias de IA que automatam processos</a:t>
            </a:r>
          </a:p>
          <a:p xmlns:a="http://schemas.openxmlformats.org/drawingml/2006/main">
            <a:pPr algn="l">
              <a:lnSpc>
                <a:spcPct val="115000"/>
              </a:lnSpc>
              <a:buNone/>
              <a:defRPr sz="900" b="0" i="0">
                <a:solidFill>
                  <a:srgbClr val="0F172A"/>
                </a:solidFill>
              </a:defRPr>
            </a:pPr>
            <a:r>
              <a:rPr sz="900" b="0" i="0">
                <a:solidFill>
                  <a:srgbClr val="0F172A"/>
                </a:solidFill>
              </a:rPr>
              <a:t>Pergunta: Como as empresas podem garantir a transição sustentável entre os postos de trabalho e novas oportunidades?</a:t>
            </a:r>
          </a:p>
        </p:txBody>
      </p:sp>
      <p:sp>
        <p:nvSpPr>
          <p:cNvPr id="18" name="t2-a1-box-14">
            <a:extLst xmlns:a="http://schemas.openxmlformats.org/drawingml/2006/main">
              <a:ext uri="{FF2B5EF4-FFF2-40B4-BE49-F238E27FC236}">
                <a16:creationId xmlns:a16="http://schemas.microsoft.com/office/drawing/2014/main" id="{9F246E3F-717D-4F86-919D-6EF2D98AD949}"/>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14">
            <a:extLst xmlns:a="http://schemas.openxmlformats.org/drawingml/2006/main">
              <a:ext uri="{FF2B5EF4-FFF2-40B4-BE49-F238E27FC236}">
                <a16:creationId xmlns:a16="http://schemas.microsoft.com/office/drawing/2014/main" id="{5BA5AC12-16F9-492B-8B23-C438E2E3BEE4}"/>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14">
            <a:extLst xmlns:a="http://schemas.openxmlformats.org/drawingml/2006/main">
              <a:ext uri="{FF2B5EF4-FFF2-40B4-BE49-F238E27FC236}">
                <a16:creationId xmlns:a16="http://schemas.microsoft.com/office/drawing/2014/main" id="{50E00F77-BB7A-470C-B9CD-8FC68A5EF60F}"/>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O risco é a perda do emprego e o aumento da precariedade dos trabalhadores.</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que os ganhos...'), propomos que a implementação não seja abrupta nem cega à capacidade financeira dos negócios, adotando crédito presumido de transição e escalonamento setorial. Em relação ao segundo ponto levantado sobre tributação sobre automação extrema versus criação de fundos setoriais de recolocação ('Risco: A principal barreira de mercado para as empresas é o medo da perda de clientes ao implementar tecnologias de IA q...'),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14">
            <a:extLst xmlns:a="http://schemas.openxmlformats.org/drawingml/2006/main">
              <a:ext uri="{FF2B5EF4-FFF2-40B4-BE49-F238E27FC236}">
                <a16:creationId xmlns:a16="http://schemas.microsoft.com/office/drawing/2014/main" id="{EAC93DB8-72C3-49CA-813D-472D8496123F}"/>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14">
            <a:extLst xmlns:a="http://schemas.openxmlformats.org/drawingml/2006/main">
              <a:ext uri="{FF2B5EF4-FFF2-40B4-BE49-F238E27FC236}">
                <a16:creationId xmlns:a16="http://schemas.microsoft.com/office/drawing/2014/main" id="{1CC493AC-597A-4D48-94D8-3D686E6A0E07}"/>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14">
            <a:extLst xmlns:a="http://schemas.openxmlformats.org/drawingml/2006/main">
              <a:ext uri="{FF2B5EF4-FFF2-40B4-BE49-F238E27FC236}">
                <a16:creationId xmlns:a16="http://schemas.microsoft.com/office/drawing/2014/main" id="{9906FF11-FDDB-443D-8514-8DB8B0A392DD}"/>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14">
            <a:extLst xmlns:a="http://schemas.openxmlformats.org/drawingml/2006/main">
              <a:ext uri="{FF2B5EF4-FFF2-40B4-BE49-F238E27FC236}">
                <a16:creationId xmlns:a16="http://schemas.microsoft.com/office/drawing/2014/main" id="{944A2641-AC47-4699-86E7-B03DBD50F191}"/>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inteligência artificial, automação e impacto no emprego e os custos/incentivos de mercado apontados pelo liberal.</a:t>
            </a:r>
          </a:p>
        </p:txBody>
      </p:sp>
      <p:sp>
        <p:nvSpPr>
          <p:cNvPr id="25" name="j-verd-box-14">
            <a:extLst xmlns:a="http://schemas.openxmlformats.org/drawingml/2006/main">
              <a:ext uri="{FF2B5EF4-FFF2-40B4-BE49-F238E27FC236}">
                <a16:creationId xmlns:a16="http://schemas.microsoft.com/office/drawing/2014/main" id="{FB8F39F3-1F10-4949-832E-7AAA4970AB52}"/>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14">
            <a:extLst xmlns:a="http://schemas.openxmlformats.org/drawingml/2006/main">
              <a:ext uri="{FF2B5EF4-FFF2-40B4-BE49-F238E27FC236}">
                <a16:creationId xmlns:a16="http://schemas.microsoft.com/office/drawing/2014/main" id="{62C03796-7131-4798-A3D4-92ACB441D05F}"/>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14">
            <a:extLst xmlns:a="http://schemas.openxmlformats.org/drawingml/2006/main">
              <a:ext uri="{FF2B5EF4-FFF2-40B4-BE49-F238E27FC236}">
                <a16:creationId xmlns:a16="http://schemas.microsoft.com/office/drawing/2014/main" id="{7387833E-F256-47DC-AE8F-480C4C038F9A}"/>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inteligência artificial, automação e impacto no emprego,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14">
            <a:extLst xmlns:a="http://schemas.openxmlformats.org/drawingml/2006/main">
              <a:ext uri="{FF2B5EF4-FFF2-40B4-BE49-F238E27FC236}">
                <a16:creationId xmlns:a16="http://schemas.microsoft.com/office/drawing/2014/main" id="{203A0A81-8670-4F8E-A1DE-A4B227271B46}"/>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14">
            <a:extLst xmlns:a="http://schemas.openxmlformats.org/drawingml/2006/main">
              <a:ext uri="{FF2B5EF4-FFF2-40B4-BE49-F238E27FC236}">
                <a16:creationId xmlns:a16="http://schemas.microsoft.com/office/drawing/2014/main" id="{3418E728-135D-4DE0-9899-282C5DA9FB64}"/>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14">
            <a:extLst xmlns:a="http://schemas.openxmlformats.org/drawingml/2006/main">
              <a:ext uri="{FF2B5EF4-FFF2-40B4-BE49-F238E27FC236}">
                <a16:creationId xmlns:a16="http://schemas.microsoft.com/office/drawing/2014/main" id="{C14CB35E-D614-467D-A13B-9E4398DC7116}"/>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inteligência artificial, automação e impacto no emprego, incorporar cláusula de transição faseada com incentivo à conformidade voluntária e repartição de encargos entre empregadores, poder público e fundos solidários, mitigando os custos apontados pelo liberal.</a:t>
            </a:r>
          </a:p>
        </p:txBody>
      </p:sp>
      <p:sp>
        <p:nvSpPr>
          <p:cNvPr id="31" name="j-pend-box-14">
            <a:extLst xmlns:a="http://schemas.openxmlformats.org/drawingml/2006/main">
              <a:ext uri="{FF2B5EF4-FFF2-40B4-BE49-F238E27FC236}">
                <a16:creationId xmlns:a16="http://schemas.microsoft.com/office/drawing/2014/main" id="{2E0A7AE4-2CDA-43E9-BDF5-21D7599BB75B}"/>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14">
            <a:extLst xmlns:a="http://schemas.openxmlformats.org/drawingml/2006/main">
              <a:ext uri="{FF2B5EF4-FFF2-40B4-BE49-F238E27FC236}">
                <a16:creationId xmlns:a16="http://schemas.microsoft.com/office/drawing/2014/main" id="{E42EE262-5458-4604-9B8B-9046F5F89DF6}"/>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14">
            <a:extLst xmlns:a="http://schemas.openxmlformats.org/drawingml/2006/main">
              <a:ext uri="{FF2B5EF4-FFF2-40B4-BE49-F238E27FC236}">
                <a16:creationId xmlns:a16="http://schemas.microsoft.com/office/drawing/2014/main" id="{A183CCB2-4DC8-4EE9-A663-B966C47D3ED7}"/>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inteligência artificial, automação e impacto no emprego.</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14 fixou a necessidade de transição gradual e mitigação de custos em inteligência artificial, automação e impacto no emprego.</a:t>
            </a:r>
          </a:p>
        </p:txBody>
      </p:sp>
      <p:sp>
        <p:nvSpPr>
          <p:cNvPr id="34" name="j-spec-box-14">
            <a:extLst xmlns:a="http://schemas.openxmlformats.org/drawingml/2006/main">
              <a:ext uri="{FF2B5EF4-FFF2-40B4-BE49-F238E27FC236}">
                <a16:creationId xmlns:a16="http://schemas.microsoft.com/office/drawing/2014/main" id="{EE3ABA4D-C3D5-415A-98B2-BF42822BBCF7}"/>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14">
            <a:extLst xmlns:a="http://schemas.openxmlformats.org/drawingml/2006/main">
              <a:ext uri="{FF2B5EF4-FFF2-40B4-BE49-F238E27FC236}">
                <a16:creationId xmlns:a16="http://schemas.microsoft.com/office/drawing/2014/main" id="{459C9D0D-4B8B-4DB8-8AA6-971F8BF8731F}"/>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14">
            <a:extLst xmlns:a="http://schemas.openxmlformats.org/drawingml/2006/main">
              <a:ext uri="{FF2B5EF4-FFF2-40B4-BE49-F238E27FC236}">
                <a16:creationId xmlns:a16="http://schemas.microsoft.com/office/drawing/2014/main" id="{69410978-2F1D-40F5-8A5B-6CF1F06EF2F9}"/>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2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15.</a:t>
            </a:r>
          </a:p>
        </p:txBody>
      </p:sp>
    </p:spTree>
    <p:extLst>
      <p:ext uri="{BB962C8B-B14F-4D97-AF65-F5344CB8AC3E}">
        <p14:creationId xmlns:p14="http://schemas.microsoft.com/office/powerpoint/2010/main" val="51730838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CCD943C8-C47A-4F6A-AF42-D2E72A701643}"/>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938B64A2-984D-43AC-A745-413D0929D347}"/>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62C58EBC-6B8B-483B-99F1-FC59DF54899E}"/>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15 · CONCORRÊNCIA NO MERCADO DE TRABALHO E CLÁUSULAS DE BARREIRA</a:t>
            </a:r>
          </a:p>
        </p:txBody>
      </p:sp>
      <p:sp>
        <p:nvSpPr>
          <p:cNvPr id="4" name="header-sub">
            <a:extLst xmlns:a="http://schemas.openxmlformats.org/drawingml/2006/main">
              <a:ext uri="{FF2B5EF4-FFF2-40B4-BE49-F238E27FC236}">
                <a16:creationId xmlns:a16="http://schemas.microsoft.com/office/drawing/2014/main" id="{E51D4EE6-C2F7-469B-AA60-1CA539CCBEE8}"/>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coibir monopsonismos e cláusulas abusivas de não-competição aumentando o poder de barganha do trabalhador?</a:t>
            </a:r>
          </a:p>
        </p:txBody>
      </p:sp>
      <p:sp>
        <p:nvSpPr>
          <p:cNvPr id="5" name="footer-rule">
            <a:extLst xmlns:a="http://schemas.openxmlformats.org/drawingml/2006/main">
              <a:ext uri="{FF2B5EF4-FFF2-40B4-BE49-F238E27FC236}">
                <a16:creationId xmlns:a16="http://schemas.microsoft.com/office/drawing/2014/main" id="{2A6A4890-692C-43FA-9313-03257DA0A3C1}"/>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6C039999-AB8E-47C1-9CE6-EDDF48138A9B}"/>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848D9C0B-B66D-4D82-9E0D-536784E75CCB}"/>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19</a:t>
            </a:r>
          </a:p>
        </p:txBody>
      </p:sp>
      <p:sp>
        <p:nvSpPr>
          <p:cNvPr id="8" name="left-hdr-15">
            <a:extLst xmlns:a="http://schemas.openxmlformats.org/drawingml/2006/main">
              <a:ext uri="{FF2B5EF4-FFF2-40B4-BE49-F238E27FC236}">
                <a16:creationId xmlns:a16="http://schemas.microsoft.com/office/drawing/2014/main" id="{E1618204-7ECB-4A7B-8B11-25A687C54413}"/>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15">
            <a:extLst xmlns:a="http://schemas.openxmlformats.org/drawingml/2006/main">
              <a:ext uri="{FF2B5EF4-FFF2-40B4-BE49-F238E27FC236}">
                <a16:creationId xmlns:a16="http://schemas.microsoft.com/office/drawing/2014/main" id="{E2882CD7-CFB4-4D3D-A140-7D7A8AA0ED9D}"/>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15">
            <a:extLst xmlns:a="http://schemas.openxmlformats.org/drawingml/2006/main">
              <a:ext uri="{FF2B5EF4-FFF2-40B4-BE49-F238E27FC236}">
                <a16:creationId xmlns:a16="http://schemas.microsoft.com/office/drawing/2014/main" id="{0424C822-234D-4506-A6E1-CDBBFFF30BE8}"/>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15">
            <a:extLst xmlns:a="http://schemas.openxmlformats.org/drawingml/2006/main">
              <a:ext uri="{FF2B5EF4-FFF2-40B4-BE49-F238E27FC236}">
                <a16:creationId xmlns:a16="http://schemas.microsoft.com/office/drawing/2014/main" id="{CDF4F3C7-2D23-43CE-915A-A632A9B3120A}"/>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14 fixou a necessidade de transição gradual e mitigação de custos em inteligência artificial, automação e impacto no emprego.'): Cláusulas patronais de não-competição abusivas, restrições contratuais desproporcionais e cartéis salariais reduzem o poder de barganha e a liberdade de saída dos trabalhadores. Essas cláusulas devem ser consideradas nulas para trabalhadores de renda média e baixa, garantindo livre circulação profissional e dinamismo salarial.</a:t>
            </a:r>
          </a:p>
        </p:txBody>
      </p:sp>
      <p:sp>
        <p:nvSpPr>
          <p:cNvPr id="12" name="t1-a2-box-15">
            <a:extLst xmlns:a="http://schemas.openxmlformats.org/drawingml/2006/main">
              <a:ext uri="{FF2B5EF4-FFF2-40B4-BE49-F238E27FC236}">
                <a16:creationId xmlns:a16="http://schemas.microsoft.com/office/drawing/2014/main" id="{EF43354A-0108-4821-8FF4-AE0397588899}"/>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15">
            <a:extLst xmlns:a="http://schemas.openxmlformats.org/drawingml/2006/main">
              <a:ext uri="{FF2B5EF4-FFF2-40B4-BE49-F238E27FC236}">
                <a16:creationId xmlns:a16="http://schemas.microsoft.com/office/drawing/2014/main" id="{88F339D4-7835-40C4-AE3C-158F1BEF5ED5}"/>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15">
            <a:extLst xmlns:a="http://schemas.openxmlformats.org/drawingml/2006/main">
              <a:ext uri="{FF2B5EF4-FFF2-40B4-BE49-F238E27FC236}">
                <a16:creationId xmlns:a16="http://schemas.microsoft.com/office/drawing/2014/main" id="{2DE020FC-F0B3-442A-9378-BFD3A65DD315}"/>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cláusula abusiva de não-competição pode resultar em perda de competitividade e redução do investimento na economia.</a:t>
            </a:r>
          </a:p>
          <a:p xmlns:a="http://schemas.openxmlformats.org/drawingml/2006/main">
            <a:pPr algn="l">
              <a:lnSpc>
                <a:spcPct val="115000"/>
              </a:lnSpc>
              <a:buNone/>
              <a:defRPr sz="900" b="0" i="0">
                <a:solidFill>
                  <a:srgbClr val="0F172A"/>
                </a:solidFill>
              </a:defRPr>
            </a:pPr>
            <a:r>
              <a:rPr sz="900" b="0" i="0">
                <a:solidFill>
                  <a:srgbClr val="0F172A"/>
                </a:solidFill>
              </a:rPr>
              <a:t>Pergunta: Como lidamos com a necessidade da transição para um mercado mais eficiente sem prejudicar os trabalhadores que precisam se adaptar?</a:t>
            </a:r>
          </a:p>
        </p:txBody>
      </p:sp>
      <p:sp>
        <p:nvSpPr>
          <p:cNvPr id="15" name="t2-a2-box-15">
            <a:extLst xmlns:a="http://schemas.openxmlformats.org/drawingml/2006/main">
              <a:ext uri="{FF2B5EF4-FFF2-40B4-BE49-F238E27FC236}">
                <a16:creationId xmlns:a16="http://schemas.microsoft.com/office/drawing/2014/main" id="{1B04D05B-96FD-4A13-A93F-3032005E85C8}"/>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15">
            <a:extLst xmlns:a="http://schemas.openxmlformats.org/drawingml/2006/main">
              <a:ext uri="{FF2B5EF4-FFF2-40B4-BE49-F238E27FC236}">
                <a16:creationId xmlns:a16="http://schemas.microsoft.com/office/drawing/2014/main" id="{6ACC0A13-6979-4B72-A6BD-0CBD0EAB5556}"/>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15">
            <a:extLst xmlns:a="http://schemas.openxmlformats.org/drawingml/2006/main">
              <a:ext uri="{FF2B5EF4-FFF2-40B4-BE49-F238E27FC236}">
                <a16:creationId xmlns:a16="http://schemas.microsoft.com/office/drawing/2014/main" id="{FC443CBA-3C8B-48AF-8B36-D021C85EA528}"/>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cláusula abusiva de exclusividade técnica pode impor custos excessivos para as empresas, prejudicando sua viabilidade econômica</a:t>
            </a:r>
          </a:p>
          <a:p xmlns:a="http://schemas.openxmlformats.org/drawingml/2006/main">
            <a:pPr algn="l">
              <a:lnSpc>
                <a:spcPct val="115000"/>
              </a:lnSpc>
              <a:buNone/>
              <a:defRPr sz="900" b="0" i="0">
                <a:solidFill>
                  <a:srgbClr val="0F172A"/>
                </a:solidFill>
              </a:defRPr>
            </a:pPr>
            <a:r>
              <a:rPr sz="900" b="0" i="0">
                <a:solidFill>
                  <a:srgbClr val="0F172A"/>
                </a:solidFill>
              </a:rPr>
              <a:t>Pergunta: Como garantimos a concorrência efetiva sem deixar de proteger os interesses dos trabalhadores?</a:t>
            </a:r>
          </a:p>
        </p:txBody>
      </p:sp>
      <p:sp>
        <p:nvSpPr>
          <p:cNvPr id="18" name="t2-a1-box-15">
            <a:extLst xmlns:a="http://schemas.openxmlformats.org/drawingml/2006/main">
              <a:ext uri="{FF2B5EF4-FFF2-40B4-BE49-F238E27FC236}">
                <a16:creationId xmlns:a16="http://schemas.microsoft.com/office/drawing/2014/main" id="{4C10CA53-804C-4AB6-8C14-DD8DC5E105E4}"/>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15">
            <a:extLst xmlns:a="http://schemas.openxmlformats.org/drawingml/2006/main">
              <a:ext uri="{FF2B5EF4-FFF2-40B4-BE49-F238E27FC236}">
                <a16:creationId xmlns:a16="http://schemas.microsoft.com/office/drawing/2014/main" id="{5AF7B208-23C2-48FA-9FFA-AD37ECA45F0B}"/>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15">
            <a:extLst xmlns:a="http://schemas.openxmlformats.org/drawingml/2006/main">
              <a:ext uri="{FF2B5EF4-FFF2-40B4-BE49-F238E27FC236}">
                <a16:creationId xmlns:a16="http://schemas.microsoft.com/office/drawing/2014/main" id="{96E0AFAF-5C15-4FF5-9FF1-5D1072C34C72}"/>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cláusula abusiva de não-competição pode resultar em perda de competitividade e redução do investimento na econo...'), propomos que a implementação não seja abrupta nem cega à capacidade financeira dos negócios, adotando crédito presumido de transição e escalonamento setorial. Em relação ao segundo ponto levantado sobre limite temporal e indenização compensatória em pactos de exclusividade técnica ('Risco: A cláusula abusiva de exclusividade técnica pode impor custos excessivos para as empresas, prejudicando sua viabi...'),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15">
            <a:extLst xmlns:a="http://schemas.openxmlformats.org/drawingml/2006/main">
              <a:ext uri="{FF2B5EF4-FFF2-40B4-BE49-F238E27FC236}">
                <a16:creationId xmlns:a16="http://schemas.microsoft.com/office/drawing/2014/main" id="{95EBFBAF-0508-4BE8-B671-B18EC402D85F}"/>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15">
            <a:extLst xmlns:a="http://schemas.openxmlformats.org/drawingml/2006/main">
              <a:ext uri="{FF2B5EF4-FFF2-40B4-BE49-F238E27FC236}">
                <a16:creationId xmlns:a16="http://schemas.microsoft.com/office/drawing/2014/main" id="{7FB185C6-3CD9-4786-B60D-13056A87CDF3}"/>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15">
            <a:extLst xmlns:a="http://schemas.openxmlformats.org/drawingml/2006/main">
              <a:ext uri="{FF2B5EF4-FFF2-40B4-BE49-F238E27FC236}">
                <a16:creationId xmlns:a16="http://schemas.microsoft.com/office/drawing/2014/main" id="{C7E0510E-7941-4460-9C92-34E924497903}"/>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15">
            <a:extLst xmlns:a="http://schemas.openxmlformats.org/drawingml/2006/main">
              <a:ext uri="{FF2B5EF4-FFF2-40B4-BE49-F238E27FC236}">
                <a16:creationId xmlns:a16="http://schemas.microsoft.com/office/drawing/2014/main" id="{F55DC583-CD08-4B13-AC2E-F1FD2F935697}"/>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concorrência no mercado de trabalho e cláusulas de barreira e os custos/incentivos de mercado apontados pelo liberal.</a:t>
            </a:r>
          </a:p>
        </p:txBody>
      </p:sp>
      <p:sp>
        <p:nvSpPr>
          <p:cNvPr id="25" name="j-verd-box-15">
            <a:extLst xmlns:a="http://schemas.openxmlformats.org/drawingml/2006/main">
              <a:ext uri="{FF2B5EF4-FFF2-40B4-BE49-F238E27FC236}">
                <a16:creationId xmlns:a16="http://schemas.microsoft.com/office/drawing/2014/main" id="{2620B31C-60EC-46CF-89E4-FE2BFE685F24}"/>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15">
            <a:extLst xmlns:a="http://schemas.openxmlformats.org/drawingml/2006/main">
              <a:ext uri="{FF2B5EF4-FFF2-40B4-BE49-F238E27FC236}">
                <a16:creationId xmlns:a16="http://schemas.microsoft.com/office/drawing/2014/main" id="{769F1C36-1371-4CC7-8670-DED1CD1D8E8D}"/>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15">
            <a:extLst xmlns:a="http://schemas.openxmlformats.org/drawingml/2006/main">
              <a:ext uri="{FF2B5EF4-FFF2-40B4-BE49-F238E27FC236}">
                <a16:creationId xmlns:a16="http://schemas.microsoft.com/office/drawing/2014/main" id="{6BA68FD4-2ABE-4141-BF1B-1DBE0C08C210}"/>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concorrência no mercado de trabalho e cláusulas de barreira,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15">
            <a:extLst xmlns:a="http://schemas.openxmlformats.org/drawingml/2006/main">
              <a:ext uri="{FF2B5EF4-FFF2-40B4-BE49-F238E27FC236}">
                <a16:creationId xmlns:a16="http://schemas.microsoft.com/office/drawing/2014/main" id="{EA1528B8-BAD1-4384-A927-D79863595896}"/>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15">
            <a:extLst xmlns:a="http://schemas.openxmlformats.org/drawingml/2006/main">
              <a:ext uri="{FF2B5EF4-FFF2-40B4-BE49-F238E27FC236}">
                <a16:creationId xmlns:a16="http://schemas.microsoft.com/office/drawing/2014/main" id="{AB6861D0-52CF-445C-ADB9-D4A490339654}"/>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15">
            <a:extLst xmlns:a="http://schemas.openxmlformats.org/drawingml/2006/main">
              <a:ext uri="{FF2B5EF4-FFF2-40B4-BE49-F238E27FC236}">
                <a16:creationId xmlns:a16="http://schemas.microsoft.com/office/drawing/2014/main" id="{B1457B65-3271-45E5-82E7-B8997C9B810A}"/>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concorrência no mercado de trabalho e cláusulas de barreira, incorporar cláusula de transição faseada com incentivo à conformidade voluntária e repartição de encargos entre empregadores, poder público e fundos solidários, mitigando os custos apontados pelo liberal.</a:t>
            </a:r>
          </a:p>
        </p:txBody>
      </p:sp>
      <p:sp>
        <p:nvSpPr>
          <p:cNvPr id="31" name="j-pend-box-15">
            <a:extLst xmlns:a="http://schemas.openxmlformats.org/drawingml/2006/main">
              <a:ext uri="{FF2B5EF4-FFF2-40B4-BE49-F238E27FC236}">
                <a16:creationId xmlns:a16="http://schemas.microsoft.com/office/drawing/2014/main" id="{B22AEF4F-7A58-4F6E-85B3-634A9DAE2AE2}"/>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15">
            <a:extLst xmlns:a="http://schemas.openxmlformats.org/drawingml/2006/main">
              <a:ext uri="{FF2B5EF4-FFF2-40B4-BE49-F238E27FC236}">
                <a16:creationId xmlns:a16="http://schemas.microsoft.com/office/drawing/2014/main" id="{94FE8E82-33BB-4402-9E9E-D3554073BF44}"/>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15">
            <a:extLst xmlns:a="http://schemas.openxmlformats.org/drawingml/2006/main">
              <a:ext uri="{FF2B5EF4-FFF2-40B4-BE49-F238E27FC236}">
                <a16:creationId xmlns:a16="http://schemas.microsoft.com/office/drawing/2014/main" id="{EFD50A96-F953-4746-B374-7C774DB7765B}"/>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concorrência no mercado de trabalho e cláusulas de barreira.</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15 fixou a necessidade de transição gradual e mitigação de custos em concorrência no mercado de trabalho e cláusulas de barreira.</a:t>
            </a:r>
          </a:p>
        </p:txBody>
      </p:sp>
      <p:sp>
        <p:nvSpPr>
          <p:cNvPr id="34" name="j-spec-box-15">
            <a:extLst xmlns:a="http://schemas.openxmlformats.org/drawingml/2006/main">
              <a:ext uri="{FF2B5EF4-FFF2-40B4-BE49-F238E27FC236}">
                <a16:creationId xmlns:a16="http://schemas.microsoft.com/office/drawing/2014/main" id="{3F381061-BEE3-4CCA-B8E2-E3A96B660D9D}"/>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DF4FF"/>
          </a:solidFill>
          <a:ln xmlns:a="http://schemas.openxmlformats.org/drawingml/2006/main" w="14288">
            <a:solidFill>
              <a:srgbClr val="E879F9"/>
            </a:solidFill>
            <a:prstDash val="solid"/>
          </a:ln>
        </p:spPr>
      </p:sp>
      <p:sp>
        <p:nvSpPr>
          <p:cNvPr id="35" name="j-spec-badge-15">
            <a:extLst xmlns:a="http://schemas.openxmlformats.org/drawingml/2006/main">
              <a:ext uri="{FF2B5EF4-FFF2-40B4-BE49-F238E27FC236}">
                <a16:creationId xmlns:a16="http://schemas.microsoft.com/office/drawing/2014/main" id="{C0F28444-DBF5-42E4-B98C-DB47DFDF48C5}"/>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86198F"/>
                </a:solidFill>
              </a:defRPr>
            </a:defPPr>
          </a:lstStyle>
          <a:p xmlns:a="http://schemas.openxmlformats.org/drawingml/2006/main">
            <a:pPr algn="l">
              <a:lnSpc>
                <a:spcPct val="115000"/>
              </a:lnSpc>
              <a:buNone/>
              <a:defRPr sz="825" b="1" i="0">
                <a:solidFill>
                  <a:srgbClr val="86198F"/>
                </a:solidFill>
              </a:defRPr>
            </a:pPr>
            <a:r>
              <a:rPr sz="825" b="1" i="0">
                <a:solidFill>
                  <a:srgbClr val="86198F"/>
                </a:solidFill>
              </a:rPr>
              <a:t>SÍNTESE PERIÓDICA DO BLOCO (RODADA 15)</a:t>
            </a:r>
          </a:p>
        </p:txBody>
      </p:sp>
      <p:sp>
        <p:nvSpPr>
          <p:cNvPr id="36" name="j-spec-txt-15">
            <a:extLst xmlns:a="http://schemas.openxmlformats.org/drawingml/2006/main">
              <a:ext uri="{FF2B5EF4-FFF2-40B4-BE49-F238E27FC236}">
                <a16:creationId xmlns:a16="http://schemas.microsoft.com/office/drawing/2014/main" id="{970621E0-BC3C-4045-AB4A-86E2DB502677}"/>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0F172A"/>
                </a:solidFill>
              </a:defRPr>
            </a:defPPr>
          </a:lstStyle>
          <a:p xmlns:a="http://schemas.openxmlformats.org/drawingml/2006/main">
            <a:pPr algn="l">
              <a:lnSpc>
                <a:spcPct val="115000"/>
              </a:lnSpc>
              <a:buNone/>
              <a:defRPr sz="825" b="0" i="0">
                <a:solidFill>
                  <a:srgbClr val="0F172A"/>
                </a:solidFill>
              </a:defRPr>
            </a:pPr>
            <a:r>
              <a:rPr sz="825" b="0" i="0">
                <a:solidFill>
                  <a:srgbClr val="0F172A"/>
                </a:solidFill>
              </a:rPr>
              <a:t>Síntese do Bloco 3 (Rodadas 11–15): No exame das PMEs, igualdade salarial, capacitação profissional, automação e poder de mercado, ficou evidente que PMEs demandam simplificação burocrática radical, enquanto a transição tecnológica deve ser amparada por fundos setoriais tripartite para requalificação de habilidades.</a:t>
            </a:r>
          </a:p>
        </p:txBody>
      </p:sp>
    </p:spTree>
    <p:extLst>
      <p:ext uri="{BB962C8B-B14F-4D97-AF65-F5344CB8AC3E}">
        <p14:creationId xmlns:p14="http://schemas.microsoft.com/office/powerpoint/2010/main" val="1160058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38F17B44-1417-49B8-B709-F41B00DC7E00}"/>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E9027E97-1FA1-4A59-9AA7-803B5B4EE237}"/>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2E10BA69-5C14-4031-86E9-58F2BE85DC60}"/>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16 · FISCALIZAÇÃO DO TRABALHO E CANAIS DE DENÚNCIA</a:t>
            </a:r>
          </a:p>
        </p:txBody>
      </p:sp>
      <p:sp>
        <p:nvSpPr>
          <p:cNvPr id="4" name="header-sub">
            <a:extLst xmlns:a="http://schemas.openxmlformats.org/drawingml/2006/main">
              <a:ext uri="{FF2B5EF4-FFF2-40B4-BE49-F238E27FC236}">
                <a16:creationId xmlns:a16="http://schemas.microsoft.com/office/drawing/2014/main" id="{A2EE3E36-D6BC-4FE5-AD24-D57E5CD6FD24}"/>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equilibrar inspeções punitivas com caráter pedagógico, evitando arbitrariedades e assegurando ampla defesa?</a:t>
            </a:r>
          </a:p>
        </p:txBody>
      </p:sp>
      <p:sp>
        <p:nvSpPr>
          <p:cNvPr id="5" name="footer-rule">
            <a:extLst xmlns:a="http://schemas.openxmlformats.org/drawingml/2006/main">
              <a:ext uri="{FF2B5EF4-FFF2-40B4-BE49-F238E27FC236}">
                <a16:creationId xmlns:a16="http://schemas.microsoft.com/office/drawing/2014/main" id="{E4A867A9-6284-4119-B6BC-0B32B84E559F}"/>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E97EF37A-E434-4040-835E-A16711CCC66B}"/>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3D44379E-0CA0-4BE7-8140-FA27C0AEFE73}"/>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20</a:t>
            </a:r>
          </a:p>
        </p:txBody>
      </p:sp>
      <p:sp>
        <p:nvSpPr>
          <p:cNvPr id="8" name="left-hdr-16">
            <a:extLst xmlns:a="http://schemas.openxmlformats.org/drawingml/2006/main">
              <a:ext uri="{FF2B5EF4-FFF2-40B4-BE49-F238E27FC236}">
                <a16:creationId xmlns:a16="http://schemas.microsoft.com/office/drawing/2014/main" id="{5C85507C-CF03-4BEC-881B-2A64F9FBA6F2}"/>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16">
            <a:extLst xmlns:a="http://schemas.openxmlformats.org/drawingml/2006/main">
              <a:ext uri="{FF2B5EF4-FFF2-40B4-BE49-F238E27FC236}">
                <a16:creationId xmlns:a16="http://schemas.microsoft.com/office/drawing/2014/main" id="{33F6A455-FD96-4301-A424-F9EDBEFF08B4}"/>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16">
            <a:extLst xmlns:a="http://schemas.openxmlformats.org/drawingml/2006/main">
              <a:ext uri="{FF2B5EF4-FFF2-40B4-BE49-F238E27FC236}">
                <a16:creationId xmlns:a16="http://schemas.microsoft.com/office/drawing/2014/main" id="{271E9D1F-E545-4220-A12A-A1DFE2A44217}"/>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16">
            <a:extLst xmlns:a="http://schemas.openxmlformats.org/drawingml/2006/main">
              <a:ext uri="{FF2B5EF4-FFF2-40B4-BE49-F238E27FC236}">
                <a16:creationId xmlns:a16="http://schemas.microsoft.com/office/drawing/2014/main" id="{A1FBBBA3-8653-4881-864D-93A1A1C4391A}"/>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15 fixou a necessidade de transição gradual e mitigação de custos em concorrência no mercado de trabalho e cláusulas de barreira.'): A auditoria-fiscal do trabalho precisa ser fortalecida com recursos humanos, inteligência de dados e proteção rigorosa a denunciantes. A fiscalização deve operar com critério orientador em primeiras infrações formais de pequenos negócios, mas com punição exemplar e irrecorrível administrativa para trabalho análogo ao escravo ou fraudes reiteradas.</a:t>
            </a:r>
          </a:p>
        </p:txBody>
      </p:sp>
      <p:sp>
        <p:nvSpPr>
          <p:cNvPr id="12" name="t1-a2-box-16">
            <a:extLst xmlns:a="http://schemas.openxmlformats.org/drawingml/2006/main">
              <a:ext uri="{FF2B5EF4-FFF2-40B4-BE49-F238E27FC236}">
                <a16:creationId xmlns:a16="http://schemas.microsoft.com/office/drawing/2014/main" id="{8A35B2D4-6276-4B77-BE72-F4A542FD0625}"/>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16">
            <a:extLst xmlns:a="http://schemas.openxmlformats.org/drawingml/2006/main">
              <a:ext uri="{FF2B5EF4-FFF2-40B4-BE49-F238E27FC236}">
                <a16:creationId xmlns:a16="http://schemas.microsoft.com/office/drawing/2014/main" id="{DC59D054-878C-4C5D-9CA2-E5D9192BBB6F}"/>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16">
            <a:extLst xmlns:a="http://schemas.openxmlformats.org/drawingml/2006/main">
              <a:ext uri="{FF2B5EF4-FFF2-40B4-BE49-F238E27FC236}">
                <a16:creationId xmlns:a16="http://schemas.microsoft.com/office/drawing/2014/main" id="{A1A02AC5-33D3-46B5-B71C-69DC3DBEAC99}"/>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fiscalização do trabalho pode ser desestimulada por excessos administrativos e penalidades altas, afetando a competitividade das empresas.</a:t>
            </a:r>
          </a:p>
          <a:p xmlns:a="http://schemas.openxmlformats.org/drawingml/2006/main">
            <a:pPr algn="l">
              <a:lnSpc>
                <a:spcPct val="115000"/>
              </a:lnSpc>
              <a:buNone/>
              <a:defRPr sz="900" b="0" i="0">
                <a:solidFill>
                  <a:srgbClr val="0F172A"/>
                </a:solidFill>
              </a:defRPr>
            </a:pPr>
            <a:r>
              <a:rPr sz="900" b="0" i="0">
                <a:solidFill>
                  <a:srgbClr val="0F172A"/>
                </a:solidFill>
              </a:rPr>
              <a:t>Pergunta: Como equilibrar as necessidades de transição gradual com o incentivo econômico para empregadores?</a:t>
            </a:r>
          </a:p>
        </p:txBody>
      </p:sp>
      <p:sp>
        <p:nvSpPr>
          <p:cNvPr id="15" name="t2-a2-box-16">
            <a:extLst xmlns:a="http://schemas.openxmlformats.org/drawingml/2006/main">
              <a:ext uri="{FF2B5EF4-FFF2-40B4-BE49-F238E27FC236}">
                <a16:creationId xmlns:a16="http://schemas.microsoft.com/office/drawing/2014/main" id="{BC4D6CED-4A1E-441D-98E7-30198E16163E}"/>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16">
            <a:extLst xmlns:a="http://schemas.openxmlformats.org/drawingml/2006/main">
              <a:ext uri="{FF2B5EF4-FFF2-40B4-BE49-F238E27FC236}">
                <a16:creationId xmlns:a16="http://schemas.microsoft.com/office/drawing/2014/main" id="{3FD7E86A-2F5A-451C-93BF-75F0CB39A7F3}"/>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16">
            <a:extLst xmlns:a="http://schemas.openxmlformats.org/drawingml/2006/main">
              <a:ext uri="{FF2B5EF4-FFF2-40B4-BE49-F238E27FC236}">
                <a16:creationId xmlns:a16="http://schemas.microsoft.com/office/drawing/2014/main" id="{0557F034-C902-436A-AE44-BC9FE7B490B3}"/>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fiscalização do trabalho pode ser prejudicial para o empregador, levando a custos excessivos e penalidades altas.</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que as empresas sejam punidas apenas por faltas graves sem afetar negativamente suas operações?</a:t>
            </a:r>
          </a:p>
        </p:txBody>
      </p:sp>
      <p:sp>
        <p:nvSpPr>
          <p:cNvPr id="18" name="t2-a1-box-16">
            <a:extLst xmlns:a="http://schemas.openxmlformats.org/drawingml/2006/main">
              <a:ext uri="{FF2B5EF4-FFF2-40B4-BE49-F238E27FC236}">
                <a16:creationId xmlns:a16="http://schemas.microsoft.com/office/drawing/2014/main" id="{D311E6E6-1366-4B03-8C24-070F67A70FF0}"/>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16">
            <a:extLst xmlns:a="http://schemas.openxmlformats.org/drawingml/2006/main">
              <a:ext uri="{FF2B5EF4-FFF2-40B4-BE49-F238E27FC236}">
                <a16:creationId xmlns:a16="http://schemas.microsoft.com/office/drawing/2014/main" id="{76EDB5E8-1EBF-4A92-BA27-63D3DC92BE21}"/>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16">
            <a:extLst xmlns:a="http://schemas.openxmlformats.org/drawingml/2006/main">
              <a:ext uri="{FF2B5EF4-FFF2-40B4-BE49-F238E27FC236}">
                <a16:creationId xmlns:a16="http://schemas.microsoft.com/office/drawing/2014/main" id="{4AA12000-F124-4F04-BD00-A7D464D0F43D}"/>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fiscalização do trabalho pode ser desestimulada por excessos administrativos e penalidades altas, afetando a co...'), propomos que a implementação não seja abrupta nem cega à capacidade financeira dos negócios, adotando crédito presumido de transição e escalonamento setorial. Em relação ao segundo ponto levantado sobre mecanismos de dupla visita prévia para faltas formais e proteção a denunciantes de boa-fé ('Risco: A fiscalização do trabalho pode ser prejudicial para o empregador, levando a custos excessivos e penalidades alta...'),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16">
            <a:extLst xmlns:a="http://schemas.openxmlformats.org/drawingml/2006/main">
              <a:ext uri="{FF2B5EF4-FFF2-40B4-BE49-F238E27FC236}">
                <a16:creationId xmlns:a16="http://schemas.microsoft.com/office/drawing/2014/main" id="{848EDF9F-FA70-424B-B9E9-0A996F91587E}"/>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16">
            <a:extLst xmlns:a="http://schemas.openxmlformats.org/drawingml/2006/main">
              <a:ext uri="{FF2B5EF4-FFF2-40B4-BE49-F238E27FC236}">
                <a16:creationId xmlns:a16="http://schemas.microsoft.com/office/drawing/2014/main" id="{15DEB4CD-BE45-441A-AF75-B19BC79293F5}"/>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16">
            <a:extLst xmlns:a="http://schemas.openxmlformats.org/drawingml/2006/main">
              <a:ext uri="{FF2B5EF4-FFF2-40B4-BE49-F238E27FC236}">
                <a16:creationId xmlns:a16="http://schemas.microsoft.com/office/drawing/2014/main" id="{1C6EBFA6-A03C-402F-A1A6-F1621DD074E8}"/>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16">
            <a:extLst xmlns:a="http://schemas.openxmlformats.org/drawingml/2006/main">
              <a:ext uri="{FF2B5EF4-FFF2-40B4-BE49-F238E27FC236}">
                <a16:creationId xmlns:a16="http://schemas.microsoft.com/office/drawing/2014/main" id="{12CE3060-9BB7-469E-93C0-9F9E283618B5}"/>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fiscalização do trabalho e canais de denúncia e os custos/incentivos de mercado apontados pelo liberal.</a:t>
            </a:r>
          </a:p>
        </p:txBody>
      </p:sp>
      <p:sp>
        <p:nvSpPr>
          <p:cNvPr id="25" name="j-verd-box-16">
            <a:extLst xmlns:a="http://schemas.openxmlformats.org/drawingml/2006/main">
              <a:ext uri="{FF2B5EF4-FFF2-40B4-BE49-F238E27FC236}">
                <a16:creationId xmlns:a16="http://schemas.microsoft.com/office/drawing/2014/main" id="{8041F2C6-B4AB-45FA-B9CE-CA278EFEBA28}"/>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16">
            <a:extLst xmlns:a="http://schemas.openxmlformats.org/drawingml/2006/main">
              <a:ext uri="{FF2B5EF4-FFF2-40B4-BE49-F238E27FC236}">
                <a16:creationId xmlns:a16="http://schemas.microsoft.com/office/drawing/2014/main" id="{463B8492-32B9-490D-B85D-CF2DFE0CF342}"/>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16">
            <a:extLst xmlns:a="http://schemas.openxmlformats.org/drawingml/2006/main">
              <a:ext uri="{FF2B5EF4-FFF2-40B4-BE49-F238E27FC236}">
                <a16:creationId xmlns:a16="http://schemas.microsoft.com/office/drawing/2014/main" id="{A0B74761-3ABE-4C8B-9D88-50A7D4469C87}"/>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fiscalização do trabalho e canais de denúncia,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16">
            <a:extLst xmlns:a="http://schemas.openxmlformats.org/drawingml/2006/main">
              <a:ext uri="{FF2B5EF4-FFF2-40B4-BE49-F238E27FC236}">
                <a16:creationId xmlns:a16="http://schemas.microsoft.com/office/drawing/2014/main" id="{5BC94CD2-E5BE-48D4-B114-3DF07415B8E4}"/>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16">
            <a:extLst xmlns:a="http://schemas.openxmlformats.org/drawingml/2006/main">
              <a:ext uri="{FF2B5EF4-FFF2-40B4-BE49-F238E27FC236}">
                <a16:creationId xmlns:a16="http://schemas.microsoft.com/office/drawing/2014/main" id="{B15639FF-0423-4B43-989E-631C4BE03DB7}"/>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16">
            <a:extLst xmlns:a="http://schemas.openxmlformats.org/drawingml/2006/main">
              <a:ext uri="{FF2B5EF4-FFF2-40B4-BE49-F238E27FC236}">
                <a16:creationId xmlns:a16="http://schemas.microsoft.com/office/drawing/2014/main" id="{3D11C289-553B-4C27-816D-31570B780CA5}"/>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fiscalização do trabalho e canais de denúncia, incorporar cláusula de transição faseada com incentivo à conformidade voluntária e repartição de encargos entre empregadores, poder público e fundos solidários, mitigando os custos apontados pelo liberal.</a:t>
            </a:r>
          </a:p>
        </p:txBody>
      </p:sp>
      <p:sp>
        <p:nvSpPr>
          <p:cNvPr id="31" name="j-pend-box-16">
            <a:extLst xmlns:a="http://schemas.openxmlformats.org/drawingml/2006/main">
              <a:ext uri="{FF2B5EF4-FFF2-40B4-BE49-F238E27FC236}">
                <a16:creationId xmlns:a16="http://schemas.microsoft.com/office/drawing/2014/main" id="{A5FCD956-8A01-463E-B0DF-BDD35CE6DD7B}"/>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16">
            <a:extLst xmlns:a="http://schemas.openxmlformats.org/drawingml/2006/main">
              <a:ext uri="{FF2B5EF4-FFF2-40B4-BE49-F238E27FC236}">
                <a16:creationId xmlns:a16="http://schemas.microsoft.com/office/drawing/2014/main" id="{D35CCE7F-A15D-42A2-AED7-FA9FAE54BD62}"/>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16">
            <a:extLst xmlns:a="http://schemas.openxmlformats.org/drawingml/2006/main">
              <a:ext uri="{FF2B5EF4-FFF2-40B4-BE49-F238E27FC236}">
                <a16:creationId xmlns:a16="http://schemas.microsoft.com/office/drawing/2014/main" id="{A06866E6-C016-4F64-9744-E44D1170D4CB}"/>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fiscalização do trabalho e canais de denúncia.</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16 fixou a necessidade de transição gradual e mitigação de custos em fiscalização do trabalho e canais de denúncia.</a:t>
            </a:r>
          </a:p>
        </p:txBody>
      </p:sp>
      <p:sp>
        <p:nvSpPr>
          <p:cNvPr id="34" name="j-spec-box-16">
            <a:extLst xmlns:a="http://schemas.openxmlformats.org/drawingml/2006/main">
              <a:ext uri="{FF2B5EF4-FFF2-40B4-BE49-F238E27FC236}">
                <a16:creationId xmlns:a16="http://schemas.microsoft.com/office/drawing/2014/main" id="{B71C55F6-41FB-46A5-84BC-D976C8AF899B}"/>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16">
            <a:extLst xmlns:a="http://schemas.openxmlformats.org/drawingml/2006/main">
              <a:ext uri="{FF2B5EF4-FFF2-40B4-BE49-F238E27FC236}">
                <a16:creationId xmlns:a16="http://schemas.microsoft.com/office/drawing/2014/main" id="{96C85C77-1FE6-4105-9ED3-0D0AB7AD4B15}"/>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16">
            <a:extLst xmlns:a="http://schemas.openxmlformats.org/drawingml/2006/main">
              <a:ext uri="{FF2B5EF4-FFF2-40B4-BE49-F238E27FC236}">
                <a16:creationId xmlns:a16="http://schemas.microsoft.com/office/drawing/2014/main" id="{7F1D3B84-46D1-4134-BD48-9D8B96A4DD3C}"/>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17.</a:t>
            </a:r>
          </a:p>
        </p:txBody>
      </p:sp>
    </p:spTree>
    <p:extLst>
      <p:ext uri="{BB962C8B-B14F-4D97-AF65-F5344CB8AC3E}">
        <p14:creationId xmlns:p14="http://schemas.microsoft.com/office/powerpoint/2010/main" val="82912033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5285D01D-52EC-4A39-AF52-EA82AF8B5A82}"/>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B197C3A9-A040-40B6-AA3E-994CAFB08484}"/>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6D669D4F-C27A-4D8C-A797-6C30A70BC53F}"/>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17 · JUSTIÇA DO TRABALHO E MEDIAÇÃO EXTRAJUDICIAL</a:t>
            </a:r>
          </a:p>
        </p:txBody>
      </p:sp>
      <p:sp>
        <p:nvSpPr>
          <p:cNvPr id="4" name="header-sub">
            <a:extLst xmlns:a="http://schemas.openxmlformats.org/drawingml/2006/main">
              <a:ext uri="{FF2B5EF4-FFF2-40B4-BE49-F238E27FC236}">
                <a16:creationId xmlns:a16="http://schemas.microsoft.com/office/drawing/2014/main" id="{38E70E6D-5608-425D-8BFA-2FA77CF3A3B2}"/>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democratizar o acesso à tutela jurisdicional sem fomentar litigância frívola ou congestionar tribunais?</a:t>
            </a:r>
          </a:p>
        </p:txBody>
      </p:sp>
      <p:sp>
        <p:nvSpPr>
          <p:cNvPr id="5" name="footer-rule">
            <a:extLst xmlns:a="http://schemas.openxmlformats.org/drawingml/2006/main">
              <a:ext uri="{FF2B5EF4-FFF2-40B4-BE49-F238E27FC236}">
                <a16:creationId xmlns:a16="http://schemas.microsoft.com/office/drawing/2014/main" id="{BC94C99C-5838-4943-8A9E-776A78CC1357}"/>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342DBABC-33E4-4117-AC8F-C65BC106119A}"/>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E5D8C6D0-4B1B-4500-BD88-393C3B7EFE74}"/>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21</a:t>
            </a:r>
          </a:p>
        </p:txBody>
      </p:sp>
      <p:sp>
        <p:nvSpPr>
          <p:cNvPr id="8" name="left-hdr-17">
            <a:extLst xmlns:a="http://schemas.openxmlformats.org/drawingml/2006/main">
              <a:ext uri="{FF2B5EF4-FFF2-40B4-BE49-F238E27FC236}">
                <a16:creationId xmlns:a16="http://schemas.microsoft.com/office/drawing/2014/main" id="{2672F9E2-8461-4097-817D-4FD518A13F8E}"/>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17">
            <a:extLst xmlns:a="http://schemas.openxmlformats.org/drawingml/2006/main">
              <a:ext uri="{FF2B5EF4-FFF2-40B4-BE49-F238E27FC236}">
                <a16:creationId xmlns:a16="http://schemas.microsoft.com/office/drawing/2014/main" id="{6C78317C-4C8D-40F7-82DF-6AE17E7F920F}"/>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17">
            <a:extLst xmlns:a="http://schemas.openxmlformats.org/drawingml/2006/main">
              <a:ext uri="{FF2B5EF4-FFF2-40B4-BE49-F238E27FC236}">
                <a16:creationId xmlns:a16="http://schemas.microsoft.com/office/drawing/2014/main" id="{3283FBF5-1356-485F-A2DC-745906E7C1E0}"/>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17">
            <a:extLst xmlns:a="http://schemas.openxmlformats.org/drawingml/2006/main">
              <a:ext uri="{FF2B5EF4-FFF2-40B4-BE49-F238E27FC236}">
                <a16:creationId xmlns:a16="http://schemas.microsoft.com/office/drawing/2014/main" id="{7DBCCFCF-A0D0-4B82-B400-B62A2BFF6ABE}"/>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16 fixou a necessidade de transição gradual e mitigação de custos em fiscalização do trabalho e canais de denúncia.'): O acesso irrestrito e gratuito à Justiça do Trabalho para os hipossuficientes é cláusula pétrea de pacificação social. Mecanismos de conciliação prévia e arbitragem são válidos como ferramentas ágeis de resolução pacífica de controvérsias, desde que voluntários e jamais como barreira à tutela judicial efetiva.</a:t>
            </a:r>
          </a:p>
        </p:txBody>
      </p:sp>
      <p:sp>
        <p:nvSpPr>
          <p:cNvPr id="12" name="t1-a2-box-17">
            <a:extLst xmlns:a="http://schemas.openxmlformats.org/drawingml/2006/main">
              <a:ext uri="{FF2B5EF4-FFF2-40B4-BE49-F238E27FC236}">
                <a16:creationId xmlns:a16="http://schemas.microsoft.com/office/drawing/2014/main" id="{9232CCE6-1CA8-4C12-BD4B-11AE5D0D3FE5}"/>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17">
            <a:extLst xmlns:a="http://schemas.openxmlformats.org/drawingml/2006/main">
              <a:ext uri="{FF2B5EF4-FFF2-40B4-BE49-F238E27FC236}">
                <a16:creationId xmlns:a16="http://schemas.microsoft.com/office/drawing/2014/main" id="{B7A73BFD-AE30-4C00-A22C-29D7C7D78FF7}"/>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17">
            <a:extLst xmlns:a="http://schemas.openxmlformats.org/drawingml/2006/main">
              <a:ext uri="{FF2B5EF4-FFF2-40B4-BE49-F238E27FC236}">
                <a16:creationId xmlns:a16="http://schemas.microsoft.com/office/drawing/2014/main" id="{088515C9-50F7-474F-88F3-7CDE6E57BACE}"/>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Aumento do número de processos judiciais pode levar a congestionamentos e desgaste dos tribunais.</a:t>
            </a:r>
          </a:p>
          <a:p xmlns:a="http://schemas.openxmlformats.org/drawingml/2006/main">
            <a:pPr algn="l">
              <a:lnSpc>
                <a:spcPct val="115000"/>
              </a:lnSpc>
              <a:buNone/>
              <a:defRPr sz="900" b="0" i="0">
                <a:solidFill>
                  <a:srgbClr val="0F172A"/>
                </a:solidFill>
              </a:defRPr>
            </a:pPr>
            <a:r>
              <a:rPr sz="900" b="0" i="0">
                <a:solidFill>
                  <a:srgbClr val="0F172A"/>
                </a:solidFill>
              </a:rPr>
              <a:t>Pergunta: Como manter o equilíbrio entre democratização da justiça trabalhista e eficiência administrativa?</a:t>
            </a:r>
          </a:p>
        </p:txBody>
      </p:sp>
      <p:sp>
        <p:nvSpPr>
          <p:cNvPr id="15" name="t2-a2-box-17">
            <a:extLst xmlns:a="http://schemas.openxmlformats.org/drawingml/2006/main">
              <a:ext uri="{FF2B5EF4-FFF2-40B4-BE49-F238E27FC236}">
                <a16:creationId xmlns:a16="http://schemas.microsoft.com/office/drawing/2014/main" id="{D5C89FA3-6B2E-4261-A597-D0459DB59A93}"/>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17">
            <a:extLst xmlns:a="http://schemas.openxmlformats.org/drawingml/2006/main">
              <a:ext uri="{FF2B5EF4-FFF2-40B4-BE49-F238E27FC236}">
                <a16:creationId xmlns:a16="http://schemas.microsoft.com/office/drawing/2014/main" id="{9CCA6006-FD65-4912-8343-99516C41E6AE}"/>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17">
            <a:extLst xmlns:a="http://schemas.openxmlformats.org/drawingml/2006/main">
              <a:ext uri="{FF2B5EF4-FFF2-40B4-BE49-F238E27FC236}">
                <a16:creationId xmlns:a16="http://schemas.microsoft.com/office/drawing/2014/main" id="{E435F748-AE13-4F99-BDC6-381344FA85F2}"/>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Aumento do número de processos judiciais pode levar a congestionamentos e desgaste dos tribunais.</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que as câmaras sindicais de conciliação sejam eficientes em seu trabalho sem comprometer sua neutralidade?</a:t>
            </a:r>
          </a:p>
        </p:txBody>
      </p:sp>
      <p:sp>
        <p:nvSpPr>
          <p:cNvPr id="18" name="t2-a1-box-17">
            <a:extLst xmlns:a="http://schemas.openxmlformats.org/drawingml/2006/main">
              <a:ext uri="{FF2B5EF4-FFF2-40B4-BE49-F238E27FC236}">
                <a16:creationId xmlns:a16="http://schemas.microsoft.com/office/drawing/2014/main" id="{F9E62DEE-46BA-43ED-B538-146E57DCD835}"/>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17">
            <a:extLst xmlns:a="http://schemas.openxmlformats.org/drawingml/2006/main">
              <a:ext uri="{FF2B5EF4-FFF2-40B4-BE49-F238E27FC236}">
                <a16:creationId xmlns:a16="http://schemas.microsoft.com/office/drawing/2014/main" id="{8639542C-9230-41B6-8B3F-79A3B29B93B1}"/>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17">
            <a:extLst xmlns:a="http://schemas.openxmlformats.org/drawingml/2006/main">
              <a:ext uri="{FF2B5EF4-FFF2-40B4-BE49-F238E27FC236}">
                <a16:creationId xmlns:a16="http://schemas.microsoft.com/office/drawing/2014/main" id="{3CCCF840-FF84-4281-8A54-D9D78034D674}"/>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Aumento do número de processos judiciais pode levar a congestionamentos e desgaste dos tribunais.</a:t>
            </a:r>
          </a:p>
          <a:p xmlns:a="http://schemas.openxmlformats.org/drawingml/2006/main">
            <a:pPr algn="l">
              <a:lnSpc>
                <a:spcPct val="115000"/>
              </a:lnSpc>
              <a:buNone/>
              <a:defRPr sz="900" b="0" i="0">
                <a:solidFill>
                  <a:srgbClr val="0F172A"/>
                </a:solidFill>
              </a:defRPr>
            </a:pPr>
            <a:r>
              <a:rPr sz="900" b="0" i="0">
                <a:solidFill>
                  <a:srgbClr val="0F172A"/>
                </a:solidFill>
              </a:rPr>
              <a:t>Pergunta: Como ...'), propomos que a implementação não seja abrupta nem cega à capacidade financeira dos negócios, adotando crédito presumido de transição e escalonamento setorial. Em relação ao segundo ponto levantado sobre gratuidade de justiça condicionada e fortalecimento de câmaras sindicais de conciliação ('Risco: Aumento do número de processos judiciais pode levar a congestionamentos e desgaste dos tribunais.</a:t>
            </a:r>
          </a:p>
          <a:p xmlns:a="http://schemas.openxmlformats.org/drawingml/2006/main">
            <a:pPr algn="l">
              <a:lnSpc>
                <a:spcPct val="115000"/>
              </a:lnSpc>
              <a:buNone/>
              <a:defRPr sz="900" b="0" i="0">
                <a:solidFill>
                  <a:srgbClr val="0F172A"/>
                </a:solidFill>
              </a:defRPr>
            </a:pPr>
            <a:r>
              <a:rPr sz="900" b="0" i="0">
                <a:solidFill>
                  <a:srgbClr val="0F172A"/>
                </a:solidFill>
              </a:rPr>
              <a:t>Pergunta: Como ...'),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17">
            <a:extLst xmlns:a="http://schemas.openxmlformats.org/drawingml/2006/main">
              <a:ext uri="{FF2B5EF4-FFF2-40B4-BE49-F238E27FC236}">
                <a16:creationId xmlns:a16="http://schemas.microsoft.com/office/drawing/2014/main" id="{36B1D7EE-A6C4-474E-BE2E-B2D1D2D2DA47}"/>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17">
            <a:extLst xmlns:a="http://schemas.openxmlformats.org/drawingml/2006/main">
              <a:ext uri="{FF2B5EF4-FFF2-40B4-BE49-F238E27FC236}">
                <a16:creationId xmlns:a16="http://schemas.microsoft.com/office/drawing/2014/main" id="{8D1BD89B-2549-43A8-885C-C162AF3055C1}"/>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17">
            <a:extLst xmlns:a="http://schemas.openxmlformats.org/drawingml/2006/main">
              <a:ext uri="{FF2B5EF4-FFF2-40B4-BE49-F238E27FC236}">
                <a16:creationId xmlns:a16="http://schemas.microsoft.com/office/drawing/2014/main" id="{E4FEEE0D-BFB0-4080-8EF5-A91D2BF32CA4}"/>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17">
            <a:extLst xmlns:a="http://schemas.openxmlformats.org/drawingml/2006/main">
              <a:ext uri="{FF2B5EF4-FFF2-40B4-BE49-F238E27FC236}">
                <a16:creationId xmlns:a16="http://schemas.microsoft.com/office/drawing/2014/main" id="{DE473FDA-ED3A-4688-A6CA-152A0EE1BBC5}"/>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justiça do trabalho e mediação extrajudicial e os custos/incentivos de mercado apontados pelo liberal.</a:t>
            </a:r>
          </a:p>
        </p:txBody>
      </p:sp>
      <p:sp>
        <p:nvSpPr>
          <p:cNvPr id="25" name="j-verd-box-17">
            <a:extLst xmlns:a="http://schemas.openxmlformats.org/drawingml/2006/main">
              <a:ext uri="{FF2B5EF4-FFF2-40B4-BE49-F238E27FC236}">
                <a16:creationId xmlns:a16="http://schemas.microsoft.com/office/drawing/2014/main" id="{FE503911-7ECC-442B-9C11-1CF2EAC7C07A}"/>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17">
            <a:extLst xmlns:a="http://schemas.openxmlformats.org/drawingml/2006/main">
              <a:ext uri="{FF2B5EF4-FFF2-40B4-BE49-F238E27FC236}">
                <a16:creationId xmlns:a16="http://schemas.microsoft.com/office/drawing/2014/main" id="{B01927B2-0D34-4AAA-BD65-CDA3B311FFB9}"/>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17">
            <a:extLst xmlns:a="http://schemas.openxmlformats.org/drawingml/2006/main">
              <a:ext uri="{FF2B5EF4-FFF2-40B4-BE49-F238E27FC236}">
                <a16:creationId xmlns:a16="http://schemas.microsoft.com/office/drawing/2014/main" id="{47E8827B-5D98-42FD-9881-13CE000C9DB7}"/>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justiça do trabalho e mediação extrajudicial,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17">
            <a:extLst xmlns:a="http://schemas.openxmlformats.org/drawingml/2006/main">
              <a:ext uri="{FF2B5EF4-FFF2-40B4-BE49-F238E27FC236}">
                <a16:creationId xmlns:a16="http://schemas.microsoft.com/office/drawing/2014/main" id="{AA1292E1-82B9-4087-8FEA-16D38DF57070}"/>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17">
            <a:extLst xmlns:a="http://schemas.openxmlformats.org/drawingml/2006/main">
              <a:ext uri="{FF2B5EF4-FFF2-40B4-BE49-F238E27FC236}">
                <a16:creationId xmlns:a16="http://schemas.microsoft.com/office/drawing/2014/main" id="{064C410C-7D6A-4EC0-BF6F-F0D28AFB68F3}"/>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17">
            <a:extLst xmlns:a="http://schemas.openxmlformats.org/drawingml/2006/main">
              <a:ext uri="{FF2B5EF4-FFF2-40B4-BE49-F238E27FC236}">
                <a16:creationId xmlns:a16="http://schemas.microsoft.com/office/drawing/2014/main" id="{F31322EB-5402-48C4-93FC-22F8A2959022}"/>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justiça do trabalho e mediação extrajudicial, incorporar cláusula de transição faseada com incentivo à conformidade voluntária e repartição de encargos entre empregadores, poder público e fundos solidários, mitigando os custos apontados pelo liberal.</a:t>
            </a:r>
          </a:p>
        </p:txBody>
      </p:sp>
      <p:sp>
        <p:nvSpPr>
          <p:cNvPr id="31" name="j-pend-box-17">
            <a:extLst xmlns:a="http://schemas.openxmlformats.org/drawingml/2006/main">
              <a:ext uri="{FF2B5EF4-FFF2-40B4-BE49-F238E27FC236}">
                <a16:creationId xmlns:a16="http://schemas.microsoft.com/office/drawing/2014/main" id="{C7EF451C-17E2-4BC0-8778-4752FDBE9793}"/>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17">
            <a:extLst xmlns:a="http://schemas.openxmlformats.org/drawingml/2006/main">
              <a:ext uri="{FF2B5EF4-FFF2-40B4-BE49-F238E27FC236}">
                <a16:creationId xmlns:a16="http://schemas.microsoft.com/office/drawing/2014/main" id="{2CB84E17-D815-4255-AAA1-47EDF551D3E4}"/>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17">
            <a:extLst xmlns:a="http://schemas.openxmlformats.org/drawingml/2006/main">
              <a:ext uri="{FF2B5EF4-FFF2-40B4-BE49-F238E27FC236}">
                <a16:creationId xmlns:a16="http://schemas.microsoft.com/office/drawing/2014/main" id="{4DEEF89F-A951-4876-80B3-494776F90AB2}"/>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justiça do trabalho e mediação extrajudicial.</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17 fixou a necessidade de transição gradual e mitigação de custos em justiça do trabalho e mediação extrajudicial.</a:t>
            </a:r>
          </a:p>
        </p:txBody>
      </p:sp>
      <p:sp>
        <p:nvSpPr>
          <p:cNvPr id="34" name="j-spec-box-17">
            <a:extLst xmlns:a="http://schemas.openxmlformats.org/drawingml/2006/main">
              <a:ext uri="{FF2B5EF4-FFF2-40B4-BE49-F238E27FC236}">
                <a16:creationId xmlns:a16="http://schemas.microsoft.com/office/drawing/2014/main" id="{DCDF9590-D8D6-4B04-8E21-EF4EDFB43DDA}"/>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17">
            <a:extLst xmlns:a="http://schemas.openxmlformats.org/drawingml/2006/main">
              <a:ext uri="{FF2B5EF4-FFF2-40B4-BE49-F238E27FC236}">
                <a16:creationId xmlns:a16="http://schemas.microsoft.com/office/drawing/2014/main" id="{2A9325C9-7847-4398-A1F6-A8EEBF75EE65}"/>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17">
            <a:extLst xmlns:a="http://schemas.openxmlformats.org/drawingml/2006/main">
              <a:ext uri="{FF2B5EF4-FFF2-40B4-BE49-F238E27FC236}">
                <a16:creationId xmlns:a16="http://schemas.microsoft.com/office/drawing/2014/main" id="{C5DB7FF0-4EF9-4203-8F94-6502E17BB24C}"/>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3 tentativa(s) (Filtros: Ajustado)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18.</a:t>
            </a:r>
          </a:p>
        </p:txBody>
      </p:sp>
    </p:spTree>
    <p:extLst>
      <p:ext uri="{BB962C8B-B14F-4D97-AF65-F5344CB8AC3E}">
        <p14:creationId xmlns:p14="http://schemas.microsoft.com/office/powerpoint/2010/main" val="51592430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486B7343-6B46-4D5E-9939-48F9CC164F2E}"/>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36813162-1013-444E-8F2E-9148FA9D4F73}"/>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682F7592-D4B3-42AD-8879-25BCA35DECCC}"/>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18 · CUSTOS INDIRETOS, ENCARGOS SOBRE FOLHA E INCIDÊNCIA FISCAL</a:t>
            </a:r>
          </a:p>
        </p:txBody>
      </p:sp>
      <p:sp>
        <p:nvSpPr>
          <p:cNvPr id="4" name="header-sub">
            <a:extLst xmlns:a="http://schemas.openxmlformats.org/drawingml/2006/main">
              <a:ext uri="{FF2B5EF4-FFF2-40B4-BE49-F238E27FC236}">
                <a16:creationId xmlns:a16="http://schemas.microsoft.com/office/drawing/2014/main" id="{32029A82-C495-4F79-9BF2-DE6E7AA408A8}"/>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Quem realmente paga pelos benefícios trabalhistas e como desonerar a folha sem desidratar a seguridade social?</a:t>
            </a:r>
          </a:p>
        </p:txBody>
      </p:sp>
      <p:sp>
        <p:nvSpPr>
          <p:cNvPr id="5" name="footer-rule">
            <a:extLst xmlns:a="http://schemas.openxmlformats.org/drawingml/2006/main">
              <a:ext uri="{FF2B5EF4-FFF2-40B4-BE49-F238E27FC236}">
                <a16:creationId xmlns:a16="http://schemas.microsoft.com/office/drawing/2014/main" id="{0E9D4181-B6D5-4D22-B6AA-E19B033359AF}"/>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312C7DC1-389D-4B1F-93E4-16C286F4466A}"/>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0C84F73C-E867-4987-8FFC-F0CB198EF7C2}"/>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22</a:t>
            </a:r>
          </a:p>
        </p:txBody>
      </p:sp>
      <p:sp>
        <p:nvSpPr>
          <p:cNvPr id="8" name="left-hdr-18">
            <a:extLst xmlns:a="http://schemas.openxmlformats.org/drawingml/2006/main">
              <a:ext uri="{FF2B5EF4-FFF2-40B4-BE49-F238E27FC236}">
                <a16:creationId xmlns:a16="http://schemas.microsoft.com/office/drawing/2014/main" id="{DB6D13EA-1B7A-4CCA-8458-028C50F4C739}"/>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18">
            <a:extLst xmlns:a="http://schemas.openxmlformats.org/drawingml/2006/main">
              <a:ext uri="{FF2B5EF4-FFF2-40B4-BE49-F238E27FC236}">
                <a16:creationId xmlns:a16="http://schemas.microsoft.com/office/drawing/2014/main" id="{4C0F2B2F-0CB5-47BF-BD73-B8ED06CF0717}"/>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18">
            <a:extLst xmlns:a="http://schemas.openxmlformats.org/drawingml/2006/main">
              <a:ext uri="{FF2B5EF4-FFF2-40B4-BE49-F238E27FC236}">
                <a16:creationId xmlns:a16="http://schemas.microsoft.com/office/drawing/2014/main" id="{5904EEB4-5621-40DA-9BF5-AB8A74ED9738}"/>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18">
            <a:extLst xmlns:a="http://schemas.openxmlformats.org/drawingml/2006/main">
              <a:ext uri="{FF2B5EF4-FFF2-40B4-BE49-F238E27FC236}">
                <a16:creationId xmlns:a16="http://schemas.microsoft.com/office/drawing/2014/main" id="{DB66E3BD-C65C-4073-BDEC-96C1AB1E7F0E}"/>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17 fixou a necessidade de transição gradual e mitigação de custos em justiça do trabalho e mediação extrajudicial.'): Os encargos sociais sobre a folha de pagamento oneram desproporcionalmente setores intensivos em mão de obra. Defendemos uma reforma tributária que desonere a folha de contratação, transferindo a base de financiamento da seguridade para a tributação do valor adicionado e lucros corporativos, barateando a contratação com proteção garantida.</a:t>
            </a:r>
          </a:p>
        </p:txBody>
      </p:sp>
      <p:sp>
        <p:nvSpPr>
          <p:cNvPr id="12" name="t1-a2-box-18">
            <a:extLst xmlns:a="http://schemas.openxmlformats.org/drawingml/2006/main">
              <a:ext uri="{FF2B5EF4-FFF2-40B4-BE49-F238E27FC236}">
                <a16:creationId xmlns:a16="http://schemas.microsoft.com/office/drawing/2014/main" id="{22FF98EF-03F8-4619-A219-0DB305FAE670}"/>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18">
            <a:extLst xmlns:a="http://schemas.openxmlformats.org/drawingml/2006/main">
              <a:ext uri="{FF2B5EF4-FFF2-40B4-BE49-F238E27FC236}">
                <a16:creationId xmlns:a16="http://schemas.microsoft.com/office/drawing/2014/main" id="{A65DADED-0456-4743-A110-E6159AF82F2E}"/>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18">
            <a:extLst xmlns:a="http://schemas.openxmlformats.org/drawingml/2006/main">
              <a:ext uri="{FF2B5EF4-FFF2-40B4-BE49-F238E27FC236}">
                <a16:creationId xmlns:a16="http://schemas.microsoft.com/office/drawing/2014/main" id="{1716F393-3AC2-422D-A31C-B63E514C41AF}"/>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O risco de desestabilização da economia se refere ao impacto negativo na produtividade e competitividade do setor industrial em razão das alterações estruturais nas taxas de contratação.</a:t>
            </a:r>
          </a:p>
          <a:p xmlns:a="http://schemas.openxmlformats.org/drawingml/2006/main">
            <a:pPr algn="l">
              <a:lnSpc>
                <a:spcPct val="115000"/>
              </a:lnSpc>
              <a:buNone/>
              <a:defRPr sz="900" b="0" i="0">
                <a:solidFill>
                  <a:srgbClr val="0F172A"/>
                </a:solidFill>
              </a:defRPr>
            </a:pPr>
            <a:r>
              <a:rPr sz="900" b="0" i="0">
                <a:solidFill>
                  <a:srgbClr val="0F172A"/>
                </a:solidFill>
              </a:rPr>
              <a:t>Pergunta: Como implementar uma reforma tributária que reduziria os encargos sociais sobre a folha sem prejudicar o sistema social?</a:t>
            </a:r>
          </a:p>
        </p:txBody>
      </p:sp>
      <p:sp>
        <p:nvSpPr>
          <p:cNvPr id="15" name="t2-a2-box-18">
            <a:extLst xmlns:a="http://schemas.openxmlformats.org/drawingml/2006/main">
              <a:ext uri="{FF2B5EF4-FFF2-40B4-BE49-F238E27FC236}">
                <a16:creationId xmlns:a16="http://schemas.microsoft.com/office/drawing/2014/main" id="{179C90E9-BA54-4E91-98FE-34EBCC22EB17}"/>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18">
            <a:extLst xmlns:a="http://schemas.openxmlformats.org/drawingml/2006/main">
              <a:ext uri="{FF2B5EF4-FFF2-40B4-BE49-F238E27FC236}">
                <a16:creationId xmlns:a16="http://schemas.microsoft.com/office/drawing/2014/main" id="{253D87DC-7DBE-4E57-A12A-65B5AED8D6E4}"/>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18">
            <a:extLst xmlns:a="http://schemas.openxmlformats.org/drawingml/2006/main">
              <a:ext uri="{FF2B5EF4-FFF2-40B4-BE49-F238E27FC236}">
                <a16:creationId xmlns:a16="http://schemas.microsoft.com/office/drawing/2014/main" id="{73DB7B9C-3473-4B6A-BE51-4662BF50C179}"/>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O risco é o aumento do custo operacional das empresas, que pode levar a redução da capacidade produtiva e ao desemprego.</a:t>
            </a:r>
          </a:p>
          <a:p xmlns:a="http://schemas.openxmlformats.org/drawingml/2006/main">
            <a:pPr algn="l">
              <a:lnSpc>
                <a:spcPct val="115000"/>
              </a:lnSpc>
              <a:buNone/>
              <a:defRPr sz="900" b="0" i="0">
                <a:solidFill>
                  <a:srgbClr val="0F172A"/>
                </a:solidFill>
              </a:defRPr>
            </a:pPr>
            <a:r>
              <a:rPr sz="900" b="0" i="0">
                <a:solidFill>
                  <a:srgbClr val="0F172A"/>
                </a:solidFill>
              </a:rPr>
              <a:t>Pergunta: Como as empresas podem lidar com os encargos sociais sobre a folha de pagamento sem prejudicar sua competitividade?</a:t>
            </a:r>
          </a:p>
        </p:txBody>
      </p:sp>
      <p:sp>
        <p:nvSpPr>
          <p:cNvPr id="18" name="t2-a1-box-18">
            <a:extLst xmlns:a="http://schemas.openxmlformats.org/drawingml/2006/main">
              <a:ext uri="{FF2B5EF4-FFF2-40B4-BE49-F238E27FC236}">
                <a16:creationId xmlns:a16="http://schemas.microsoft.com/office/drawing/2014/main" id="{803CC098-7EAD-4014-906A-F79397623C5A}"/>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18">
            <a:extLst xmlns:a="http://schemas.openxmlformats.org/drawingml/2006/main">
              <a:ext uri="{FF2B5EF4-FFF2-40B4-BE49-F238E27FC236}">
                <a16:creationId xmlns:a16="http://schemas.microsoft.com/office/drawing/2014/main" id="{6D0D6FD6-76A3-428D-94CF-6FFDF3DB4A41}"/>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18">
            <a:extLst xmlns:a="http://schemas.openxmlformats.org/drawingml/2006/main">
              <a:ext uri="{FF2B5EF4-FFF2-40B4-BE49-F238E27FC236}">
                <a16:creationId xmlns:a16="http://schemas.microsoft.com/office/drawing/2014/main" id="{C9CDA80D-DD11-4B4D-B139-C27F88AA1919}"/>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O risco de desestabilização da economia se refere ao impacto negativo na produtividade e competitividade do setor...'), propomos que a implementação não seja abrupta nem cega à capacidade financeira dos negócios, adotando crédito presumido de transição e escalonamento setorial. Em relação ao segundo ponto levantado sobre deslocamento da tributação sobre salários para consumo ou valor adicionado líquido ('Risco: O risco é o aumento do custo operacional das empresas, que pode levar a redução da capacidade produtiva e ao dese...'),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18">
            <a:extLst xmlns:a="http://schemas.openxmlformats.org/drawingml/2006/main">
              <a:ext uri="{FF2B5EF4-FFF2-40B4-BE49-F238E27FC236}">
                <a16:creationId xmlns:a16="http://schemas.microsoft.com/office/drawing/2014/main" id="{5E12C898-A1F5-428A-8827-7BF47403D331}"/>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18">
            <a:extLst xmlns:a="http://schemas.openxmlformats.org/drawingml/2006/main">
              <a:ext uri="{FF2B5EF4-FFF2-40B4-BE49-F238E27FC236}">
                <a16:creationId xmlns:a16="http://schemas.microsoft.com/office/drawing/2014/main" id="{E6DCBA00-0DFB-404C-8C54-C4EB5D106640}"/>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18">
            <a:extLst xmlns:a="http://schemas.openxmlformats.org/drawingml/2006/main">
              <a:ext uri="{FF2B5EF4-FFF2-40B4-BE49-F238E27FC236}">
                <a16:creationId xmlns:a16="http://schemas.microsoft.com/office/drawing/2014/main" id="{C734C8F7-B92E-42D2-9B01-BD26AA3A5C48}"/>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18">
            <a:extLst xmlns:a="http://schemas.openxmlformats.org/drawingml/2006/main">
              <a:ext uri="{FF2B5EF4-FFF2-40B4-BE49-F238E27FC236}">
                <a16:creationId xmlns:a16="http://schemas.microsoft.com/office/drawing/2014/main" id="{77914C20-F581-45C2-81EB-49576F7CBA89}"/>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custos indiretos, encargos sobre folha e incidência fiscal e os custos/incentivos de mercado apontados pelo liberal.</a:t>
            </a:r>
          </a:p>
        </p:txBody>
      </p:sp>
      <p:sp>
        <p:nvSpPr>
          <p:cNvPr id="25" name="j-verd-box-18">
            <a:extLst xmlns:a="http://schemas.openxmlformats.org/drawingml/2006/main">
              <a:ext uri="{FF2B5EF4-FFF2-40B4-BE49-F238E27FC236}">
                <a16:creationId xmlns:a16="http://schemas.microsoft.com/office/drawing/2014/main" id="{9E60AC9F-8769-400F-9076-3E1229F5D3D1}"/>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18">
            <a:extLst xmlns:a="http://schemas.openxmlformats.org/drawingml/2006/main">
              <a:ext uri="{FF2B5EF4-FFF2-40B4-BE49-F238E27FC236}">
                <a16:creationId xmlns:a16="http://schemas.microsoft.com/office/drawing/2014/main" id="{0990C981-8297-41E8-9EFD-3CEBBD7D5400}"/>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18">
            <a:extLst xmlns:a="http://schemas.openxmlformats.org/drawingml/2006/main">
              <a:ext uri="{FF2B5EF4-FFF2-40B4-BE49-F238E27FC236}">
                <a16:creationId xmlns:a16="http://schemas.microsoft.com/office/drawing/2014/main" id="{8EBB43EA-56F0-42F8-A59B-AE515F122DA5}"/>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custos indiretos, encargos sobre folha e incidência fiscal,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18">
            <a:extLst xmlns:a="http://schemas.openxmlformats.org/drawingml/2006/main">
              <a:ext uri="{FF2B5EF4-FFF2-40B4-BE49-F238E27FC236}">
                <a16:creationId xmlns:a16="http://schemas.microsoft.com/office/drawing/2014/main" id="{9EABA0A2-F747-4B3C-AD45-4C9E3D2BE1FF}"/>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18">
            <a:extLst xmlns:a="http://schemas.openxmlformats.org/drawingml/2006/main">
              <a:ext uri="{FF2B5EF4-FFF2-40B4-BE49-F238E27FC236}">
                <a16:creationId xmlns:a16="http://schemas.microsoft.com/office/drawing/2014/main" id="{59421034-0E07-4753-A03E-ABEAAF2EF403}"/>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18">
            <a:extLst xmlns:a="http://schemas.openxmlformats.org/drawingml/2006/main">
              <a:ext uri="{FF2B5EF4-FFF2-40B4-BE49-F238E27FC236}">
                <a16:creationId xmlns:a16="http://schemas.microsoft.com/office/drawing/2014/main" id="{A20A4A60-87E5-4930-9486-3FD01F20661F}"/>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custos indiretos, encargos sobre folha e incidência fiscal, incorporar cláusula de transição faseada com incentivo à conformidade voluntária e repartição de encargos entre empregadores, poder público e fundos solidários, mitigando os custos apontados pelo liberal.</a:t>
            </a:r>
          </a:p>
        </p:txBody>
      </p:sp>
      <p:sp>
        <p:nvSpPr>
          <p:cNvPr id="31" name="j-pend-box-18">
            <a:extLst xmlns:a="http://schemas.openxmlformats.org/drawingml/2006/main">
              <a:ext uri="{FF2B5EF4-FFF2-40B4-BE49-F238E27FC236}">
                <a16:creationId xmlns:a16="http://schemas.microsoft.com/office/drawing/2014/main" id="{1478F606-BE24-44D0-96AA-825362EEAA89}"/>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18">
            <a:extLst xmlns:a="http://schemas.openxmlformats.org/drawingml/2006/main">
              <a:ext uri="{FF2B5EF4-FFF2-40B4-BE49-F238E27FC236}">
                <a16:creationId xmlns:a16="http://schemas.microsoft.com/office/drawing/2014/main" id="{56E2619B-A8FC-4ACA-9E9A-11AE50779C43}"/>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18">
            <a:extLst xmlns:a="http://schemas.openxmlformats.org/drawingml/2006/main">
              <a:ext uri="{FF2B5EF4-FFF2-40B4-BE49-F238E27FC236}">
                <a16:creationId xmlns:a16="http://schemas.microsoft.com/office/drawing/2014/main" id="{2BE387DC-A33F-4A1A-8E4A-50522CAD1D79}"/>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custos indiretos, encargos sobre folha e incidência fiscal.</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18 fixou a necessidade de transição gradual e mitigação de custos em custos indiretos, encargos sobre folha e incidência fiscal.</a:t>
            </a:r>
          </a:p>
        </p:txBody>
      </p:sp>
      <p:sp>
        <p:nvSpPr>
          <p:cNvPr id="34" name="j-spec-box-18">
            <a:extLst xmlns:a="http://schemas.openxmlformats.org/drawingml/2006/main">
              <a:ext uri="{FF2B5EF4-FFF2-40B4-BE49-F238E27FC236}">
                <a16:creationId xmlns:a16="http://schemas.microsoft.com/office/drawing/2014/main" id="{1E47A6FC-BF20-4430-8C33-E68F0CB02EC8}"/>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18">
            <a:extLst xmlns:a="http://schemas.openxmlformats.org/drawingml/2006/main">
              <a:ext uri="{FF2B5EF4-FFF2-40B4-BE49-F238E27FC236}">
                <a16:creationId xmlns:a16="http://schemas.microsoft.com/office/drawing/2014/main" id="{E82E5FDA-12FE-42EF-88DE-10999D75F862}"/>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18">
            <a:extLst xmlns:a="http://schemas.openxmlformats.org/drawingml/2006/main">
              <a:ext uri="{FF2B5EF4-FFF2-40B4-BE49-F238E27FC236}">
                <a16:creationId xmlns:a16="http://schemas.microsoft.com/office/drawing/2014/main" id="{FDDCF472-7BB4-4286-AABA-C8650D928AB0}"/>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19.</a:t>
            </a:r>
          </a:p>
        </p:txBody>
      </p:sp>
    </p:spTree>
    <p:extLst>
      <p:ext uri="{BB962C8B-B14F-4D97-AF65-F5344CB8AC3E}">
        <p14:creationId xmlns:p14="http://schemas.microsoft.com/office/powerpoint/2010/main" val="59741596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AD154346-05B7-4386-BDB6-CC41BA2B6E78}"/>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0130C7A6-9E2F-4353-A6CE-985C8B0D326A}"/>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6ABCB6D7-C441-4FD9-9717-47ACA5A09D84}"/>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19 · ZONAS DE EXPERIMENTAÇÃO E PILOTOS REGULATÓRIOS (SANDBOXES)</a:t>
            </a:r>
          </a:p>
        </p:txBody>
      </p:sp>
      <p:sp>
        <p:nvSpPr>
          <p:cNvPr id="4" name="header-sub">
            <a:extLst xmlns:a="http://schemas.openxmlformats.org/drawingml/2006/main">
              <a:ext uri="{FF2B5EF4-FFF2-40B4-BE49-F238E27FC236}">
                <a16:creationId xmlns:a16="http://schemas.microsoft.com/office/drawing/2014/main" id="{3EADD34F-B4D9-45D8-B7E7-D0F9783FAB5E}"/>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Como testar novos formatos contratuais com segurança jurídica antes de estender alterações a toda a economia?</a:t>
            </a:r>
          </a:p>
        </p:txBody>
      </p:sp>
      <p:sp>
        <p:nvSpPr>
          <p:cNvPr id="5" name="footer-rule">
            <a:extLst xmlns:a="http://schemas.openxmlformats.org/drawingml/2006/main">
              <a:ext uri="{FF2B5EF4-FFF2-40B4-BE49-F238E27FC236}">
                <a16:creationId xmlns:a16="http://schemas.microsoft.com/office/drawing/2014/main" id="{1D8D105E-7C4A-4400-96BB-41EF5769C1E9}"/>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81F96EA4-1DB5-4D3F-91D9-F31B8C605B74}"/>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AA4D311D-6233-4F2B-A907-50AB7842DA96}"/>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23</a:t>
            </a:r>
          </a:p>
        </p:txBody>
      </p:sp>
      <p:sp>
        <p:nvSpPr>
          <p:cNvPr id="8" name="left-hdr-19">
            <a:extLst xmlns:a="http://schemas.openxmlformats.org/drawingml/2006/main">
              <a:ext uri="{FF2B5EF4-FFF2-40B4-BE49-F238E27FC236}">
                <a16:creationId xmlns:a16="http://schemas.microsoft.com/office/drawing/2014/main" id="{D777915A-C502-4A21-9C34-F80504063BF8}"/>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19">
            <a:extLst xmlns:a="http://schemas.openxmlformats.org/drawingml/2006/main">
              <a:ext uri="{FF2B5EF4-FFF2-40B4-BE49-F238E27FC236}">
                <a16:creationId xmlns:a16="http://schemas.microsoft.com/office/drawing/2014/main" id="{AFCE8600-472E-43E3-9DBC-3ED380827776}"/>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19">
            <a:extLst xmlns:a="http://schemas.openxmlformats.org/drawingml/2006/main">
              <a:ext uri="{FF2B5EF4-FFF2-40B4-BE49-F238E27FC236}">
                <a16:creationId xmlns:a16="http://schemas.microsoft.com/office/drawing/2014/main" id="{DBD8FAB4-2C94-412B-AC1E-8629384DC3A0}"/>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19">
            <a:extLst xmlns:a="http://schemas.openxmlformats.org/drawingml/2006/main">
              <a:ext uri="{FF2B5EF4-FFF2-40B4-BE49-F238E27FC236}">
                <a16:creationId xmlns:a16="http://schemas.microsoft.com/office/drawing/2014/main" id="{CC33C304-16DD-417E-9CAE-ACAC8493D998}"/>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18 fixou a necessidade de transição gradual e mitigação de custos em custos indiretos, encargos sobre folha e incidência fiscal.'): Pilotos regulatórios e ambientes experimentais (sandboxes) podem testar novas modalidades de organização do trabalho, desde que submetidos a monitoramento tripartite independente, com prazo determinado e cláusula expressa de reversibilidade automática caso se constate redução salarial ou perda de direitos fundamentais.</a:t>
            </a:r>
          </a:p>
        </p:txBody>
      </p:sp>
      <p:sp>
        <p:nvSpPr>
          <p:cNvPr id="12" name="t1-a2-box-19">
            <a:extLst xmlns:a="http://schemas.openxmlformats.org/drawingml/2006/main">
              <a:ext uri="{FF2B5EF4-FFF2-40B4-BE49-F238E27FC236}">
                <a16:creationId xmlns:a16="http://schemas.microsoft.com/office/drawing/2014/main" id="{0E1765EF-FE33-4684-B9EF-8C4D4ECD9391}"/>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19">
            <a:extLst xmlns:a="http://schemas.openxmlformats.org/drawingml/2006/main">
              <a:ext uri="{FF2B5EF4-FFF2-40B4-BE49-F238E27FC236}">
                <a16:creationId xmlns:a16="http://schemas.microsoft.com/office/drawing/2014/main" id="{998A4D03-3B80-432F-9CB2-FA755FB6E9F3}"/>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19">
            <a:extLst xmlns:a="http://schemas.openxmlformats.org/drawingml/2006/main">
              <a:ext uri="{FF2B5EF4-FFF2-40B4-BE49-F238E27FC236}">
                <a16:creationId xmlns:a16="http://schemas.microsoft.com/office/drawing/2014/main" id="{00579C74-C055-4E95-B6E0-B750C773C502}"/>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O risco de um projeto falhar ou resultar em prejuízo financeiro é grande, especialmente se o mercado não estiver preparado para mudanças drásticas.</a:t>
            </a:r>
          </a:p>
          <a:p xmlns:a="http://schemas.openxmlformats.org/drawingml/2006/main">
            <a:pPr algn="l">
              <a:lnSpc>
                <a:spcPct val="115000"/>
              </a:lnSpc>
              <a:buNone/>
              <a:defRPr sz="900" b="0" i="0">
                <a:solidFill>
                  <a:srgbClr val="0F172A"/>
                </a:solidFill>
              </a:defRPr>
            </a:pPr>
            <a:r>
              <a:rPr sz="900" b="0" i="0">
                <a:solidFill>
                  <a:srgbClr val="0F172A"/>
                </a:solidFill>
              </a:rPr>
              <a:t>Pergunta: Como você sugere que os governos lidem com a incerteza jurídica e econômica associada às Zonas de Experimentação e Pilotos Regulatórios (Sandboxes)?</a:t>
            </a:r>
          </a:p>
        </p:txBody>
      </p:sp>
      <p:sp>
        <p:nvSpPr>
          <p:cNvPr id="15" name="t2-a2-box-19">
            <a:extLst xmlns:a="http://schemas.openxmlformats.org/drawingml/2006/main">
              <a:ext uri="{FF2B5EF4-FFF2-40B4-BE49-F238E27FC236}">
                <a16:creationId xmlns:a16="http://schemas.microsoft.com/office/drawing/2014/main" id="{22411F34-886D-403A-A241-33AA23F6C649}"/>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19">
            <a:extLst xmlns:a="http://schemas.openxmlformats.org/drawingml/2006/main">
              <a:ext uri="{FF2B5EF4-FFF2-40B4-BE49-F238E27FC236}">
                <a16:creationId xmlns:a16="http://schemas.microsoft.com/office/drawing/2014/main" id="{B601E791-16CA-43D3-91A3-83DF664D4C8A}"/>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19">
            <a:extLst xmlns:a="http://schemas.openxmlformats.org/drawingml/2006/main">
              <a:ext uri="{FF2B5EF4-FFF2-40B4-BE49-F238E27FC236}">
                <a16:creationId xmlns:a16="http://schemas.microsoft.com/office/drawing/2014/main" id="{2DD1E600-D329-467E-8A13-12B2ABDA0DF1}"/>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O risco maior é a insegurança jurídica e econômica que pode levar às empresas a desistirem do projeto, resultando em um investimento perdido para elas.</a:t>
            </a:r>
          </a:p>
          <a:p xmlns:a="http://schemas.openxmlformats.org/drawingml/2006/main">
            <a:pPr algn="l">
              <a:lnSpc>
                <a:spcPct val="115000"/>
              </a:lnSpc>
              <a:buNone/>
              <a:defRPr sz="900" b="0" i="0">
                <a:solidFill>
                  <a:srgbClr val="0F172A"/>
                </a:solidFill>
              </a:defRPr>
            </a:pPr>
            <a:r>
              <a:rPr sz="900" b="0" i="0">
                <a:solidFill>
                  <a:srgbClr val="0F172A"/>
                </a:solidFill>
              </a:rPr>
              <a:t>Pergunta: Como você sugere mitigar o risco de precarização documentada nos pilotos regulatórios (Sandboxes)?</a:t>
            </a:r>
          </a:p>
        </p:txBody>
      </p:sp>
      <p:sp>
        <p:nvSpPr>
          <p:cNvPr id="18" name="t2-a1-box-19">
            <a:extLst xmlns:a="http://schemas.openxmlformats.org/drawingml/2006/main">
              <a:ext uri="{FF2B5EF4-FFF2-40B4-BE49-F238E27FC236}">
                <a16:creationId xmlns:a16="http://schemas.microsoft.com/office/drawing/2014/main" id="{DDC43970-85AD-4B7F-ADA3-0E9FF1A70980}"/>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19">
            <a:extLst xmlns:a="http://schemas.openxmlformats.org/drawingml/2006/main">
              <a:ext uri="{FF2B5EF4-FFF2-40B4-BE49-F238E27FC236}">
                <a16:creationId xmlns:a16="http://schemas.microsoft.com/office/drawing/2014/main" id="{C540588C-814F-4176-904C-8BFE35CC6E24}"/>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19">
            <a:extLst xmlns:a="http://schemas.openxmlformats.org/drawingml/2006/main">
              <a:ext uri="{FF2B5EF4-FFF2-40B4-BE49-F238E27FC236}">
                <a16:creationId xmlns:a16="http://schemas.microsoft.com/office/drawing/2014/main" id="{9BFD7258-BEDA-47EA-99FF-EC340EAB7491}"/>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O risco de um projeto falhar ou resultar em prejuízo financeiro é grande, especialmente se o mercado não estiver ...'), propomos que a implementação não seja abrupta nem cega à capacidade financeira dos negócios, adotando crédito presumido de transição e escalonamento setorial. Em relação ao segundo ponto levantado sobre cláusula de salvaguarda com interrupção automática caso haja precarização documentada ('Risco: O risco maior é a insegurança jurídica e econômica que pode levar às empresas a desistirem do projeto, resultando...'),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19">
            <a:extLst xmlns:a="http://schemas.openxmlformats.org/drawingml/2006/main">
              <a:ext uri="{FF2B5EF4-FFF2-40B4-BE49-F238E27FC236}">
                <a16:creationId xmlns:a16="http://schemas.microsoft.com/office/drawing/2014/main" id="{C34DD76D-3B8D-444C-993B-EF39AA0356A6}"/>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19">
            <a:extLst xmlns:a="http://schemas.openxmlformats.org/drawingml/2006/main">
              <a:ext uri="{FF2B5EF4-FFF2-40B4-BE49-F238E27FC236}">
                <a16:creationId xmlns:a16="http://schemas.microsoft.com/office/drawing/2014/main" id="{EC0CB81C-81B2-4771-AB16-BF10294F0418}"/>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19">
            <a:extLst xmlns:a="http://schemas.openxmlformats.org/drawingml/2006/main">
              <a:ext uri="{FF2B5EF4-FFF2-40B4-BE49-F238E27FC236}">
                <a16:creationId xmlns:a16="http://schemas.microsoft.com/office/drawing/2014/main" id="{304CF6E9-0C52-415C-980D-B71B0EBA371F}"/>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19">
            <a:extLst xmlns:a="http://schemas.openxmlformats.org/drawingml/2006/main">
              <a:ext uri="{FF2B5EF4-FFF2-40B4-BE49-F238E27FC236}">
                <a16:creationId xmlns:a16="http://schemas.microsoft.com/office/drawing/2014/main" id="{888CB500-CC1E-4B61-AC46-9399DDDDDC63}"/>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zonas de experimentação e pilotos regulatórios (sandboxes) e os custos/incentivos de mercado apontados pelo liberal.</a:t>
            </a:r>
          </a:p>
        </p:txBody>
      </p:sp>
      <p:sp>
        <p:nvSpPr>
          <p:cNvPr id="25" name="j-verd-box-19">
            <a:extLst xmlns:a="http://schemas.openxmlformats.org/drawingml/2006/main">
              <a:ext uri="{FF2B5EF4-FFF2-40B4-BE49-F238E27FC236}">
                <a16:creationId xmlns:a16="http://schemas.microsoft.com/office/drawing/2014/main" id="{C1763EF1-9D43-4644-86D9-A7869C1B4E35}"/>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19">
            <a:extLst xmlns:a="http://schemas.openxmlformats.org/drawingml/2006/main">
              <a:ext uri="{FF2B5EF4-FFF2-40B4-BE49-F238E27FC236}">
                <a16:creationId xmlns:a16="http://schemas.microsoft.com/office/drawing/2014/main" id="{AB670527-5802-4DB4-B8B4-E513544E0052}"/>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19">
            <a:extLst xmlns:a="http://schemas.openxmlformats.org/drawingml/2006/main">
              <a:ext uri="{FF2B5EF4-FFF2-40B4-BE49-F238E27FC236}">
                <a16:creationId xmlns:a16="http://schemas.microsoft.com/office/drawing/2014/main" id="{FBA53CE0-84E1-48FB-AF1A-A8EB652337EA}"/>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zonas de experimentação e pilotos regulatórios (sandboxes),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19">
            <a:extLst xmlns:a="http://schemas.openxmlformats.org/drawingml/2006/main">
              <a:ext uri="{FF2B5EF4-FFF2-40B4-BE49-F238E27FC236}">
                <a16:creationId xmlns:a16="http://schemas.microsoft.com/office/drawing/2014/main" id="{1E0F180F-768A-464C-92FA-90E770E4C762}"/>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19">
            <a:extLst xmlns:a="http://schemas.openxmlformats.org/drawingml/2006/main">
              <a:ext uri="{FF2B5EF4-FFF2-40B4-BE49-F238E27FC236}">
                <a16:creationId xmlns:a16="http://schemas.microsoft.com/office/drawing/2014/main" id="{124E2FB8-098E-4F4C-BA19-6415833FEEB6}"/>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19">
            <a:extLst xmlns:a="http://schemas.openxmlformats.org/drawingml/2006/main">
              <a:ext uri="{FF2B5EF4-FFF2-40B4-BE49-F238E27FC236}">
                <a16:creationId xmlns:a16="http://schemas.microsoft.com/office/drawing/2014/main" id="{87680166-2176-4B2C-88E4-22211EA38FB9}"/>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zonas de experimentação e pilotos regulatórios (sandboxes), incorporar cláusula de transição faseada com incentivo à conformidade voluntária e repartição de encargos entre empregadores, poder público e fundos solidários, mitigando os custos apontados pelo liberal.</a:t>
            </a:r>
          </a:p>
        </p:txBody>
      </p:sp>
      <p:sp>
        <p:nvSpPr>
          <p:cNvPr id="31" name="j-pend-box-19">
            <a:extLst xmlns:a="http://schemas.openxmlformats.org/drawingml/2006/main">
              <a:ext uri="{FF2B5EF4-FFF2-40B4-BE49-F238E27FC236}">
                <a16:creationId xmlns:a16="http://schemas.microsoft.com/office/drawing/2014/main" id="{45A4DDFF-2043-4260-B793-4725842B596E}"/>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19">
            <a:extLst xmlns:a="http://schemas.openxmlformats.org/drawingml/2006/main">
              <a:ext uri="{FF2B5EF4-FFF2-40B4-BE49-F238E27FC236}">
                <a16:creationId xmlns:a16="http://schemas.microsoft.com/office/drawing/2014/main" id="{403EC30C-DE22-488D-B4A9-360974C6BCA9}"/>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19">
            <a:extLst xmlns:a="http://schemas.openxmlformats.org/drawingml/2006/main">
              <a:ext uri="{FF2B5EF4-FFF2-40B4-BE49-F238E27FC236}">
                <a16:creationId xmlns:a16="http://schemas.microsoft.com/office/drawing/2014/main" id="{D23BC52F-B183-408A-9A79-8A61F1264718}"/>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zonas de experimentação e pilotos regulatórios (sandboxes).</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19 fixou a necessidade de transição gradual e mitigação de custos em zonas de experimentação e pilotos regulatórios (sandboxes).</a:t>
            </a:r>
          </a:p>
        </p:txBody>
      </p:sp>
      <p:sp>
        <p:nvSpPr>
          <p:cNvPr id="34" name="j-spec-box-19">
            <a:extLst xmlns:a="http://schemas.openxmlformats.org/drawingml/2006/main">
              <a:ext uri="{FF2B5EF4-FFF2-40B4-BE49-F238E27FC236}">
                <a16:creationId xmlns:a16="http://schemas.microsoft.com/office/drawing/2014/main" id="{D3125EFA-D62C-42E7-838C-74FD6B544075}"/>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9525">
            <a:solidFill>
              <a:srgbClr val="E2E8F0"/>
            </a:solidFill>
            <a:prstDash val="solid"/>
          </a:ln>
        </p:spPr>
      </p:sp>
      <p:sp>
        <p:nvSpPr>
          <p:cNvPr id="35" name="j-spec-badge-19">
            <a:extLst xmlns:a="http://schemas.openxmlformats.org/drawingml/2006/main">
              <a:ext uri="{FF2B5EF4-FFF2-40B4-BE49-F238E27FC236}">
                <a16:creationId xmlns:a16="http://schemas.microsoft.com/office/drawing/2014/main" id="{8F8411A6-1DF5-4A65-B437-322D252B8011}"/>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475569"/>
                </a:solidFill>
              </a:defRPr>
            </a:defPPr>
          </a:lstStyle>
          <a:p xmlns:a="http://schemas.openxmlformats.org/drawingml/2006/main">
            <a:pPr algn="l">
              <a:lnSpc>
                <a:spcPct val="115000"/>
              </a:lnSpc>
              <a:buNone/>
              <a:defRPr sz="825" b="1" i="0">
                <a:solidFill>
                  <a:srgbClr val="475569"/>
                </a:solidFill>
              </a:defRPr>
            </a:pPr>
            <a:r>
              <a:rPr sz="825" b="1" i="0">
                <a:solidFill>
                  <a:srgbClr val="475569"/>
                </a:solidFill>
              </a:rPr>
              <a:t>CONTROLE TÉCNICO E CONFORMIDADE LOCAL</a:t>
            </a:r>
          </a:p>
        </p:txBody>
      </p:sp>
      <p:sp>
        <p:nvSpPr>
          <p:cNvPr id="36" name="j-spec-txt-19">
            <a:extLst xmlns:a="http://schemas.openxmlformats.org/drawingml/2006/main">
              <a:ext uri="{FF2B5EF4-FFF2-40B4-BE49-F238E27FC236}">
                <a16:creationId xmlns:a16="http://schemas.microsoft.com/office/drawing/2014/main" id="{3611FB50-4695-460E-BC3A-68E355A5E65D}"/>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1E293B"/>
                </a:solidFill>
              </a:defRPr>
            </a:defPPr>
          </a:lstStyle>
          <a:p xmlns:a="http://schemas.openxmlformats.org/drawingml/2006/main">
            <a:pPr algn="l">
              <a:lnSpc>
                <a:spcPct val="115000"/>
              </a:lnSpc>
              <a:buNone/>
              <a:defRPr sz="825" b="0" i="0">
                <a:solidFill>
                  <a:srgbClr val="1E293B"/>
                </a:solidFill>
              </a:defRPr>
            </a:pPr>
            <a:r>
              <a:rPr sz="825" b="0" i="0">
                <a:solidFill>
                  <a:srgbClr val="1E293B"/>
                </a:solidFill>
              </a:rPr>
              <a:t>• Modelo Local: Qwen 2.5 1.5B via Ollama | Protocolo: v4 (JSON Risco/Pergunta)</a:t>
            </a:r>
          </a:p>
          <a:p xmlns:a="http://schemas.openxmlformats.org/drawingml/2006/main">
            <a:pPr algn="l">
              <a:lnSpc>
                <a:spcPct val="115000"/>
              </a:lnSpc>
              <a:buNone/>
              <a:defRPr sz="825" b="0" i="0">
                <a:solidFill>
                  <a:srgbClr val="1E293B"/>
                </a:solidFill>
              </a:defRPr>
            </a:pPr>
            <a:r>
              <a:rPr sz="825" b="0" i="0">
                <a:solidFill>
                  <a:srgbClr val="1E293B"/>
                </a:solidFill>
              </a:rPr>
              <a:t>• Turno 1: 2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Turno 2: 1 tentativa(s) (Filtros: Aprovado)</a:t>
            </a:r>
          </a:p>
          <a:p xmlns:a="http://schemas.openxmlformats.org/drawingml/2006/main">
            <a:pPr algn="l">
              <a:lnSpc>
                <a:spcPct val="115000"/>
              </a:lnSpc>
              <a:buNone/>
              <a:defRPr sz="825" b="0" i="0">
                <a:solidFill>
                  <a:srgbClr val="1E293B"/>
                </a:solidFill>
              </a:defRPr>
            </a:pPr>
            <a:r>
              <a:rPr sz="825" b="0" i="0">
                <a:solidFill>
                  <a:srgbClr val="1E293B"/>
                </a:solidFill>
              </a:rPr>
              <a:t>• Retorno ao loop: Memória curta injetada na rodada 20.</a:t>
            </a:r>
          </a:p>
        </p:txBody>
      </p:sp>
    </p:spTree>
    <p:extLst>
      <p:ext uri="{BB962C8B-B14F-4D97-AF65-F5344CB8AC3E}">
        <p14:creationId xmlns:p14="http://schemas.microsoft.com/office/powerpoint/2010/main" val="12182100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header-author">
            <a:extLst xmlns:a="http://schemas.openxmlformats.org/drawingml/2006/main">
              <a:ext uri="{FF2B5EF4-FFF2-40B4-BE49-F238E27FC236}">
                <a16:creationId xmlns:a16="http://schemas.microsoft.com/office/drawing/2014/main" id="{439A7219-6723-48D6-B346-FF735188D8C6}"/>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8EAC6CD4-C5E6-418F-BB89-D81CBC573D3B}"/>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A28926D4-2128-45B3-875B-02661EA6C41A}"/>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Rodada 20 · ESTRATÉGIA FINAL CONSOLIDADA: GOVERNANÇA E REVISÃO CONTÍNUA</a:t>
            </a:r>
          </a:p>
        </p:txBody>
      </p:sp>
      <p:sp>
        <p:nvSpPr>
          <p:cNvPr id="4" name="header-sub">
            <a:extLst xmlns:a="http://schemas.openxmlformats.org/drawingml/2006/main">
              <a:ext uri="{FF2B5EF4-FFF2-40B4-BE49-F238E27FC236}">
                <a16:creationId xmlns:a16="http://schemas.microsoft.com/office/drawing/2014/main" id="{1ADE89F9-FA8A-4F49-A062-374174400287}"/>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Desafio Central: Quais são os pilares essenciais de um pacto nacional de trabalho digno com alta produtividade e critérios de revisão?</a:t>
            </a:r>
          </a:p>
        </p:txBody>
      </p:sp>
      <p:sp>
        <p:nvSpPr>
          <p:cNvPr id="5" name="footer-rule">
            <a:extLst xmlns:a="http://schemas.openxmlformats.org/drawingml/2006/main">
              <a:ext uri="{FF2B5EF4-FFF2-40B4-BE49-F238E27FC236}">
                <a16:creationId xmlns:a16="http://schemas.microsoft.com/office/drawing/2014/main" id="{3D94AE68-1F7E-4052-90F5-5D0AE0F9DA43}"/>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4318F513-BA63-4096-9743-75E1E857D2F4}"/>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1FD35F52-12C1-40ED-8CFC-2B6F0E1244D0}"/>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24</a:t>
            </a:r>
          </a:p>
        </p:txBody>
      </p:sp>
      <p:sp>
        <p:nvSpPr>
          <p:cNvPr id="8" name="left-hdr-20">
            <a:extLst xmlns:a="http://schemas.openxmlformats.org/drawingml/2006/main">
              <a:ext uri="{FF2B5EF4-FFF2-40B4-BE49-F238E27FC236}">
                <a16:creationId xmlns:a16="http://schemas.microsoft.com/office/drawing/2014/main" id="{D6C5D617-600E-43EF-B85A-8CFAF0F7D4B6}"/>
              </a:ext>
            </a:extLst>
          </p:cNvPr>
          <p:cNvSpPr>
            <a:spLocks xmlns:a="http://schemas.openxmlformats.org/drawingml/2006/main" noGrp="1"/>
          </p:cNvSpPr>
          <p:nvPr/>
        </p:nvSpPr>
        <p:spPr>
          <a:xfrm xmlns:a="http://schemas.openxmlformats.org/drawingml/2006/main">
            <a:off x="571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293B"/>
                </a:solidFill>
              </a:defRPr>
            </a:defPPr>
          </a:lstStyle>
          <a:p xmlns:a="http://schemas.openxmlformats.org/drawingml/2006/main">
            <a:pPr algn="l">
              <a:lnSpc>
                <a:spcPct val="115000"/>
              </a:lnSpc>
              <a:buNone/>
              <a:defRPr sz="975" b="1" i="0">
                <a:solidFill>
                  <a:srgbClr val="1E293B"/>
                </a:solidFill>
              </a:defRPr>
            </a:pPr>
            <a:r>
              <a:rPr sz="975" b="1" i="0">
                <a:solidFill>
                  <a:srgbClr val="1E293B"/>
                </a:solidFill>
              </a:rPr>
              <a:t>DIÁLOGO COMPLETO ENTRE OS AGENTES</a:t>
            </a:r>
          </a:p>
        </p:txBody>
      </p:sp>
      <p:sp>
        <p:nvSpPr>
          <p:cNvPr id="9" name="t1-a1-box-20">
            <a:extLst xmlns:a="http://schemas.openxmlformats.org/drawingml/2006/main">
              <a:ext uri="{FF2B5EF4-FFF2-40B4-BE49-F238E27FC236}">
                <a16:creationId xmlns:a16="http://schemas.microsoft.com/office/drawing/2014/main" id="{4A7BB4B1-1FBA-4C52-A1ED-7426ADD0D7C1}"/>
              </a:ext>
            </a:extLst>
          </p:cNvPr>
          <p:cNvSpPr>
            <a:spLocks xmlns:a="http://schemas.openxmlformats.org/drawingml/2006/main" noGrp="1"/>
          </p:cNvSpPr>
          <p:nvPr/>
        </p:nvSpPr>
        <p:spPr>
          <a:xfrm xmlns:a="http://schemas.openxmlformats.org/drawingml/2006/main">
            <a:off x="571500" y="1524000"/>
            <a:ext cx="6858000" cy="1476375"/>
          </a:xfrm>
          <a:prstGeom xmlns:a="http://schemas.openxmlformats.org/drawingml/2006/main" prst="roundRect">
            <a:avLst>
              <a:gd name="adj" fmla="val 5161"/>
            </a:avLst>
          </a:prstGeom>
          <a:solidFill xmlns:a="http://schemas.openxmlformats.org/drawingml/2006/main">
            <a:srgbClr val="FEF2F2"/>
          </a:solidFill>
          <a:ln xmlns:a="http://schemas.openxmlformats.org/drawingml/2006/main" w="9525">
            <a:solidFill>
              <a:srgbClr val="FECACA"/>
            </a:solidFill>
            <a:prstDash val="solid"/>
          </a:ln>
        </p:spPr>
      </p:sp>
      <p:sp>
        <p:nvSpPr>
          <p:cNvPr id="10" name="t1-a1-badge-20">
            <a:extLst xmlns:a="http://schemas.openxmlformats.org/drawingml/2006/main">
              <a:ext uri="{FF2B5EF4-FFF2-40B4-BE49-F238E27FC236}">
                <a16:creationId xmlns:a16="http://schemas.microsoft.com/office/drawing/2014/main" id="{BFC105EF-FF67-435D-988F-CF957FDB3ED2}"/>
              </a:ext>
            </a:extLst>
          </p:cNvPr>
          <p:cNvSpPr>
            <a:spLocks xmlns:a="http://schemas.openxmlformats.org/drawingml/2006/main" noGrp="1"/>
          </p:cNvSpPr>
          <p:nvPr/>
        </p:nvSpPr>
        <p:spPr>
          <a:xfrm xmlns:a="http://schemas.openxmlformats.org/drawingml/2006/main">
            <a:off x="714375" y="1638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1 · TRABALHISTA (ANTIGRAVITY / GEMINI)</a:t>
            </a:r>
          </a:p>
        </p:txBody>
      </p:sp>
      <p:sp>
        <p:nvSpPr>
          <p:cNvPr id="11" name="t1-a1-txt-20">
            <a:extLst xmlns:a="http://schemas.openxmlformats.org/drawingml/2006/main">
              <a:ext uri="{FF2B5EF4-FFF2-40B4-BE49-F238E27FC236}">
                <a16:creationId xmlns:a16="http://schemas.microsoft.com/office/drawing/2014/main" id="{7F62FCC4-7BE6-4D03-A1B2-9FB3FE8B7202}"/>
              </a:ext>
            </a:extLst>
          </p:cNvPr>
          <p:cNvSpPr>
            <a:spLocks xmlns:a="http://schemas.openxmlformats.org/drawingml/2006/main" noGrp="1"/>
          </p:cNvSpPr>
          <p:nvPr/>
        </p:nvSpPr>
        <p:spPr>
          <a:xfrm xmlns:a="http://schemas.openxmlformats.org/drawingml/2006/main">
            <a:off x="714375" y="1857375"/>
            <a:ext cx="657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Considerando a diretriz anterior ('Rodada 19 fixou a necessidade de transição gradual e mitigação de custos em zonas de experimentação e pilotos regulatórios (sandboxes).'): Para consolidar um Pacto Nacional de Trabalho Digno e Produtividade Sustentável, propomos uma estratégia gradual em seis pilares: piso de renda indexado, proteção social portátil universal, desoneração da folha com tributação alternativa, governança tripartite, educação contínua cofinanciada e regulação equilibrada do trabalho em plataformas com avaliação bienal de impacto.</a:t>
            </a:r>
          </a:p>
        </p:txBody>
      </p:sp>
      <p:sp>
        <p:nvSpPr>
          <p:cNvPr id="12" name="t1-a2-box-20">
            <a:extLst xmlns:a="http://schemas.openxmlformats.org/drawingml/2006/main">
              <a:ext uri="{FF2B5EF4-FFF2-40B4-BE49-F238E27FC236}">
                <a16:creationId xmlns:a16="http://schemas.microsoft.com/office/drawing/2014/main" id="{7A5D2F5D-8A9C-4248-B549-B3C7D299637E}"/>
              </a:ext>
            </a:extLst>
          </p:cNvPr>
          <p:cNvSpPr>
            <a:spLocks xmlns:a="http://schemas.openxmlformats.org/drawingml/2006/main" noGrp="1"/>
          </p:cNvSpPr>
          <p:nvPr/>
        </p:nvSpPr>
        <p:spPr>
          <a:xfrm xmlns:a="http://schemas.openxmlformats.org/drawingml/2006/main">
            <a:off x="571500" y="309562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3" name="t1-a2-badge-20">
            <a:extLst xmlns:a="http://schemas.openxmlformats.org/drawingml/2006/main">
              <a:ext uri="{FF2B5EF4-FFF2-40B4-BE49-F238E27FC236}">
                <a16:creationId xmlns:a16="http://schemas.microsoft.com/office/drawing/2014/main" id="{634B2375-7BD1-416A-A94C-58E4DA3E518C}"/>
              </a:ext>
            </a:extLst>
          </p:cNvPr>
          <p:cNvSpPr>
            <a:spLocks xmlns:a="http://schemas.openxmlformats.org/drawingml/2006/main" noGrp="1"/>
          </p:cNvSpPr>
          <p:nvPr/>
        </p:nvSpPr>
        <p:spPr>
          <a:xfrm xmlns:a="http://schemas.openxmlformats.org/drawingml/2006/main">
            <a:off x="714375" y="32099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1 · LIBERAL (QWEN 2.5 1.5B LOCAL)</a:t>
            </a:r>
          </a:p>
        </p:txBody>
      </p:sp>
      <p:sp>
        <p:nvSpPr>
          <p:cNvPr id="14" name="t1-a2-txt-20">
            <a:extLst xmlns:a="http://schemas.openxmlformats.org/drawingml/2006/main">
              <a:ext uri="{FF2B5EF4-FFF2-40B4-BE49-F238E27FC236}">
                <a16:creationId xmlns:a16="http://schemas.microsoft.com/office/drawing/2014/main" id="{57A8DAC4-6E68-4633-BCF6-8F667B4BBCAC}"/>
              </a:ext>
            </a:extLst>
          </p:cNvPr>
          <p:cNvSpPr>
            <a:spLocks xmlns:a="http://schemas.openxmlformats.org/drawingml/2006/main" noGrp="1"/>
          </p:cNvSpPr>
          <p:nvPr/>
        </p:nvSpPr>
        <p:spPr>
          <a:xfrm xmlns:a="http://schemas.openxmlformats.org/drawingml/2006/main">
            <a:off x="714375" y="342900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transição gradual pode levar a um aumento imprevisto dos gastos públicos em áreas como saúde e educação.</a:t>
            </a:r>
          </a:p>
          <a:p xmlns:a="http://schemas.openxmlformats.org/drawingml/2006/main">
            <a:pPr algn="l">
              <a:lnSpc>
                <a:spcPct val="115000"/>
              </a:lnSpc>
              <a:buNone/>
              <a:defRPr sz="900" b="0" i="0">
                <a:solidFill>
                  <a:srgbClr val="0F172A"/>
                </a:solidFill>
              </a:defRPr>
            </a:pPr>
            <a:r>
              <a:rPr sz="900" b="0" i="0">
                <a:solidFill>
                  <a:srgbClr val="0F172A"/>
                </a:solidFill>
              </a:rPr>
              <a:t>Pergunta: Como garantir o equilíbrio entre investimentos necessários para melhoria da qualidade de vida do trabalhador e recursos financeiros suficientes sem comprometer os orçamentos das outras políticas sociais?</a:t>
            </a:r>
          </a:p>
        </p:txBody>
      </p:sp>
      <p:sp>
        <p:nvSpPr>
          <p:cNvPr id="15" name="t2-a2-box-20">
            <a:extLst xmlns:a="http://schemas.openxmlformats.org/drawingml/2006/main">
              <a:ext uri="{FF2B5EF4-FFF2-40B4-BE49-F238E27FC236}">
                <a16:creationId xmlns:a16="http://schemas.microsoft.com/office/drawing/2014/main" id="{8B456339-2224-4687-A56D-ED667F4EED69}"/>
              </a:ext>
            </a:extLst>
          </p:cNvPr>
          <p:cNvSpPr>
            <a:spLocks xmlns:a="http://schemas.openxmlformats.org/drawingml/2006/main" noGrp="1"/>
          </p:cNvSpPr>
          <p:nvPr/>
        </p:nvSpPr>
        <p:spPr>
          <a:xfrm xmlns:a="http://schemas.openxmlformats.org/drawingml/2006/main">
            <a:off x="571500" y="4714875"/>
            <a:ext cx="6858000" cy="1524000"/>
          </a:xfrm>
          <a:prstGeom xmlns:a="http://schemas.openxmlformats.org/drawingml/2006/main" prst="roundRect">
            <a:avLst>
              <a:gd name="adj" fmla="val 5000"/>
            </a:avLst>
          </a:prstGeom>
          <a:solidFill xmlns:a="http://schemas.openxmlformats.org/drawingml/2006/main">
            <a:srgbClr val="ECFDF5"/>
          </a:solidFill>
          <a:ln xmlns:a="http://schemas.openxmlformats.org/drawingml/2006/main" w="9525">
            <a:solidFill>
              <a:srgbClr val="A7F3D0"/>
            </a:solidFill>
            <a:prstDash val="solid"/>
          </a:ln>
        </p:spPr>
      </p:sp>
      <p:sp>
        <p:nvSpPr>
          <p:cNvPr id="16" name="t2-a2-badge-20">
            <a:extLst xmlns:a="http://schemas.openxmlformats.org/drawingml/2006/main">
              <a:ext uri="{FF2B5EF4-FFF2-40B4-BE49-F238E27FC236}">
                <a16:creationId xmlns:a16="http://schemas.microsoft.com/office/drawing/2014/main" id="{A28570C1-A311-44CD-A56D-AB5522470071}"/>
              </a:ext>
            </a:extLst>
          </p:cNvPr>
          <p:cNvSpPr>
            <a:spLocks xmlns:a="http://schemas.openxmlformats.org/drawingml/2006/main" noGrp="1"/>
          </p:cNvSpPr>
          <p:nvPr/>
        </p:nvSpPr>
        <p:spPr>
          <a:xfrm xmlns:a="http://schemas.openxmlformats.org/drawingml/2006/main">
            <a:off x="714375" y="482917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65F46"/>
                </a:solidFill>
              </a:defRPr>
            </a:defPPr>
          </a:lstStyle>
          <a:p xmlns:a="http://schemas.openxmlformats.org/drawingml/2006/main">
            <a:pPr algn="l">
              <a:lnSpc>
                <a:spcPct val="115000"/>
              </a:lnSpc>
              <a:buNone/>
              <a:defRPr sz="825" b="1" i="0">
                <a:solidFill>
                  <a:srgbClr val="065F46"/>
                </a:solidFill>
              </a:defRPr>
            </a:pPr>
            <a:r>
              <a:rPr sz="825" b="1" i="0">
                <a:solidFill>
                  <a:srgbClr val="065F46"/>
                </a:solidFill>
              </a:rPr>
              <a:t>TURNO 2 · LIBERAL (QWEN 2.5 1.5B LOCAL)</a:t>
            </a:r>
          </a:p>
        </p:txBody>
      </p:sp>
      <p:sp>
        <p:nvSpPr>
          <p:cNvPr id="17" name="t2-a2-txt-20">
            <a:extLst xmlns:a="http://schemas.openxmlformats.org/drawingml/2006/main">
              <a:ext uri="{FF2B5EF4-FFF2-40B4-BE49-F238E27FC236}">
                <a16:creationId xmlns:a16="http://schemas.microsoft.com/office/drawing/2014/main" id="{283CEA06-7D94-4CE7-99DE-F2DE73190039}"/>
              </a:ext>
            </a:extLst>
          </p:cNvPr>
          <p:cNvSpPr>
            <a:spLocks xmlns:a="http://schemas.openxmlformats.org/drawingml/2006/main" noGrp="1"/>
          </p:cNvSpPr>
          <p:nvPr/>
        </p:nvSpPr>
        <p:spPr>
          <a:xfrm xmlns:a="http://schemas.openxmlformats.org/drawingml/2006/main">
            <a:off x="714375" y="50482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Risco: A insegurança jurídica associada à reorganização das funções da empresa pode resultar em atrasos na execução de projetos estratégicos</a:t>
            </a:r>
          </a:p>
          <a:p xmlns:a="http://schemas.openxmlformats.org/drawingml/2006/main">
            <a:pPr algn="l">
              <a:lnSpc>
                <a:spcPct val="115000"/>
              </a:lnSpc>
              <a:buNone/>
              <a:defRPr sz="900" b="0" i="0">
                <a:solidFill>
                  <a:srgbClr val="0F172A"/>
                </a:solidFill>
              </a:defRPr>
            </a:pPr>
            <a:r>
              <a:rPr sz="900" b="0" i="0">
                <a:solidFill>
                  <a:srgbClr val="0F172A"/>
                </a:solidFill>
              </a:rPr>
              <a:t>Pergunta: Como as empresas podem garantir que o processo de revisão contínua não prejudique suas operações atuais e comprometa sua competitividade?</a:t>
            </a:r>
          </a:p>
        </p:txBody>
      </p:sp>
      <p:sp>
        <p:nvSpPr>
          <p:cNvPr id="18" name="t2-a1-box-20">
            <a:extLst xmlns:a="http://schemas.openxmlformats.org/drawingml/2006/main">
              <a:ext uri="{FF2B5EF4-FFF2-40B4-BE49-F238E27FC236}">
                <a16:creationId xmlns:a16="http://schemas.microsoft.com/office/drawing/2014/main" id="{A230DE3E-6087-4E18-A2E9-B364171F79DA}"/>
              </a:ext>
            </a:extLst>
          </p:cNvPr>
          <p:cNvSpPr>
            <a:spLocks xmlns:a="http://schemas.openxmlformats.org/drawingml/2006/main" noGrp="1"/>
          </p:cNvSpPr>
          <p:nvPr/>
        </p:nvSpPr>
        <p:spPr>
          <a:xfrm xmlns:a="http://schemas.openxmlformats.org/drawingml/2006/main">
            <a:off x="571500" y="6334125"/>
            <a:ext cx="6858000" cy="1666875"/>
          </a:xfrm>
          <a:prstGeom xmlns:a="http://schemas.openxmlformats.org/drawingml/2006/main" prst="roundRect">
            <a:avLst>
              <a:gd name="adj" fmla="val 4571"/>
            </a:avLst>
          </a:prstGeom>
          <a:solidFill xmlns:a="http://schemas.openxmlformats.org/drawingml/2006/main">
            <a:srgbClr val="FEF2F2"/>
          </a:solidFill>
          <a:ln xmlns:a="http://schemas.openxmlformats.org/drawingml/2006/main" w="9525">
            <a:solidFill>
              <a:srgbClr val="FECACA"/>
            </a:solidFill>
            <a:prstDash val="solid"/>
          </a:ln>
        </p:spPr>
      </p:sp>
      <p:sp>
        <p:nvSpPr>
          <p:cNvPr id="19" name="t2-a1-badge-20">
            <a:extLst xmlns:a="http://schemas.openxmlformats.org/drawingml/2006/main">
              <a:ext uri="{FF2B5EF4-FFF2-40B4-BE49-F238E27FC236}">
                <a16:creationId xmlns:a16="http://schemas.microsoft.com/office/drawing/2014/main" id="{E5380AB9-E915-47CC-92C9-F717C52B9288}"/>
              </a:ext>
            </a:extLst>
          </p:cNvPr>
          <p:cNvSpPr>
            <a:spLocks xmlns:a="http://schemas.openxmlformats.org/drawingml/2006/main" noGrp="1"/>
          </p:cNvSpPr>
          <p:nvPr/>
        </p:nvSpPr>
        <p:spPr>
          <a:xfrm xmlns:a="http://schemas.openxmlformats.org/drawingml/2006/main">
            <a:off x="714375" y="6448425"/>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991B1B"/>
                </a:solidFill>
              </a:defRPr>
            </a:defPPr>
          </a:lstStyle>
          <a:p xmlns:a="http://schemas.openxmlformats.org/drawingml/2006/main">
            <a:pPr algn="l">
              <a:lnSpc>
                <a:spcPct val="115000"/>
              </a:lnSpc>
              <a:buNone/>
              <a:defRPr sz="825" b="1" i="0">
                <a:solidFill>
                  <a:srgbClr val="991B1B"/>
                </a:solidFill>
              </a:defRPr>
            </a:pPr>
            <a:r>
              <a:rPr sz="825" b="1" i="0">
                <a:solidFill>
                  <a:srgbClr val="991B1B"/>
                </a:solidFill>
              </a:rPr>
              <a:t>TURNO 2 · TRABALHISTA (ANTIGRAVITY / GEMINI)</a:t>
            </a:r>
          </a:p>
        </p:txBody>
      </p:sp>
      <p:sp>
        <p:nvSpPr>
          <p:cNvPr id="20" name="t2-a1-txt-20">
            <a:extLst xmlns:a="http://schemas.openxmlformats.org/drawingml/2006/main">
              <a:ext uri="{FF2B5EF4-FFF2-40B4-BE49-F238E27FC236}">
                <a16:creationId xmlns:a16="http://schemas.microsoft.com/office/drawing/2014/main" id="{4E8A3D69-A312-407B-8A38-355F67C18863}"/>
              </a:ext>
            </a:extLst>
          </p:cNvPr>
          <p:cNvSpPr>
            <a:spLocks xmlns:a="http://schemas.openxmlformats.org/drawingml/2006/main" noGrp="1"/>
          </p:cNvSpPr>
          <p:nvPr/>
        </p:nvSpPr>
        <p:spPr>
          <a:xfrm xmlns:a="http://schemas.openxmlformats.org/drawingml/2006/main">
            <a:off x="714375" y="6667500"/>
            <a:ext cx="6572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Compreendemos a preocupação liberal levantada sobre os custos e incentivos operacionais. Para responder diretamente ao risco apontado ('Risco: A transição gradual pode levar a um aumento imprevisto dos gastos públicos em áreas como saúde e educação.</a:t>
            </a:r>
          </a:p>
          <a:p xmlns:a="http://schemas.openxmlformats.org/drawingml/2006/main">
            <a:pPr algn="l">
              <a:lnSpc>
                <a:spcPct val="115000"/>
              </a:lnSpc>
              <a:buNone/>
              <a:defRPr sz="900" b="0" i="0">
                <a:solidFill>
                  <a:srgbClr val="0F172A"/>
                </a:solidFill>
              </a:defRPr>
            </a:pPr>
            <a:r>
              <a:rPr sz="900" b="0" i="0">
                <a:solidFill>
                  <a:srgbClr val="0F172A"/>
                </a:solidFill>
              </a:rPr>
              <a:t>Pergun...'), propomos que a implementação não seja abrupta nem cega à capacidade financeira dos negócios, adotando crédito presumido de transição e escalonamento setorial. Em relação ao segundo ponto levantado sobre instituição de comitê tripartite permanente de avaliação de impacto regulatório ('Risco: A insegurança jurídica associada à reorganização das funções da empresa pode resultar em atrasos na execução de p...'), a solução não é desregulamentar e precarizar, mas desenhar governança tripartite com fundos públicos compensatórios, garantindo que a competitividade empresarial não ocorra às custas da dignidade e da subsistência do trabalhador.</a:t>
            </a:r>
          </a:p>
        </p:txBody>
      </p:sp>
      <p:sp>
        <p:nvSpPr>
          <p:cNvPr id="21" name="right-hdr-20">
            <a:extLst xmlns:a="http://schemas.openxmlformats.org/drawingml/2006/main">
              <a:ext uri="{FF2B5EF4-FFF2-40B4-BE49-F238E27FC236}">
                <a16:creationId xmlns:a16="http://schemas.microsoft.com/office/drawing/2014/main" id="{2457F90E-1191-46B9-AB00-6F40353A4759}"/>
              </a:ext>
            </a:extLst>
          </p:cNvPr>
          <p:cNvSpPr>
            <a:spLocks xmlns:a="http://schemas.openxmlformats.org/drawingml/2006/main" noGrp="1"/>
          </p:cNvSpPr>
          <p:nvPr/>
        </p:nvSpPr>
        <p:spPr>
          <a:xfrm xmlns:a="http://schemas.openxmlformats.org/drawingml/2006/main">
            <a:off x="7810500" y="12858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1E40AF"/>
                </a:solidFill>
              </a:defRPr>
            </a:defPPr>
          </a:lstStyle>
          <a:p xmlns:a="http://schemas.openxmlformats.org/drawingml/2006/main">
            <a:pPr algn="l">
              <a:lnSpc>
                <a:spcPct val="115000"/>
              </a:lnSpc>
              <a:buNone/>
              <a:defRPr sz="975" b="1" i="0">
                <a:solidFill>
                  <a:srgbClr val="1E40AF"/>
                </a:solidFill>
              </a:defRPr>
            </a:pPr>
            <a:r>
              <a:rPr sz="975" b="1" i="0">
                <a:solidFill>
                  <a:srgbClr val="1E40AF"/>
                </a:solidFill>
              </a:rPr>
              <a:t>AVALIAÇÃO DO JUIZ E SÍNTESE ESTRATÉGICA (ANTIGRAVITY)</a:t>
            </a:r>
          </a:p>
        </p:txBody>
      </p:sp>
      <p:sp>
        <p:nvSpPr>
          <p:cNvPr id="22" name="j-sum-box-20">
            <a:extLst xmlns:a="http://schemas.openxmlformats.org/drawingml/2006/main">
              <a:ext uri="{FF2B5EF4-FFF2-40B4-BE49-F238E27FC236}">
                <a16:creationId xmlns:a16="http://schemas.microsoft.com/office/drawing/2014/main" id="{68526A0D-4B11-40EE-98A9-FD9BB80448FF}"/>
              </a:ext>
            </a:extLst>
          </p:cNvPr>
          <p:cNvSpPr>
            <a:spLocks xmlns:a="http://schemas.openxmlformats.org/drawingml/2006/main" noGrp="1"/>
          </p:cNvSpPr>
          <p:nvPr/>
        </p:nvSpPr>
        <p:spPr>
          <a:xfrm xmlns:a="http://schemas.openxmlformats.org/drawingml/2006/main">
            <a:off x="7810500" y="1524000"/>
            <a:ext cx="685800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9525">
            <a:solidFill>
              <a:srgbClr val="E2E8F0"/>
            </a:solidFill>
            <a:prstDash val="solid"/>
          </a:ln>
        </p:spPr>
      </p:sp>
      <p:sp>
        <p:nvSpPr>
          <p:cNvPr id="23" name="j-sum-badge-20">
            <a:extLst xmlns:a="http://schemas.openxmlformats.org/drawingml/2006/main">
              <a:ext uri="{FF2B5EF4-FFF2-40B4-BE49-F238E27FC236}">
                <a16:creationId xmlns:a16="http://schemas.microsoft.com/office/drawing/2014/main" id="{80494CBA-3F07-4C1F-B044-86925E02A7BF}"/>
              </a:ext>
            </a:extLst>
          </p:cNvPr>
          <p:cNvSpPr>
            <a:spLocks xmlns:a="http://schemas.openxmlformats.org/drawingml/2006/main" noGrp="1"/>
          </p:cNvSpPr>
          <p:nvPr/>
        </p:nvSpPr>
        <p:spPr>
          <a:xfrm xmlns:a="http://schemas.openxmlformats.org/drawingml/2006/main">
            <a:off x="7953375" y="163830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O QUE FOI DISCUTIDO NESTA RODADA</a:t>
            </a:r>
          </a:p>
        </p:txBody>
      </p:sp>
      <p:sp>
        <p:nvSpPr>
          <p:cNvPr id="24" name="j-sum-txt-20">
            <a:extLst xmlns:a="http://schemas.openxmlformats.org/drawingml/2006/main">
              <a:ext uri="{FF2B5EF4-FFF2-40B4-BE49-F238E27FC236}">
                <a16:creationId xmlns:a16="http://schemas.microsoft.com/office/drawing/2014/main" id="{A6432190-02BE-4F9C-83BE-1931561BA78C}"/>
              </a:ext>
            </a:extLst>
          </p:cNvPr>
          <p:cNvSpPr>
            <a:spLocks xmlns:a="http://schemas.openxmlformats.org/drawingml/2006/main" noGrp="1"/>
          </p:cNvSpPr>
          <p:nvPr/>
        </p:nvSpPr>
        <p:spPr>
          <a:xfrm xmlns:a="http://schemas.openxmlformats.org/drawingml/2006/main">
            <a:off x="7953375" y="1838325"/>
            <a:ext cx="657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Debateu-se o equilíbrio entre a regulação protetiva de estratégia final consolidada: governança e revisão contínua e os custos/incentivos de mercado apontados pelo liberal.</a:t>
            </a:r>
          </a:p>
        </p:txBody>
      </p:sp>
      <p:sp>
        <p:nvSpPr>
          <p:cNvPr id="25" name="j-verd-box-20">
            <a:extLst xmlns:a="http://schemas.openxmlformats.org/drawingml/2006/main">
              <a:ext uri="{FF2B5EF4-FFF2-40B4-BE49-F238E27FC236}">
                <a16:creationId xmlns:a16="http://schemas.microsoft.com/office/drawing/2014/main" id="{7E9470E9-C304-421B-A04C-1803BEA6D9C0}"/>
              </a:ext>
            </a:extLst>
          </p:cNvPr>
          <p:cNvSpPr>
            <a:spLocks xmlns:a="http://schemas.openxmlformats.org/drawingml/2006/main" noGrp="1"/>
          </p:cNvSpPr>
          <p:nvPr/>
        </p:nvSpPr>
        <p:spPr>
          <a:xfrm xmlns:a="http://schemas.openxmlformats.org/drawingml/2006/main">
            <a:off x="7810500" y="2619375"/>
            <a:ext cx="6858000" cy="1571625"/>
          </a:xfrm>
          <a:prstGeom xmlns:a="http://schemas.openxmlformats.org/drawingml/2006/main" prst="roundRect">
            <a:avLst>
              <a:gd name="adj" fmla="val 4848"/>
            </a:avLst>
          </a:prstGeom>
          <a:solidFill xmlns:a="http://schemas.openxmlformats.org/drawingml/2006/main">
            <a:srgbClr val="EFF6FF"/>
          </a:solidFill>
          <a:ln xmlns:a="http://schemas.openxmlformats.org/drawingml/2006/main" w="9525">
            <a:solidFill>
              <a:srgbClr val="BFDBFE"/>
            </a:solidFill>
            <a:prstDash val="solid"/>
          </a:ln>
        </p:spPr>
      </p:sp>
      <p:sp>
        <p:nvSpPr>
          <p:cNvPr id="26" name="j-verd-badge-20">
            <a:extLst xmlns:a="http://schemas.openxmlformats.org/drawingml/2006/main">
              <a:ext uri="{FF2B5EF4-FFF2-40B4-BE49-F238E27FC236}">
                <a16:creationId xmlns:a16="http://schemas.microsoft.com/office/drawing/2014/main" id="{F60D144E-F1F5-40DB-81DA-AC073AF45F4B}"/>
              </a:ext>
            </a:extLst>
          </p:cNvPr>
          <p:cNvSpPr>
            <a:spLocks xmlns:a="http://schemas.openxmlformats.org/drawingml/2006/main" noGrp="1"/>
          </p:cNvSpPr>
          <p:nvPr/>
        </p:nvSpPr>
        <p:spPr>
          <a:xfrm xmlns:a="http://schemas.openxmlformats.org/drawingml/2006/main">
            <a:off x="7953375" y="2733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1E40AF"/>
                </a:solidFill>
              </a:defRPr>
            </a:defPPr>
          </a:lstStyle>
          <a:p xmlns:a="http://schemas.openxmlformats.org/drawingml/2006/main">
            <a:pPr algn="l">
              <a:lnSpc>
                <a:spcPct val="115000"/>
              </a:lnSpc>
              <a:buNone/>
              <a:defRPr sz="825" b="1" i="0">
                <a:solidFill>
                  <a:srgbClr val="1E40AF"/>
                </a:solidFill>
              </a:defRPr>
            </a:pPr>
            <a:r>
              <a:rPr sz="825" b="1" i="0">
                <a:solidFill>
                  <a:srgbClr val="1E40AF"/>
                </a:solidFill>
              </a:rPr>
              <a:t>PARECER CRÍTICO E TENSÕES ECONÔMICAS</a:t>
            </a:r>
          </a:p>
        </p:txBody>
      </p:sp>
      <p:sp>
        <p:nvSpPr>
          <p:cNvPr id="27" name="j-verd-txt-20">
            <a:extLst xmlns:a="http://schemas.openxmlformats.org/drawingml/2006/main">
              <a:ext uri="{FF2B5EF4-FFF2-40B4-BE49-F238E27FC236}">
                <a16:creationId xmlns:a16="http://schemas.microsoft.com/office/drawing/2014/main" id="{EF70645F-98DE-4935-9B5B-EAAD529B108F}"/>
              </a:ext>
            </a:extLst>
          </p:cNvPr>
          <p:cNvSpPr>
            <a:spLocks xmlns:a="http://schemas.openxmlformats.org/drawingml/2006/main" noGrp="1"/>
          </p:cNvSpPr>
          <p:nvPr/>
        </p:nvSpPr>
        <p:spPr>
          <a:xfrm xmlns:a="http://schemas.openxmlformats.org/drawingml/2006/main">
            <a:off x="7953375" y="2933700"/>
            <a:ext cx="657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O Trabalhista sustentou a necessidade de garantias estruturais em estratégia final consolidada: governança e revisão contínua, resguardando a renda e a integridade da força de trabalho. O Liberal (Qwen local) apontou riscos reais de oneração excessiva, perda de flexibilidade e custos que podem desencorajar contratações. A convergência viável repousa na criação de mecanismos graduais e compensatórios que resguardem direitos sem sufocar a sustentabilidade empresarial.</a:t>
            </a:r>
          </a:p>
        </p:txBody>
      </p:sp>
      <p:sp>
        <p:nvSpPr>
          <p:cNvPr id="28" name="j-plan-box-20">
            <a:extLst xmlns:a="http://schemas.openxmlformats.org/drawingml/2006/main">
              <a:ext uri="{FF2B5EF4-FFF2-40B4-BE49-F238E27FC236}">
                <a16:creationId xmlns:a16="http://schemas.microsoft.com/office/drawing/2014/main" id="{F5F89B56-C230-48CC-8C54-0AAC00DF1752}"/>
              </a:ext>
            </a:extLst>
          </p:cNvPr>
          <p:cNvSpPr>
            <a:spLocks xmlns:a="http://schemas.openxmlformats.org/drawingml/2006/main" noGrp="1"/>
          </p:cNvSpPr>
          <p:nvPr/>
        </p:nvSpPr>
        <p:spPr>
          <a:xfrm xmlns:a="http://schemas.openxmlformats.org/drawingml/2006/main">
            <a:off x="7810500" y="4286250"/>
            <a:ext cx="6858000" cy="1285875"/>
          </a:xfrm>
          <a:prstGeom xmlns:a="http://schemas.openxmlformats.org/drawingml/2006/main" prst="roundRect">
            <a:avLst>
              <a:gd name="adj" fmla="val 5926"/>
            </a:avLst>
          </a:prstGeom>
          <a:solidFill xmlns:a="http://schemas.openxmlformats.org/drawingml/2006/main">
            <a:srgbClr val="F8FAFC"/>
          </a:solidFill>
          <a:ln xmlns:a="http://schemas.openxmlformats.org/drawingml/2006/main" w="9525">
            <a:solidFill>
              <a:srgbClr val="E2E8F0"/>
            </a:solidFill>
            <a:prstDash val="solid"/>
          </a:ln>
        </p:spPr>
      </p:sp>
      <p:sp>
        <p:nvSpPr>
          <p:cNvPr id="29" name="j-plan-badge-20">
            <a:extLst xmlns:a="http://schemas.openxmlformats.org/drawingml/2006/main">
              <a:ext uri="{FF2B5EF4-FFF2-40B4-BE49-F238E27FC236}">
                <a16:creationId xmlns:a16="http://schemas.microsoft.com/office/drawing/2014/main" id="{1F449111-F004-4060-8883-C0B61D2162D5}"/>
              </a:ext>
            </a:extLst>
          </p:cNvPr>
          <p:cNvSpPr>
            <a:spLocks xmlns:a="http://schemas.openxmlformats.org/drawingml/2006/main" noGrp="1"/>
          </p:cNvSpPr>
          <p:nvPr/>
        </p:nvSpPr>
        <p:spPr>
          <a:xfrm xmlns:a="http://schemas.openxmlformats.org/drawingml/2006/main">
            <a:off x="7953375" y="44005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0D9488"/>
                </a:solidFill>
              </a:defRPr>
            </a:defPPr>
          </a:lstStyle>
          <a:p xmlns:a="http://schemas.openxmlformats.org/drawingml/2006/main">
            <a:pPr algn="l">
              <a:lnSpc>
                <a:spcPct val="115000"/>
              </a:lnSpc>
              <a:buNone/>
              <a:defRPr sz="825" b="1" i="0">
                <a:solidFill>
                  <a:srgbClr val="0D9488"/>
                </a:solidFill>
              </a:defRPr>
            </a:pPr>
            <a:r>
              <a:rPr sz="825" b="1" i="0">
                <a:solidFill>
                  <a:srgbClr val="0D9488"/>
                </a:solidFill>
              </a:rPr>
              <a:t>ATUALIZAÇÃO DA ESTRATÉGIA DE TRABALHO DIGNO</a:t>
            </a:r>
          </a:p>
        </p:txBody>
      </p:sp>
      <p:sp>
        <p:nvSpPr>
          <p:cNvPr id="30" name="j-plan-txt-20">
            <a:extLst xmlns:a="http://schemas.openxmlformats.org/drawingml/2006/main">
              <a:ext uri="{FF2B5EF4-FFF2-40B4-BE49-F238E27FC236}">
                <a16:creationId xmlns:a16="http://schemas.microsoft.com/office/drawing/2014/main" id="{874F9995-B038-4338-8617-215ACCE1ABFF}"/>
              </a:ext>
            </a:extLst>
          </p:cNvPr>
          <p:cNvSpPr>
            <a:spLocks xmlns:a="http://schemas.openxmlformats.org/drawingml/2006/main" noGrp="1"/>
          </p:cNvSpPr>
          <p:nvPr/>
        </p:nvSpPr>
        <p:spPr>
          <a:xfrm xmlns:a="http://schemas.openxmlformats.org/drawingml/2006/main">
            <a:off x="7953375" y="4600575"/>
            <a:ext cx="657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0F172A"/>
                </a:solidFill>
              </a:defRPr>
            </a:defPPr>
          </a:lstStyle>
          <a:p xmlns:a="http://schemas.openxmlformats.org/drawingml/2006/main">
            <a:pPr algn="l">
              <a:lnSpc>
                <a:spcPct val="115000"/>
              </a:lnSpc>
              <a:buNone/>
              <a:defRPr sz="900" b="0" i="0">
                <a:solidFill>
                  <a:srgbClr val="0F172A"/>
                </a:solidFill>
              </a:defRPr>
            </a:pPr>
            <a:r>
              <a:rPr sz="900" b="0" i="0">
                <a:solidFill>
                  <a:srgbClr val="0F172A"/>
                </a:solidFill>
              </a:rPr>
              <a:t>Para o tema de estratégia final consolidada: governança e revisão contínua, incorporar cláusula de transição faseada com incentivo à conformidade voluntária e repartição de encargos entre empregadores, poder público e fundos solidários, mitigando os custos apontados pelo liberal.</a:t>
            </a:r>
          </a:p>
        </p:txBody>
      </p:sp>
      <p:sp>
        <p:nvSpPr>
          <p:cNvPr id="31" name="j-pend-box-20">
            <a:extLst xmlns:a="http://schemas.openxmlformats.org/drawingml/2006/main">
              <a:ext uri="{FF2B5EF4-FFF2-40B4-BE49-F238E27FC236}">
                <a16:creationId xmlns:a16="http://schemas.microsoft.com/office/drawing/2014/main" id="{6B4D4F1F-F90E-4089-8F89-9F776512887D}"/>
              </a:ext>
            </a:extLst>
          </p:cNvPr>
          <p:cNvSpPr>
            <a:spLocks xmlns:a="http://schemas.openxmlformats.org/drawingml/2006/main" noGrp="1"/>
          </p:cNvSpPr>
          <p:nvPr/>
        </p:nvSpPr>
        <p:spPr>
          <a:xfrm xmlns:a="http://schemas.openxmlformats.org/drawingml/2006/main">
            <a:off x="7810500" y="5667375"/>
            <a:ext cx="6858000" cy="1095375"/>
          </a:xfrm>
          <a:prstGeom xmlns:a="http://schemas.openxmlformats.org/drawingml/2006/main" prst="roundRect">
            <a:avLst>
              <a:gd name="adj" fmla="val 6957"/>
            </a:avLst>
          </a:prstGeom>
          <a:solidFill xmlns:a="http://schemas.openxmlformats.org/drawingml/2006/main">
            <a:srgbClr val="F8FAFC"/>
          </a:solidFill>
          <a:ln xmlns:a="http://schemas.openxmlformats.org/drawingml/2006/main" w="9525">
            <a:solidFill>
              <a:srgbClr val="E2E8F0"/>
            </a:solidFill>
            <a:prstDash val="solid"/>
          </a:ln>
        </p:spPr>
      </p:sp>
      <p:sp>
        <p:nvSpPr>
          <p:cNvPr id="32" name="j-pend-badge-20">
            <a:extLst xmlns:a="http://schemas.openxmlformats.org/drawingml/2006/main">
              <a:ext uri="{FF2B5EF4-FFF2-40B4-BE49-F238E27FC236}">
                <a16:creationId xmlns:a16="http://schemas.microsoft.com/office/drawing/2014/main" id="{DB6ED573-1E87-40A0-8A39-08B1143D0922}"/>
              </a:ext>
            </a:extLst>
          </p:cNvPr>
          <p:cNvSpPr>
            <a:spLocks xmlns:a="http://schemas.openxmlformats.org/drawingml/2006/main" noGrp="1"/>
          </p:cNvSpPr>
          <p:nvPr/>
        </p:nvSpPr>
        <p:spPr>
          <a:xfrm xmlns:a="http://schemas.openxmlformats.org/drawingml/2006/main">
            <a:off x="7953375" y="5781675"/>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D97706"/>
                </a:solidFill>
              </a:defRPr>
            </a:defPPr>
          </a:lstStyle>
          <a:p xmlns:a="http://schemas.openxmlformats.org/drawingml/2006/main">
            <a:pPr algn="l">
              <a:lnSpc>
                <a:spcPct val="115000"/>
              </a:lnSpc>
              <a:buNone/>
              <a:defRPr sz="825" b="1" i="0">
                <a:solidFill>
                  <a:srgbClr val="D97706"/>
                </a:solidFill>
              </a:defRPr>
            </a:pPr>
            <a:r>
              <a:rPr sz="825" b="1" i="0">
                <a:solidFill>
                  <a:srgbClr val="D97706"/>
                </a:solidFill>
              </a:rPr>
              <a:t>QUESTÃO PENDENTE &amp; MEMÓRIA DO LOOP</a:t>
            </a:r>
          </a:p>
        </p:txBody>
      </p:sp>
      <p:sp>
        <p:nvSpPr>
          <p:cNvPr id="33" name="j-pend-txt-20">
            <a:extLst xmlns:a="http://schemas.openxmlformats.org/drawingml/2006/main">
              <a:ext uri="{FF2B5EF4-FFF2-40B4-BE49-F238E27FC236}">
                <a16:creationId xmlns:a16="http://schemas.microsoft.com/office/drawing/2014/main" id="{5CF7AFBC-8E1F-4D0A-A27F-0680F3957C49}"/>
              </a:ext>
            </a:extLst>
          </p:cNvPr>
          <p:cNvSpPr>
            <a:spLocks xmlns:a="http://schemas.openxmlformats.org/drawingml/2006/main" noGrp="1"/>
          </p:cNvSpPr>
          <p:nvPr/>
        </p:nvSpPr>
        <p:spPr>
          <a:xfrm xmlns:a="http://schemas.openxmlformats.org/drawingml/2006/main">
            <a:off x="7953375" y="5981700"/>
            <a:ext cx="657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i="0">
                <a:solidFill>
                  <a:srgbClr val="1E293B"/>
                </a:solidFill>
              </a:defRPr>
            </a:defPPr>
          </a:lstStyle>
          <a:p xmlns:a="http://schemas.openxmlformats.org/drawingml/2006/main">
            <a:pPr algn="l">
              <a:lnSpc>
                <a:spcPct val="115000"/>
              </a:lnSpc>
              <a:buNone/>
              <a:defRPr sz="900" b="0" i="0">
                <a:solidFill>
                  <a:srgbClr val="1E293B"/>
                </a:solidFill>
              </a:defRPr>
            </a:pPr>
            <a:r>
              <a:rPr sz="900" b="0" i="0">
                <a:solidFill>
                  <a:srgbClr val="1E293B"/>
                </a:solidFill>
              </a:rPr>
              <a:t>• Pendência: Definir a modelagem atuarial precisa dos custos e os critérios técnicos de governança para estratégia final consolidada: governança e revisão contínua.</a:t>
            </a:r>
          </a:p>
          <a:p xmlns:a="http://schemas.openxmlformats.org/drawingml/2006/main">
            <a:pPr algn="l">
              <a:lnSpc>
                <a:spcPct val="115000"/>
              </a:lnSpc>
              <a:buNone/>
              <a:defRPr sz="900" b="0" i="0">
                <a:solidFill>
                  <a:srgbClr val="1E293B"/>
                </a:solidFill>
              </a:defRPr>
            </a:pPr>
            <a:r>
              <a:rPr sz="900" b="0" i="0">
                <a:solidFill>
                  <a:srgbClr val="1E293B"/>
                </a:solidFill>
              </a:rPr>
              <a:t>• Memória enviada ao próximo tema: Rodada 20 fixou a necessidade de transição gradual e mitigação de custos em estratégia final consolidada: governança e revisão contínua.</a:t>
            </a:r>
          </a:p>
        </p:txBody>
      </p:sp>
      <p:sp>
        <p:nvSpPr>
          <p:cNvPr id="34" name="j-spec-box-20">
            <a:extLst xmlns:a="http://schemas.openxmlformats.org/drawingml/2006/main">
              <a:ext uri="{FF2B5EF4-FFF2-40B4-BE49-F238E27FC236}">
                <a16:creationId xmlns:a16="http://schemas.microsoft.com/office/drawing/2014/main" id="{578893AF-2549-47AE-ADC6-951978809251}"/>
              </a:ext>
            </a:extLst>
          </p:cNvPr>
          <p:cNvSpPr>
            <a:spLocks xmlns:a="http://schemas.openxmlformats.org/drawingml/2006/main" noGrp="1"/>
          </p:cNvSpPr>
          <p:nvPr/>
        </p:nvSpPr>
        <p:spPr>
          <a:xfrm xmlns:a="http://schemas.openxmlformats.org/drawingml/2006/main">
            <a:off x="7810500" y="6858000"/>
            <a:ext cx="6858000" cy="1143000"/>
          </a:xfrm>
          <a:prstGeom xmlns:a="http://schemas.openxmlformats.org/drawingml/2006/main" prst="roundRect">
            <a:avLst>
              <a:gd name="adj" fmla="val 6667"/>
            </a:avLst>
          </a:prstGeom>
          <a:solidFill xmlns:a="http://schemas.openxmlformats.org/drawingml/2006/main">
            <a:srgbClr val="FDF4FF"/>
          </a:solidFill>
          <a:ln xmlns:a="http://schemas.openxmlformats.org/drawingml/2006/main" w="14288">
            <a:solidFill>
              <a:srgbClr val="E879F9"/>
            </a:solidFill>
            <a:prstDash val="solid"/>
          </a:ln>
        </p:spPr>
      </p:sp>
      <p:sp>
        <p:nvSpPr>
          <p:cNvPr id="35" name="j-spec-badge-20">
            <a:extLst xmlns:a="http://schemas.openxmlformats.org/drawingml/2006/main">
              <a:ext uri="{FF2B5EF4-FFF2-40B4-BE49-F238E27FC236}">
                <a16:creationId xmlns:a16="http://schemas.microsoft.com/office/drawing/2014/main" id="{FA62B67E-A413-4785-95A7-068F5B523BAA}"/>
              </a:ext>
            </a:extLst>
          </p:cNvPr>
          <p:cNvSpPr>
            <a:spLocks xmlns:a="http://schemas.openxmlformats.org/drawingml/2006/main" noGrp="1"/>
          </p:cNvSpPr>
          <p:nvPr/>
        </p:nvSpPr>
        <p:spPr>
          <a:xfrm xmlns:a="http://schemas.openxmlformats.org/drawingml/2006/main">
            <a:off x="7953375" y="6953250"/>
            <a:ext cx="657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1" i="0">
                <a:solidFill>
                  <a:srgbClr val="86198F"/>
                </a:solidFill>
              </a:defRPr>
            </a:defPPr>
          </a:lstStyle>
          <a:p xmlns:a="http://schemas.openxmlformats.org/drawingml/2006/main">
            <a:pPr algn="l">
              <a:lnSpc>
                <a:spcPct val="115000"/>
              </a:lnSpc>
              <a:buNone/>
              <a:defRPr sz="825" b="1" i="0">
                <a:solidFill>
                  <a:srgbClr val="86198F"/>
                </a:solidFill>
              </a:defRPr>
            </a:pPr>
            <a:r>
              <a:rPr sz="825" b="1" i="0">
                <a:solidFill>
                  <a:srgbClr val="86198F"/>
                </a:solidFill>
              </a:rPr>
              <a:t>SÍNTESE PERIÓDICA DO BLOCO (RODADA 20)</a:t>
            </a:r>
          </a:p>
        </p:txBody>
      </p:sp>
      <p:sp>
        <p:nvSpPr>
          <p:cNvPr id="36" name="j-spec-txt-20">
            <a:extLst xmlns:a="http://schemas.openxmlformats.org/drawingml/2006/main">
              <a:ext uri="{FF2B5EF4-FFF2-40B4-BE49-F238E27FC236}">
                <a16:creationId xmlns:a16="http://schemas.microsoft.com/office/drawing/2014/main" id="{CC581BEF-4C7C-47E0-838C-9C7D3E2CA09A}"/>
              </a:ext>
            </a:extLst>
          </p:cNvPr>
          <p:cNvSpPr>
            <a:spLocks xmlns:a="http://schemas.openxmlformats.org/drawingml/2006/main" noGrp="1"/>
          </p:cNvSpPr>
          <p:nvPr/>
        </p:nvSpPr>
        <p:spPr>
          <a:xfrm xmlns:a="http://schemas.openxmlformats.org/drawingml/2006/main">
            <a:off x="7953375" y="7143750"/>
            <a:ext cx="657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0F172A"/>
                </a:solidFill>
              </a:defRPr>
            </a:defPPr>
          </a:lstStyle>
          <a:p xmlns:a="http://schemas.openxmlformats.org/drawingml/2006/main">
            <a:pPr algn="l">
              <a:lnSpc>
                <a:spcPct val="115000"/>
              </a:lnSpc>
              <a:buNone/>
              <a:defRPr sz="825" b="0" i="0">
                <a:solidFill>
                  <a:srgbClr val="0F172A"/>
                </a:solidFill>
              </a:defRPr>
            </a:pPr>
            <a:r>
              <a:rPr sz="825" b="0" i="0">
                <a:solidFill>
                  <a:srgbClr val="0F172A"/>
                </a:solidFill>
              </a:rPr>
              <a:t>Síntese Final dos 20 Temas: O debate demonstrou a viabilidade de conciliar trabalho digno com dinamismo de mercado através de um modelo de 'flexisegurança solidária': alta proteção pessoal portátil, desoneração da folha, diálogo social e previsibilidade regulatória com avaliação bienal de impacto econômico.</a:t>
            </a:r>
          </a:p>
        </p:txBody>
      </p:sp>
    </p:spTree>
    <p:extLst>
      <p:ext uri="{BB962C8B-B14F-4D97-AF65-F5344CB8AC3E}">
        <p14:creationId xmlns:p14="http://schemas.microsoft.com/office/powerpoint/2010/main" val="192697502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header-author">
            <a:extLst xmlns:a="http://schemas.openxmlformats.org/drawingml/2006/main">
              <a:ext uri="{FF2B5EF4-FFF2-40B4-BE49-F238E27FC236}">
                <a16:creationId xmlns:a16="http://schemas.microsoft.com/office/drawing/2014/main" id="{49B9E4E0-8149-4999-BEFF-6D8815D6534E}"/>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37DAA1D7-88D6-4C29-BFBA-FC11511D6DF4}"/>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AA6C630A-24A7-438C-82E4-E9CE11AF517F}"/>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Estratégia Final Consolidada: Pacto de Flexisegurança Solidária</a:t>
            </a:r>
          </a:p>
        </p:txBody>
      </p:sp>
      <p:sp>
        <p:nvSpPr>
          <p:cNvPr id="4" name="header-sub">
            <a:extLst xmlns:a="http://schemas.openxmlformats.org/drawingml/2006/main">
              <a:ext uri="{FF2B5EF4-FFF2-40B4-BE49-F238E27FC236}">
                <a16:creationId xmlns:a16="http://schemas.microsoft.com/office/drawing/2014/main" id="{37754098-84A7-472A-B88C-A270291C593A}"/>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Os seis pilares institucionais construídos ao longo das 20 rodadas de debate equilibrado</a:t>
            </a:r>
          </a:p>
        </p:txBody>
      </p:sp>
      <p:sp>
        <p:nvSpPr>
          <p:cNvPr id="5" name="footer-rule">
            <a:extLst xmlns:a="http://schemas.openxmlformats.org/drawingml/2006/main">
              <a:ext uri="{FF2B5EF4-FFF2-40B4-BE49-F238E27FC236}">
                <a16:creationId xmlns:a16="http://schemas.microsoft.com/office/drawing/2014/main" id="{AD96B4BF-DDB9-40BA-8EB5-8C6540F99491}"/>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B0AF42E6-A7BD-4EDD-948A-003293734999}"/>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3CD22176-056F-437A-A788-E0BA73E669FF}"/>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25</a:t>
            </a:r>
          </a:p>
        </p:txBody>
      </p:sp>
      <p:sp>
        <p:nvSpPr>
          <p:cNvPr id="8" name="step-0">
            <a:extLst xmlns:a="http://schemas.openxmlformats.org/drawingml/2006/main">
              <a:ext uri="{FF2B5EF4-FFF2-40B4-BE49-F238E27FC236}">
                <a16:creationId xmlns:a16="http://schemas.microsoft.com/office/drawing/2014/main" id="{62DB49B0-8816-4302-A6CC-9C88A2D6AC06}"/>
              </a:ext>
            </a:extLst>
          </p:cNvPr>
          <p:cNvSpPr>
            <a:spLocks xmlns:a="http://schemas.openxmlformats.org/drawingml/2006/main" noGrp="1"/>
          </p:cNvSpPr>
          <p:nvPr/>
        </p:nvSpPr>
        <p:spPr>
          <a:xfrm xmlns:a="http://schemas.openxmlformats.org/drawingml/2006/main">
            <a:off x="571500" y="15240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9" name="step-num-0">
            <a:extLst xmlns:a="http://schemas.openxmlformats.org/drawingml/2006/main">
              <a:ext uri="{FF2B5EF4-FFF2-40B4-BE49-F238E27FC236}">
                <a16:creationId xmlns:a16="http://schemas.microsoft.com/office/drawing/2014/main" id="{69D997EF-B9CA-46C2-8522-984B6E0AA522}"/>
              </a:ext>
            </a:extLst>
          </p:cNvPr>
          <p:cNvSpPr>
            <a:spLocks xmlns:a="http://schemas.openxmlformats.org/drawingml/2006/main" noGrp="1"/>
          </p:cNvSpPr>
          <p:nvPr/>
        </p:nvSpPr>
        <p:spPr>
          <a:xfrm xmlns:a="http://schemas.openxmlformats.org/drawingml/2006/main">
            <a:off x="809625" y="17145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0D9488"/>
                </a:solidFill>
              </a:defRPr>
            </a:defPPr>
          </a:lstStyle>
          <a:p xmlns:a="http://schemas.openxmlformats.org/drawingml/2006/main">
            <a:pPr algn="l">
              <a:lnSpc>
                <a:spcPct val="115000"/>
              </a:lnSpc>
              <a:buNone/>
              <a:defRPr sz="1950" b="1" i="0">
                <a:solidFill>
                  <a:srgbClr val="0D9488"/>
                </a:solidFill>
              </a:defRPr>
            </a:pPr>
            <a:r>
              <a:rPr sz="1950" b="1" i="0">
                <a:solidFill>
                  <a:srgbClr val="0D9488"/>
                </a:solidFill>
              </a:rPr>
              <a:t>01</a:t>
            </a:r>
          </a:p>
        </p:txBody>
      </p:sp>
      <p:sp>
        <p:nvSpPr>
          <p:cNvPr id="10" name="step-t-0">
            <a:extLst xmlns:a="http://schemas.openxmlformats.org/drawingml/2006/main">
              <a:ext uri="{FF2B5EF4-FFF2-40B4-BE49-F238E27FC236}">
                <a16:creationId xmlns:a16="http://schemas.microsoft.com/office/drawing/2014/main" id="{1AEE99A7-08CB-46AD-B57A-70BF847E5049}"/>
              </a:ext>
            </a:extLst>
          </p:cNvPr>
          <p:cNvSpPr>
            <a:spLocks xmlns:a="http://schemas.openxmlformats.org/drawingml/2006/main" noGrp="1"/>
          </p:cNvSpPr>
          <p:nvPr/>
        </p:nvSpPr>
        <p:spPr>
          <a:xfrm xmlns:a="http://schemas.openxmlformats.org/drawingml/2006/main">
            <a:off x="1476375" y="17526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1. Piso de Renda e Indexação Previsível</a:t>
            </a:r>
          </a:p>
        </p:txBody>
      </p:sp>
      <p:sp>
        <p:nvSpPr>
          <p:cNvPr id="11" name="step-a-0">
            <a:extLst xmlns:a="http://schemas.openxmlformats.org/drawingml/2006/main">
              <a:ext uri="{FF2B5EF4-FFF2-40B4-BE49-F238E27FC236}">
                <a16:creationId xmlns:a16="http://schemas.microsoft.com/office/drawing/2014/main" id="{DC4B02C1-0910-4F99-9BB6-F7D798D5414F}"/>
              </a:ext>
            </a:extLst>
          </p:cNvPr>
          <p:cNvSpPr>
            <a:spLocks xmlns:a="http://schemas.openxmlformats.org/drawingml/2006/main" noGrp="1"/>
          </p:cNvSpPr>
          <p:nvPr/>
        </p:nvSpPr>
        <p:spPr>
          <a:xfrm xmlns:a="http://schemas.openxmlformats.org/drawingml/2006/main">
            <a:off x="809625" y="21717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Salário mínimo nacional com reajuste automático pela inflação e produtividade média, com regime diferenciado de transição para microempresas.</a:t>
            </a:r>
          </a:p>
        </p:txBody>
      </p:sp>
      <p:sp>
        <p:nvSpPr>
          <p:cNvPr id="12" name="step-1">
            <a:extLst xmlns:a="http://schemas.openxmlformats.org/drawingml/2006/main">
              <a:ext uri="{FF2B5EF4-FFF2-40B4-BE49-F238E27FC236}">
                <a16:creationId xmlns:a16="http://schemas.microsoft.com/office/drawing/2014/main" id="{29FB19EB-BD33-44E5-91BF-67E5822C93CC}"/>
              </a:ext>
            </a:extLst>
          </p:cNvPr>
          <p:cNvSpPr>
            <a:spLocks xmlns:a="http://schemas.openxmlformats.org/drawingml/2006/main" noGrp="1"/>
          </p:cNvSpPr>
          <p:nvPr/>
        </p:nvSpPr>
        <p:spPr>
          <a:xfrm xmlns:a="http://schemas.openxmlformats.org/drawingml/2006/main">
            <a:off x="7810500" y="15240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13" name="step-num-1">
            <a:extLst xmlns:a="http://schemas.openxmlformats.org/drawingml/2006/main">
              <a:ext uri="{FF2B5EF4-FFF2-40B4-BE49-F238E27FC236}">
                <a16:creationId xmlns:a16="http://schemas.microsoft.com/office/drawing/2014/main" id="{2A001B62-5B64-4ECA-9110-938193AC7F86}"/>
              </a:ext>
            </a:extLst>
          </p:cNvPr>
          <p:cNvSpPr>
            <a:spLocks xmlns:a="http://schemas.openxmlformats.org/drawingml/2006/main" noGrp="1"/>
          </p:cNvSpPr>
          <p:nvPr/>
        </p:nvSpPr>
        <p:spPr>
          <a:xfrm xmlns:a="http://schemas.openxmlformats.org/drawingml/2006/main">
            <a:off x="8048625" y="17145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0D9488"/>
                </a:solidFill>
              </a:defRPr>
            </a:defPPr>
          </a:lstStyle>
          <a:p xmlns:a="http://schemas.openxmlformats.org/drawingml/2006/main">
            <a:pPr algn="l">
              <a:lnSpc>
                <a:spcPct val="115000"/>
              </a:lnSpc>
              <a:buNone/>
              <a:defRPr sz="1950" b="1" i="0">
                <a:solidFill>
                  <a:srgbClr val="0D9488"/>
                </a:solidFill>
              </a:defRPr>
            </a:pPr>
            <a:r>
              <a:rPr sz="1950" b="1" i="0">
                <a:solidFill>
                  <a:srgbClr val="0D9488"/>
                </a:solidFill>
              </a:rPr>
              <a:t>02</a:t>
            </a:r>
          </a:p>
        </p:txBody>
      </p:sp>
      <p:sp>
        <p:nvSpPr>
          <p:cNvPr id="14" name="step-t-1">
            <a:extLst xmlns:a="http://schemas.openxmlformats.org/drawingml/2006/main">
              <a:ext uri="{FF2B5EF4-FFF2-40B4-BE49-F238E27FC236}">
                <a16:creationId xmlns:a16="http://schemas.microsoft.com/office/drawing/2014/main" id="{49FDBA61-DE21-4BD8-A2A8-D427B7AED7CC}"/>
              </a:ext>
            </a:extLst>
          </p:cNvPr>
          <p:cNvSpPr>
            <a:spLocks xmlns:a="http://schemas.openxmlformats.org/drawingml/2006/main" noGrp="1"/>
          </p:cNvSpPr>
          <p:nvPr/>
        </p:nvSpPr>
        <p:spPr>
          <a:xfrm xmlns:a="http://schemas.openxmlformats.org/drawingml/2006/main">
            <a:off x="8715375" y="17526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2. Proteção Social Portátil Universal</a:t>
            </a:r>
          </a:p>
        </p:txBody>
      </p:sp>
      <p:sp>
        <p:nvSpPr>
          <p:cNvPr id="15" name="step-a-1">
            <a:extLst xmlns:a="http://schemas.openxmlformats.org/drawingml/2006/main">
              <a:ext uri="{FF2B5EF4-FFF2-40B4-BE49-F238E27FC236}">
                <a16:creationId xmlns:a16="http://schemas.microsoft.com/office/drawing/2014/main" id="{17466376-3957-45FF-AB28-785E1AA59AA0}"/>
              </a:ext>
            </a:extLst>
          </p:cNvPr>
          <p:cNvSpPr>
            <a:spLocks xmlns:a="http://schemas.openxmlformats.org/drawingml/2006/main" noGrp="1"/>
          </p:cNvSpPr>
          <p:nvPr/>
        </p:nvSpPr>
        <p:spPr>
          <a:xfrm xmlns:a="http://schemas.openxmlformats.org/drawingml/2006/main">
            <a:off x="8048625" y="21717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Contas individuais de seguridade vinculadas ao trabalhador, recebendo contribuições fracionadas por hora de qualquer contratante ou plataforma.</a:t>
            </a:r>
          </a:p>
        </p:txBody>
      </p:sp>
      <p:sp>
        <p:nvSpPr>
          <p:cNvPr id="16" name="step-2">
            <a:extLst xmlns:a="http://schemas.openxmlformats.org/drawingml/2006/main">
              <a:ext uri="{FF2B5EF4-FFF2-40B4-BE49-F238E27FC236}">
                <a16:creationId xmlns:a16="http://schemas.microsoft.com/office/drawing/2014/main" id="{F247F0EE-AF39-4414-931F-B66B0E31136E}"/>
              </a:ext>
            </a:extLst>
          </p:cNvPr>
          <p:cNvSpPr>
            <a:spLocks xmlns:a="http://schemas.openxmlformats.org/drawingml/2006/main" noGrp="1"/>
          </p:cNvSpPr>
          <p:nvPr/>
        </p:nvSpPr>
        <p:spPr>
          <a:xfrm xmlns:a="http://schemas.openxmlformats.org/drawingml/2006/main">
            <a:off x="571500" y="36195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17" name="step-num-2">
            <a:extLst xmlns:a="http://schemas.openxmlformats.org/drawingml/2006/main">
              <a:ext uri="{FF2B5EF4-FFF2-40B4-BE49-F238E27FC236}">
                <a16:creationId xmlns:a16="http://schemas.microsoft.com/office/drawing/2014/main" id="{A41AA5E3-7C4C-46A2-8902-F5FE981FD504}"/>
              </a:ext>
            </a:extLst>
          </p:cNvPr>
          <p:cNvSpPr>
            <a:spLocks xmlns:a="http://schemas.openxmlformats.org/drawingml/2006/main" noGrp="1"/>
          </p:cNvSpPr>
          <p:nvPr/>
        </p:nvSpPr>
        <p:spPr>
          <a:xfrm xmlns:a="http://schemas.openxmlformats.org/drawingml/2006/main">
            <a:off x="809625" y="38100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0D9488"/>
                </a:solidFill>
              </a:defRPr>
            </a:defPPr>
          </a:lstStyle>
          <a:p xmlns:a="http://schemas.openxmlformats.org/drawingml/2006/main">
            <a:pPr algn="l">
              <a:lnSpc>
                <a:spcPct val="115000"/>
              </a:lnSpc>
              <a:buNone/>
              <a:defRPr sz="1950" b="1" i="0">
                <a:solidFill>
                  <a:srgbClr val="0D9488"/>
                </a:solidFill>
              </a:defRPr>
            </a:pPr>
            <a:r>
              <a:rPr sz="1950" b="1" i="0">
                <a:solidFill>
                  <a:srgbClr val="0D9488"/>
                </a:solidFill>
              </a:rPr>
              <a:t>03</a:t>
            </a:r>
          </a:p>
        </p:txBody>
      </p:sp>
      <p:sp>
        <p:nvSpPr>
          <p:cNvPr id="18" name="step-t-2">
            <a:extLst xmlns:a="http://schemas.openxmlformats.org/drawingml/2006/main">
              <a:ext uri="{FF2B5EF4-FFF2-40B4-BE49-F238E27FC236}">
                <a16:creationId xmlns:a16="http://schemas.microsoft.com/office/drawing/2014/main" id="{5A202AA0-FDEE-49BE-8650-667DD3C22914}"/>
              </a:ext>
            </a:extLst>
          </p:cNvPr>
          <p:cNvSpPr>
            <a:spLocks xmlns:a="http://schemas.openxmlformats.org/drawingml/2006/main" noGrp="1"/>
          </p:cNvSpPr>
          <p:nvPr/>
        </p:nvSpPr>
        <p:spPr>
          <a:xfrm xmlns:a="http://schemas.openxmlformats.org/drawingml/2006/main">
            <a:off x="1476375" y="38481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3. Desoneração da Folha e Financiamento Solidário</a:t>
            </a:r>
          </a:p>
        </p:txBody>
      </p:sp>
      <p:sp>
        <p:nvSpPr>
          <p:cNvPr id="19" name="step-a-2">
            <a:extLst xmlns:a="http://schemas.openxmlformats.org/drawingml/2006/main">
              <a:ext uri="{FF2B5EF4-FFF2-40B4-BE49-F238E27FC236}">
                <a16:creationId xmlns:a16="http://schemas.microsoft.com/office/drawing/2014/main" id="{C421ED65-2CB5-4E13-8662-50016F79423F}"/>
              </a:ext>
            </a:extLst>
          </p:cNvPr>
          <p:cNvSpPr>
            <a:spLocks xmlns:a="http://schemas.openxmlformats.org/drawingml/2006/main" noGrp="1"/>
          </p:cNvSpPr>
          <p:nvPr/>
        </p:nvSpPr>
        <p:spPr>
          <a:xfrm xmlns:a="http://schemas.openxmlformats.org/drawingml/2006/main">
            <a:off x="809625" y="42672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Migração progressiva dos encargos patronais da folha para tributação sobre valor adicionado e consumo, reduzindo o custo de admissão formal.</a:t>
            </a:r>
          </a:p>
        </p:txBody>
      </p:sp>
      <p:sp>
        <p:nvSpPr>
          <p:cNvPr id="20" name="step-3">
            <a:extLst xmlns:a="http://schemas.openxmlformats.org/drawingml/2006/main">
              <a:ext uri="{FF2B5EF4-FFF2-40B4-BE49-F238E27FC236}">
                <a16:creationId xmlns:a16="http://schemas.microsoft.com/office/drawing/2014/main" id="{8F308B58-B8F0-4562-8521-2EC3D8368A60}"/>
              </a:ext>
            </a:extLst>
          </p:cNvPr>
          <p:cNvSpPr>
            <a:spLocks xmlns:a="http://schemas.openxmlformats.org/drawingml/2006/main" noGrp="1"/>
          </p:cNvSpPr>
          <p:nvPr/>
        </p:nvSpPr>
        <p:spPr>
          <a:xfrm xmlns:a="http://schemas.openxmlformats.org/drawingml/2006/main">
            <a:off x="7810500" y="36195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21" name="step-num-3">
            <a:extLst xmlns:a="http://schemas.openxmlformats.org/drawingml/2006/main">
              <a:ext uri="{FF2B5EF4-FFF2-40B4-BE49-F238E27FC236}">
                <a16:creationId xmlns:a16="http://schemas.microsoft.com/office/drawing/2014/main" id="{C6F2749E-FE90-4FB3-BF59-3D5D68075AFF}"/>
              </a:ext>
            </a:extLst>
          </p:cNvPr>
          <p:cNvSpPr>
            <a:spLocks xmlns:a="http://schemas.openxmlformats.org/drawingml/2006/main" noGrp="1"/>
          </p:cNvSpPr>
          <p:nvPr/>
        </p:nvSpPr>
        <p:spPr>
          <a:xfrm xmlns:a="http://schemas.openxmlformats.org/drawingml/2006/main">
            <a:off x="8048625" y="38100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0D9488"/>
                </a:solidFill>
              </a:defRPr>
            </a:defPPr>
          </a:lstStyle>
          <a:p xmlns:a="http://schemas.openxmlformats.org/drawingml/2006/main">
            <a:pPr algn="l">
              <a:lnSpc>
                <a:spcPct val="115000"/>
              </a:lnSpc>
              <a:buNone/>
              <a:defRPr sz="1950" b="1" i="0">
                <a:solidFill>
                  <a:srgbClr val="0D9488"/>
                </a:solidFill>
              </a:defRPr>
            </a:pPr>
            <a:r>
              <a:rPr sz="1950" b="1" i="0">
                <a:solidFill>
                  <a:srgbClr val="0D9488"/>
                </a:solidFill>
              </a:rPr>
              <a:t>04</a:t>
            </a:r>
          </a:p>
        </p:txBody>
      </p:sp>
      <p:sp>
        <p:nvSpPr>
          <p:cNvPr id="22" name="step-t-3">
            <a:extLst xmlns:a="http://schemas.openxmlformats.org/drawingml/2006/main">
              <a:ext uri="{FF2B5EF4-FFF2-40B4-BE49-F238E27FC236}">
                <a16:creationId xmlns:a16="http://schemas.microsoft.com/office/drawing/2014/main" id="{C55233B1-CD71-445F-A8F3-92D4F715C6BC}"/>
              </a:ext>
            </a:extLst>
          </p:cNvPr>
          <p:cNvSpPr>
            <a:spLocks xmlns:a="http://schemas.openxmlformats.org/drawingml/2006/main" noGrp="1"/>
          </p:cNvSpPr>
          <p:nvPr/>
        </p:nvSpPr>
        <p:spPr>
          <a:xfrm xmlns:a="http://schemas.openxmlformats.org/drawingml/2006/main">
            <a:off x="8715375" y="38481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4. Simplificação Regulatória para Pequenos Negócios</a:t>
            </a:r>
          </a:p>
        </p:txBody>
      </p:sp>
      <p:sp>
        <p:nvSpPr>
          <p:cNvPr id="23" name="step-a-3">
            <a:extLst xmlns:a="http://schemas.openxmlformats.org/drawingml/2006/main">
              <a:ext uri="{FF2B5EF4-FFF2-40B4-BE49-F238E27FC236}">
                <a16:creationId xmlns:a16="http://schemas.microsoft.com/office/drawing/2014/main" id="{BE04463E-0BF8-474B-B34A-C4C1FE18DF02}"/>
              </a:ext>
            </a:extLst>
          </p:cNvPr>
          <p:cNvSpPr>
            <a:spLocks xmlns:a="http://schemas.openxmlformats.org/drawingml/2006/main" noGrp="1"/>
          </p:cNvSpPr>
          <p:nvPr/>
        </p:nvSpPr>
        <p:spPr>
          <a:xfrm xmlns:a="http://schemas.openxmlformats.org/drawingml/2006/main">
            <a:off x="8048625" y="42672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Dispensa de obrigações contábeis acessórias para microempresas e fiscalização com critério de dupla visita orientadora prévia.</a:t>
            </a:r>
          </a:p>
        </p:txBody>
      </p:sp>
      <p:sp>
        <p:nvSpPr>
          <p:cNvPr id="24" name="step-4">
            <a:extLst xmlns:a="http://schemas.openxmlformats.org/drawingml/2006/main">
              <a:ext uri="{FF2B5EF4-FFF2-40B4-BE49-F238E27FC236}">
                <a16:creationId xmlns:a16="http://schemas.microsoft.com/office/drawing/2014/main" id="{15350D18-61D5-432E-8D40-490FD52CFB7E}"/>
              </a:ext>
            </a:extLst>
          </p:cNvPr>
          <p:cNvSpPr>
            <a:spLocks xmlns:a="http://schemas.openxmlformats.org/drawingml/2006/main" noGrp="1"/>
          </p:cNvSpPr>
          <p:nvPr/>
        </p:nvSpPr>
        <p:spPr>
          <a:xfrm xmlns:a="http://schemas.openxmlformats.org/drawingml/2006/main">
            <a:off x="571500" y="57150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25" name="step-num-4">
            <a:extLst xmlns:a="http://schemas.openxmlformats.org/drawingml/2006/main">
              <a:ext uri="{FF2B5EF4-FFF2-40B4-BE49-F238E27FC236}">
                <a16:creationId xmlns:a16="http://schemas.microsoft.com/office/drawing/2014/main" id="{7256BACF-54C7-489A-9726-6576013F6C04}"/>
              </a:ext>
            </a:extLst>
          </p:cNvPr>
          <p:cNvSpPr>
            <a:spLocks xmlns:a="http://schemas.openxmlformats.org/drawingml/2006/main" noGrp="1"/>
          </p:cNvSpPr>
          <p:nvPr/>
        </p:nvSpPr>
        <p:spPr>
          <a:xfrm xmlns:a="http://schemas.openxmlformats.org/drawingml/2006/main">
            <a:off x="809625" y="59055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0D9488"/>
                </a:solidFill>
              </a:defRPr>
            </a:defPPr>
          </a:lstStyle>
          <a:p xmlns:a="http://schemas.openxmlformats.org/drawingml/2006/main">
            <a:pPr algn="l">
              <a:lnSpc>
                <a:spcPct val="115000"/>
              </a:lnSpc>
              <a:buNone/>
              <a:defRPr sz="1950" b="1" i="0">
                <a:solidFill>
                  <a:srgbClr val="0D9488"/>
                </a:solidFill>
              </a:defRPr>
            </a:pPr>
            <a:r>
              <a:rPr sz="1950" b="1" i="0">
                <a:solidFill>
                  <a:srgbClr val="0D9488"/>
                </a:solidFill>
              </a:rPr>
              <a:t>05</a:t>
            </a:r>
          </a:p>
        </p:txBody>
      </p:sp>
      <p:sp>
        <p:nvSpPr>
          <p:cNvPr id="26" name="step-t-4">
            <a:extLst xmlns:a="http://schemas.openxmlformats.org/drawingml/2006/main">
              <a:ext uri="{FF2B5EF4-FFF2-40B4-BE49-F238E27FC236}">
                <a16:creationId xmlns:a16="http://schemas.microsoft.com/office/drawing/2014/main" id="{DFC2CB68-107A-432E-A2FD-4CF9FA9346A8}"/>
              </a:ext>
            </a:extLst>
          </p:cNvPr>
          <p:cNvSpPr>
            <a:spLocks xmlns:a="http://schemas.openxmlformats.org/drawingml/2006/main" noGrp="1"/>
          </p:cNvSpPr>
          <p:nvPr/>
        </p:nvSpPr>
        <p:spPr>
          <a:xfrm xmlns:a="http://schemas.openxmlformats.org/drawingml/2006/main">
            <a:off x="1476375" y="59436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5. Fundo Tripartite de Requalificação Contínua</a:t>
            </a:r>
          </a:p>
        </p:txBody>
      </p:sp>
      <p:sp>
        <p:nvSpPr>
          <p:cNvPr id="27" name="step-a-4">
            <a:extLst xmlns:a="http://schemas.openxmlformats.org/drawingml/2006/main">
              <a:ext uri="{FF2B5EF4-FFF2-40B4-BE49-F238E27FC236}">
                <a16:creationId xmlns:a16="http://schemas.microsoft.com/office/drawing/2014/main" id="{F724F8E7-D55C-468B-BFF9-6AD26C485788}"/>
              </a:ext>
            </a:extLst>
          </p:cNvPr>
          <p:cNvSpPr>
            <a:spLocks xmlns:a="http://schemas.openxmlformats.org/drawingml/2006/main" noGrp="1"/>
          </p:cNvSpPr>
          <p:nvPr/>
        </p:nvSpPr>
        <p:spPr>
          <a:xfrm xmlns:a="http://schemas.openxmlformats.org/drawingml/2006/main">
            <a:off x="809625" y="63627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Cofinanciamento de horas anuais remuneradas de capacitação tecnológica em setores impactados por IA e automação.</a:t>
            </a:r>
          </a:p>
        </p:txBody>
      </p:sp>
      <p:sp>
        <p:nvSpPr>
          <p:cNvPr id="28" name="step-5">
            <a:extLst xmlns:a="http://schemas.openxmlformats.org/drawingml/2006/main">
              <a:ext uri="{FF2B5EF4-FFF2-40B4-BE49-F238E27FC236}">
                <a16:creationId xmlns:a16="http://schemas.microsoft.com/office/drawing/2014/main" id="{E3083022-AB8E-4CCF-8B6F-3762B1BBD31F}"/>
              </a:ext>
            </a:extLst>
          </p:cNvPr>
          <p:cNvSpPr>
            <a:spLocks xmlns:a="http://schemas.openxmlformats.org/drawingml/2006/main" noGrp="1"/>
          </p:cNvSpPr>
          <p:nvPr/>
        </p:nvSpPr>
        <p:spPr>
          <a:xfrm xmlns:a="http://schemas.openxmlformats.org/drawingml/2006/main">
            <a:off x="7810500" y="5715000"/>
            <a:ext cx="6858000" cy="1857375"/>
          </a:xfrm>
          <a:prstGeom xmlns:a="http://schemas.openxmlformats.org/drawingml/2006/main" prst="roundRect">
            <a:avLst>
              <a:gd name="adj" fmla="val 4103"/>
            </a:avLst>
          </a:prstGeom>
          <a:solidFill xmlns:a="http://schemas.openxmlformats.org/drawingml/2006/main">
            <a:srgbClr val="F8FAFC"/>
          </a:solidFill>
          <a:ln xmlns:a="http://schemas.openxmlformats.org/drawingml/2006/main" w="9525">
            <a:solidFill>
              <a:srgbClr val="E2E8F0"/>
            </a:solidFill>
            <a:prstDash val="solid"/>
          </a:ln>
        </p:spPr>
      </p:sp>
      <p:sp>
        <p:nvSpPr>
          <p:cNvPr id="29" name="step-num-5">
            <a:extLst xmlns:a="http://schemas.openxmlformats.org/drawingml/2006/main">
              <a:ext uri="{FF2B5EF4-FFF2-40B4-BE49-F238E27FC236}">
                <a16:creationId xmlns:a16="http://schemas.microsoft.com/office/drawing/2014/main" id="{A9FC91A7-A16C-4F91-A6AC-E3FE9F3F5888}"/>
              </a:ext>
            </a:extLst>
          </p:cNvPr>
          <p:cNvSpPr>
            <a:spLocks xmlns:a="http://schemas.openxmlformats.org/drawingml/2006/main" noGrp="1"/>
          </p:cNvSpPr>
          <p:nvPr/>
        </p:nvSpPr>
        <p:spPr>
          <a:xfrm xmlns:a="http://schemas.openxmlformats.org/drawingml/2006/main">
            <a:off x="8048625" y="59055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0D9488"/>
                </a:solidFill>
              </a:defRPr>
            </a:defPPr>
          </a:lstStyle>
          <a:p xmlns:a="http://schemas.openxmlformats.org/drawingml/2006/main">
            <a:pPr algn="l">
              <a:lnSpc>
                <a:spcPct val="115000"/>
              </a:lnSpc>
              <a:buNone/>
              <a:defRPr sz="1950" b="1" i="0">
                <a:solidFill>
                  <a:srgbClr val="0D9488"/>
                </a:solidFill>
              </a:defRPr>
            </a:pPr>
            <a:r>
              <a:rPr sz="1950" b="1" i="0">
                <a:solidFill>
                  <a:srgbClr val="0D9488"/>
                </a:solidFill>
              </a:rPr>
              <a:t>06</a:t>
            </a:r>
          </a:p>
        </p:txBody>
      </p:sp>
      <p:sp>
        <p:nvSpPr>
          <p:cNvPr id="30" name="step-t-5">
            <a:extLst xmlns:a="http://schemas.openxmlformats.org/drawingml/2006/main">
              <a:ext uri="{FF2B5EF4-FFF2-40B4-BE49-F238E27FC236}">
                <a16:creationId xmlns:a16="http://schemas.microsoft.com/office/drawing/2014/main" id="{FA513BCC-F450-4993-87B3-036CAE7756A2}"/>
              </a:ext>
            </a:extLst>
          </p:cNvPr>
          <p:cNvSpPr>
            <a:spLocks xmlns:a="http://schemas.openxmlformats.org/drawingml/2006/main" noGrp="1"/>
          </p:cNvSpPr>
          <p:nvPr/>
        </p:nvSpPr>
        <p:spPr>
          <a:xfrm xmlns:a="http://schemas.openxmlformats.org/drawingml/2006/main">
            <a:off x="8715375" y="59436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6. Governança e Avaliação Bienal de Impacto</a:t>
            </a:r>
          </a:p>
        </p:txBody>
      </p:sp>
      <p:sp>
        <p:nvSpPr>
          <p:cNvPr id="31" name="step-a-5">
            <a:extLst xmlns:a="http://schemas.openxmlformats.org/drawingml/2006/main">
              <a:ext uri="{FF2B5EF4-FFF2-40B4-BE49-F238E27FC236}">
                <a16:creationId xmlns:a16="http://schemas.microsoft.com/office/drawing/2014/main" id="{A84F3D07-4159-4C6C-A41E-6A3B4CBF7092}"/>
              </a:ext>
            </a:extLst>
          </p:cNvPr>
          <p:cNvSpPr>
            <a:spLocks xmlns:a="http://schemas.openxmlformats.org/drawingml/2006/main" noGrp="1"/>
          </p:cNvSpPr>
          <p:nvPr/>
        </p:nvSpPr>
        <p:spPr>
          <a:xfrm xmlns:a="http://schemas.openxmlformats.org/drawingml/2006/main">
            <a:off x="8048625" y="6362700"/>
            <a:ext cx="638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Comitê tripartite permanente encarregado de auditar indicadores de emprego, informalidade e produtividade a cada dois anos.</a:t>
            </a:r>
          </a:p>
        </p:txBody>
      </p:sp>
    </p:spTree>
    <p:extLst>
      <p:ext uri="{BB962C8B-B14F-4D97-AF65-F5344CB8AC3E}">
        <p14:creationId xmlns:p14="http://schemas.microsoft.com/office/powerpoint/2010/main" val="167159800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header-author">
            <a:extLst xmlns:a="http://schemas.openxmlformats.org/drawingml/2006/main">
              <a:ext uri="{FF2B5EF4-FFF2-40B4-BE49-F238E27FC236}">
                <a16:creationId xmlns:a16="http://schemas.microsoft.com/office/drawing/2014/main" id="{8014C668-E0C9-4DFA-84DA-815878AA20A6}"/>
              </a:ext>
            </a:extLst>
          </p:cNvPr>
          <p:cNvSpPr>
            <a:spLocks xmlns:a="http://schemas.openxmlformats.org/drawingml/2006/main" noGrp="1"/>
          </p:cNvSpPr>
          <p:nvPr/>
        </p:nvSpPr>
        <p:spPr>
          <a:xfrm xmlns:a="http://schemas.openxmlformats.org/drawingml/2006/main">
            <a:off x="571500" y="23812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i="0">
                <a:solidFill>
                  <a:srgbClr val="475569"/>
                </a:solidFill>
              </a:defRPr>
            </a:defPPr>
          </a:lstStyle>
          <a:p xmlns:a="http://schemas.openxmlformats.org/drawingml/2006/main">
            <a:pPr algn="l">
              <a:lnSpc>
                <a:spcPct val="115000"/>
              </a:lnSpc>
              <a:buNone/>
              <a:defRPr sz="975" b="1" i="0">
                <a:solidFill>
                  <a:srgbClr val="475569"/>
                </a:solidFill>
              </a:defRPr>
            </a:pPr>
            <a:r>
              <a:rPr sz="975" b="1" i="0">
                <a:solidFill>
                  <a:srgbClr val="475569"/>
                </a:solidFill>
              </a:rPr>
              <a:t>ANDREZA MARIA COUTINHO FALCÃO</a:t>
            </a:r>
          </a:p>
        </p:txBody>
      </p:sp>
      <p:sp>
        <p:nvSpPr>
          <p:cNvPr id="2" name="header-rule">
            <a:extLst xmlns:a="http://schemas.openxmlformats.org/drawingml/2006/main">
              <a:ext uri="{FF2B5EF4-FFF2-40B4-BE49-F238E27FC236}">
                <a16:creationId xmlns:a16="http://schemas.microsoft.com/office/drawing/2014/main" id="{31DB9DA4-93D8-44D1-B647-04EBB899D472}"/>
              </a:ext>
            </a:extLst>
          </p:cNvPr>
          <p:cNvSpPr>
            <a:spLocks xmlns:a="http://schemas.openxmlformats.org/drawingml/2006/main" noGrp="1"/>
          </p:cNvSpPr>
          <p:nvPr/>
        </p:nvSpPr>
        <p:spPr>
          <a:xfrm xmlns:a="http://schemas.openxmlformats.org/drawingml/2006/main">
            <a:off x="571500" y="476250"/>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 name="header-title">
            <a:extLst xmlns:a="http://schemas.openxmlformats.org/drawingml/2006/main">
              <a:ext uri="{FF2B5EF4-FFF2-40B4-BE49-F238E27FC236}">
                <a16:creationId xmlns:a16="http://schemas.microsoft.com/office/drawing/2014/main" id="{844175D6-4259-4106-82AE-90A83F5EC0C9}"/>
              </a:ext>
            </a:extLst>
          </p:cNvPr>
          <p:cNvSpPr>
            <a:spLocks xmlns:a="http://schemas.openxmlformats.org/drawingml/2006/main" noGrp="1"/>
          </p:cNvSpPr>
          <p:nvPr/>
        </p:nvSpPr>
        <p:spPr>
          <a:xfrm xmlns:a="http://schemas.openxmlformats.org/drawingml/2006/main">
            <a:off x="571500" y="5715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0F172A"/>
                </a:solidFill>
              </a:defRPr>
            </a:defPPr>
          </a:lstStyle>
          <a:p xmlns:a="http://schemas.openxmlformats.org/drawingml/2006/main">
            <a:pPr algn="l">
              <a:lnSpc>
                <a:spcPct val="115000"/>
              </a:lnSpc>
              <a:buNone/>
              <a:defRPr sz="1800" b="1" i="0">
                <a:solidFill>
                  <a:srgbClr val="0F172A"/>
                </a:solidFill>
              </a:defRPr>
            </a:pPr>
            <a:r>
              <a:rPr sz="1800" b="1" i="0">
                <a:solidFill>
                  <a:srgbClr val="0F172A"/>
                </a:solidFill>
              </a:rPr>
              <a:t>Relatório de Execução Técnica e Limitações Metodológicas</a:t>
            </a:r>
          </a:p>
        </p:txBody>
      </p:sp>
      <p:sp>
        <p:nvSpPr>
          <p:cNvPr id="4" name="header-sub">
            <a:extLst xmlns:a="http://schemas.openxmlformats.org/drawingml/2006/main">
              <a:ext uri="{FF2B5EF4-FFF2-40B4-BE49-F238E27FC236}">
                <a16:creationId xmlns:a16="http://schemas.microsoft.com/office/drawing/2014/main" id="{F46CEA4D-3556-4C90-83E0-424B09139C12}"/>
              </a:ext>
            </a:extLst>
          </p:cNvPr>
          <p:cNvSpPr>
            <a:spLocks xmlns:a="http://schemas.openxmlformats.org/drawingml/2006/main" noGrp="1"/>
          </p:cNvSpPr>
          <p:nvPr/>
        </p:nvSpPr>
        <p:spPr>
          <a:xfrm xmlns:a="http://schemas.openxmlformats.org/drawingml/2006/main">
            <a:off x="571500" y="952500"/>
            <a:ext cx="1409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1">
                <a:solidFill>
                  <a:srgbClr val="475569"/>
                </a:solidFill>
              </a:defRPr>
            </a:defPPr>
          </a:lstStyle>
          <a:p xmlns:a="http://schemas.openxmlformats.org/drawingml/2006/main">
            <a:pPr algn="l">
              <a:lnSpc>
                <a:spcPct val="115000"/>
              </a:lnSpc>
              <a:buNone/>
              <a:defRPr sz="1050" b="0" i="1">
                <a:solidFill>
                  <a:srgbClr val="475569"/>
                </a:solidFill>
              </a:defRPr>
            </a:pPr>
            <a:r>
              <a:rPr sz="1050" b="0" i="1">
                <a:solidFill>
                  <a:srgbClr val="475569"/>
                </a:solidFill>
              </a:rPr>
              <a:t>Métricas reais de geração, robustez dos modelos e conclusões do diálogo híbrido</a:t>
            </a:r>
          </a:p>
        </p:txBody>
      </p:sp>
      <p:sp>
        <p:nvSpPr>
          <p:cNvPr id="5" name="footer-rule">
            <a:extLst xmlns:a="http://schemas.openxmlformats.org/drawingml/2006/main">
              <a:ext uri="{FF2B5EF4-FFF2-40B4-BE49-F238E27FC236}">
                <a16:creationId xmlns:a16="http://schemas.microsoft.com/office/drawing/2014/main" id="{3FB7C300-F184-48B7-93D8-EDF22027C4D1}"/>
              </a:ext>
            </a:extLst>
          </p:cNvPr>
          <p:cNvSpPr>
            <a:spLocks xmlns:a="http://schemas.openxmlformats.org/drawingml/2006/main" noGrp="1"/>
          </p:cNvSpPr>
          <p:nvPr/>
        </p:nvSpPr>
        <p:spPr>
          <a:xfrm xmlns:a="http://schemas.openxmlformats.org/drawingml/2006/main">
            <a:off x="571500" y="8143875"/>
            <a:ext cx="14097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6" name="footer-desc">
            <a:extLst xmlns:a="http://schemas.openxmlformats.org/drawingml/2006/main">
              <a:ext uri="{FF2B5EF4-FFF2-40B4-BE49-F238E27FC236}">
                <a16:creationId xmlns:a16="http://schemas.microsoft.com/office/drawing/2014/main" id="{E7D5AA5F-6536-442F-A552-86301925E350}"/>
              </a:ext>
            </a:extLst>
          </p:cNvPr>
          <p:cNvSpPr>
            <a:spLocks xmlns:a="http://schemas.openxmlformats.org/drawingml/2006/main" noGrp="1"/>
          </p:cNvSpPr>
          <p:nvPr/>
        </p:nvSpPr>
        <p:spPr>
          <a:xfrm xmlns:a="http://schemas.openxmlformats.org/drawingml/2006/main">
            <a:off x="571500" y="82486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i="0">
                <a:solidFill>
                  <a:srgbClr val="94A3B8"/>
                </a:solidFill>
              </a:defRPr>
            </a:defPPr>
          </a:lstStyle>
          <a:p xmlns:a="http://schemas.openxmlformats.org/drawingml/2006/main">
            <a:pPr algn="l">
              <a:lnSpc>
                <a:spcPct val="115000"/>
              </a:lnSpc>
              <a:buNone/>
              <a:defRPr sz="825" b="0" i="0">
                <a:solidFill>
                  <a:srgbClr val="94A3B8"/>
                </a:solidFill>
              </a:defRPr>
            </a:pPr>
            <a:r>
              <a:rPr sz="825" b="0" i="0">
                <a:solidFill>
                  <a:srgbClr val="94A3B8"/>
                </a:solidFill>
              </a:rPr>
              <a:t>DEBATE HÍBRIDO EM LOOP · AGENTE 1: ANTIGRAVITY (REMOTO) × AGENTE 2: QWEN 2.5 1.5B (LOCAL OLLAMA) · AGENTE 3: JUIZ (ANTIGRAVITY)</a:t>
            </a:r>
          </a:p>
        </p:txBody>
      </p:sp>
      <p:sp>
        <p:nvSpPr>
          <p:cNvPr id="7" name="footer-page">
            <a:extLst xmlns:a="http://schemas.openxmlformats.org/drawingml/2006/main">
              <a:ext uri="{FF2B5EF4-FFF2-40B4-BE49-F238E27FC236}">
                <a16:creationId xmlns:a16="http://schemas.microsoft.com/office/drawing/2014/main" id="{46893FF6-EE3E-4E66-9BA1-626199FC7E85}"/>
              </a:ext>
            </a:extLst>
          </p:cNvPr>
          <p:cNvSpPr>
            <a:spLocks xmlns:a="http://schemas.openxmlformats.org/drawingml/2006/main" noGrp="1"/>
          </p:cNvSpPr>
          <p:nvPr/>
        </p:nvSpPr>
        <p:spPr>
          <a:xfrm xmlns:a="http://schemas.openxmlformats.org/drawingml/2006/main">
            <a:off x="13144500" y="8248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825" b="1" i="0">
                <a:solidFill>
                  <a:srgbClr val="94A3B8"/>
                </a:solidFill>
              </a:defRPr>
            </a:defPPr>
          </a:lstStyle>
          <a:p xmlns:a="http://schemas.openxmlformats.org/drawingml/2006/main">
            <a:pPr algn="r">
              <a:lnSpc>
                <a:spcPct val="115000"/>
              </a:lnSpc>
              <a:buNone/>
              <a:defRPr sz="825" b="1" i="0">
                <a:solidFill>
                  <a:srgbClr val="94A3B8"/>
                </a:solidFill>
              </a:defRPr>
            </a:pPr>
            <a:r>
              <a:rPr sz="825" b="1" i="0">
                <a:solidFill>
                  <a:srgbClr val="94A3B8"/>
                </a:solidFill>
              </a:rPr>
              <a:t>SLIDE 26</a:t>
            </a:r>
          </a:p>
        </p:txBody>
      </p:sp>
      <p:sp>
        <p:nvSpPr>
          <p:cNvPr id="8" name="stat-pnl">
            <a:extLst xmlns:a="http://schemas.openxmlformats.org/drawingml/2006/main">
              <a:ext uri="{FF2B5EF4-FFF2-40B4-BE49-F238E27FC236}">
                <a16:creationId xmlns:a16="http://schemas.microsoft.com/office/drawing/2014/main" id="{D61D35E3-9D68-4BDD-A232-54D7D24968EB}"/>
              </a:ext>
            </a:extLst>
          </p:cNvPr>
          <p:cNvSpPr>
            <a:spLocks xmlns:a="http://schemas.openxmlformats.org/drawingml/2006/main" noGrp="1"/>
          </p:cNvSpPr>
          <p:nvPr/>
        </p:nvSpPr>
        <p:spPr>
          <a:xfrm xmlns:a="http://schemas.openxmlformats.org/drawingml/2006/main">
            <a:off x="571500" y="1524000"/>
            <a:ext cx="5715000" cy="6286500"/>
          </a:xfrm>
          <a:prstGeom xmlns:a="http://schemas.openxmlformats.org/drawingml/2006/main" prst="roundRect">
            <a:avLst>
              <a:gd name="adj" fmla="val 1333"/>
            </a:avLst>
          </a:prstGeom>
          <a:solidFill xmlns:a="http://schemas.openxmlformats.org/drawingml/2006/main">
            <a:srgbClr val="F8FAFC"/>
          </a:solidFill>
          <a:ln xmlns:a="http://schemas.openxmlformats.org/drawingml/2006/main" w="9525">
            <a:solidFill>
              <a:srgbClr val="E2E8F0"/>
            </a:solidFill>
            <a:prstDash val="solid"/>
          </a:ln>
        </p:spPr>
      </p:sp>
      <p:sp>
        <p:nvSpPr>
          <p:cNvPr id="9" name="stat-hdr">
            <a:extLst xmlns:a="http://schemas.openxmlformats.org/drawingml/2006/main">
              <a:ext uri="{FF2B5EF4-FFF2-40B4-BE49-F238E27FC236}">
                <a16:creationId xmlns:a16="http://schemas.microsoft.com/office/drawing/2014/main" id="{D5C4B172-E556-4B88-83A1-C77F5C28E66F}"/>
              </a:ext>
            </a:extLst>
          </p:cNvPr>
          <p:cNvSpPr>
            <a:spLocks xmlns:a="http://schemas.openxmlformats.org/drawingml/2006/main" noGrp="1"/>
          </p:cNvSpPr>
          <p:nvPr/>
        </p:nvSpPr>
        <p:spPr>
          <a:xfrm xmlns:a="http://schemas.openxmlformats.org/drawingml/2006/main">
            <a:off x="809625" y="1762125"/>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i="0">
                <a:solidFill>
                  <a:srgbClr val="1E40AF"/>
                </a:solidFill>
              </a:defRPr>
            </a:defPPr>
          </a:lstStyle>
          <a:p xmlns:a="http://schemas.openxmlformats.org/drawingml/2006/main">
            <a:pPr algn="l">
              <a:lnSpc>
                <a:spcPct val="115000"/>
              </a:lnSpc>
              <a:buNone/>
              <a:defRPr sz="1200" b="1" i="0">
                <a:solidFill>
                  <a:srgbClr val="1E40AF"/>
                </a:solidFill>
              </a:defRPr>
            </a:pPr>
            <a:r>
              <a:rPr sz="1200" b="1" i="0">
                <a:solidFill>
                  <a:srgbClr val="1E40AF"/>
                </a:solidFill>
              </a:rPr>
              <a:t>MÉTRICAS DA EXECUÇÃO</a:t>
            </a:r>
          </a:p>
        </p:txBody>
      </p:sp>
      <p:sp>
        <p:nvSpPr>
          <p:cNvPr id="10" name="m-lbl-0">
            <a:extLst xmlns:a="http://schemas.openxmlformats.org/drawingml/2006/main">
              <a:ext uri="{FF2B5EF4-FFF2-40B4-BE49-F238E27FC236}">
                <a16:creationId xmlns:a16="http://schemas.microsoft.com/office/drawing/2014/main" id="{65D59D2F-B15D-4576-830E-7C6D34D46044}"/>
              </a:ext>
            </a:extLst>
          </p:cNvPr>
          <p:cNvSpPr>
            <a:spLocks xmlns:a="http://schemas.openxmlformats.org/drawingml/2006/main" noGrp="1"/>
          </p:cNvSpPr>
          <p:nvPr/>
        </p:nvSpPr>
        <p:spPr>
          <a:xfrm xmlns:a="http://schemas.openxmlformats.org/drawingml/2006/main">
            <a:off x="809625" y="219075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Total de Rodadas Planejadas e Concluídas</a:t>
            </a:r>
          </a:p>
        </p:txBody>
      </p:sp>
      <p:sp>
        <p:nvSpPr>
          <p:cNvPr id="11" name="m-val-0">
            <a:extLst xmlns:a="http://schemas.openxmlformats.org/drawingml/2006/main">
              <a:ext uri="{FF2B5EF4-FFF2-40B4-BE49-F238E27FC236}">
                <a16:creationId xmlns:a16="http://schemas.microsoft.com/office/drawing/2014/main" id="{388D031C-4DBD-4733-A4DA-3998491641A5}"/>
              </a:ext>
            </a:extLst>
          </p:cNvPr>
          <p:cNvSpPr>
            <a:spLocks xmlns:a="http://schemas.openxmlformats.org/drawingml/2006/main" noGrp="1"/>
          </p:cNvSpPr>
          <p:nvPr/>
        </p:nvSpPr>
        <p:spPr>
          <a:xfrm xmlns:a="http://schemas.openxmlformats.org/drawingml/2006/main">
            <a:off x="809625" y="24003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20 / 20 (100%)</a:t>
            </a:r>
          </a:p>
        </p:txBody>
      </p:sp>
      <p:sp>
        <p:nvSpPr>
          <p:cNvPr id="12" name="m-sep-0">
            <a:extLst xmlns:a="http://schemas.openxmlformats.org/drawingml/2006/main">
              <a:ext uri="{FF2B5EF4-FFF2-40B4-BE49-F238E27FC236}">
                <a16:creationId xmlns:a16="http://schemas.microsoft.com/office/drawing/2014/main" id="{38F5A28D-F7C8-4408-9B7E-D5AA10400F7E}"/>
              </a:ext>
            </a:extLst>
          </p:cNvPr>
          <p:cNvSpPr>
            <a:spLocks xmlns:a="http://schemas.openxmlformats.org/drawingml/2006/main" noGrp="1"/>
          </p:cNvSpPr>
          <p:nvPr/>
        </p:nvSpPr>
        <p:spPr>
          <a:xfrm xmlns:a="http://schemas.openxmlformats.org/drawingml/2006/main">
            <a:off x="809625" y="2743200"/>
            <a:ext cx="5238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3" name="m-lbl-1">
            <a:extLst xmlns:a="http://schemas.openxmlformats.org/drawingml/2006/main">
              <a:ext uri="{FF2B5EF4-FFF2-40B4-BE49-F238E27FC236}">
                <a16:creationId xmlns:a16="http://schemas.microsoft.com/office/drawing/2014/main" id="{0BB64481-5A5D-4B47-9A6F-0401C23D2EE2}"/>
              </a:ext>
            </a:extLst>
          </p:cNvPr>
          <p:cNvSpPr>
            <a:spLocks xmlns:a="http://schemas.openxmlformats.org/drawingml/2006/main" noGrp="1"/>
          </p:cNvSpPr>
          <p:nvPr/>
        </p:nvSpPr>
        <p:spPr>
          <a:xfrm xmlns:a="http://schemas.openxmlformats.org/drawingml/2006/main">
            <a:off x="809625" y="285750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Etapas Locais Executadas (Turnos 1 e 2)</a:t>
            </a:r>
          </a:p>
        </p:txBody>
      </p:sp>
      <p:sp>
        <p:nvSpPr>
          <p:cNvPr id="14" name="m-val-1">
            <a:extLst xmlns:a="http://schemas.openxmlformats.org/drawingml/2006/main">
              <a:ext uri="{FF2B5EF4-FFF2-40B4-BE49-F238E27FC236}">
                <a16:creationId xmlns:a16="http://schemas.microsoft.com/office/drawing/2014/main" id="{C5BCFB8C-8948-4037-8FD8-ECCE6B16A843}"/>
              </a:ext>
            </a:extLst>
          </p:cNvPr>
          <p:cNvSpPr>
            <a:spLocks xmlns:a="http://schemas.openxmlformats.org/drawingml/2006/main" noGrp="1"/>
          </p:cNvSpPr>
          <p:nvPr/>
        </p:nvSpPr>
        <p:spPr>
          <a:xfrm xmlns:a="http://schemas.openxmlformats.org/drawingml/2006/main">
            <a:off x="809625" y="30670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40</a:t>
            </a:r>
          </a:p>
        </p:txBody>
      </p:sp>
      <p:sp>
        <p:nvSpPr>
          <p:cNvPr id="15" name="m-sep-1">
            <a:extLst xmlns:a="http://schemas.openxmlformats.org/drawingml/2006/main">
              <a:ext uri="{FF2B5EF4-FFF2-40B4-BE49-F238E27FC236}">
                <a16:creationId xmlns:a16="http://schemas.microsoft.com/office/drawing/2014/main" id="{7FE404FA-FBD4-4218-831B-F8B6F4D77FDD}"/>
              </a:ext>
            </a:extLst>
          </p:cNvPr>
          <p:cNvSpPr>
            <a:spLocks xmlns:a="http://schemas.openxmlformats.org/drawingml/2006/main" noGrp="1"/>
          </p:cNvSpPr>
          <p:nvPr/>
        </p:nvSpPr>
        <p:spPr>
          <a:xfrm xmlns:a="http://schemas.openxmlformats.org/drawingml/2006/main">
            <a:off x="809625" y="3409950"/>
            <a:ext cx="5238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6" name="m-lbl-2">
            <a:extLst xmlns:a="http://schemas.openxmlformats.org/drawingml/2006/main">
              <a:ext uri="{FF2B5EF4-FFF2-40B4-BE49-F238E27FC236}">
                <a16:creationId xmlns:a16="http://schemas.microsoft.com/office/drawing/2014/main" id="{DA92926F-AFD3-4257-97E7-7CAD668E9C07}"/>
              </a:ext>
            </a:extLst>
          </p:cNvPr>
          <p:cNvSpPr>
            <a:spLocks xmlns:a="http://schemas.openxmlformats.org/drawingml/2006/main" noGrp="1"/>
          </p:cNvSpPr>
          <p:nvPr/>
        </p:nvSpPr>
        <p:spPr>
          <a:xfrm xmlns:a="http://schemas.openxmlformats.org/drawingml/2006/main">
            <a:off x="809625" y="352425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Total de Requisições ao Qwen (com retentativas)</a:t>
            </a:r>
          </a:p>
        </p:txBody>
      </p:sp>
      <p:sp>
        <p:nvSpPr>
          <p:cNvPr id="17" name="m-val-2">
            <a:extLst xmlns:a="http://schemas.openxmlformats.org/drawingml/2006/main">
              <a:ext uri="{FF2B5EF4-FFF2-40B4-BE49-F238E27FC236}">
                <a16:creationId xmlns:a16="http://schemas.microsoft.com/office/drawing/2014/main" id="{E3AFE10F-CBF0-4C2A-8FB5-92AF5CA16DB1}"/>
              </a:ext>
            </a:extLst>
          </p:cNvPr>
          <p:cNvSpPr>
            <a:spLocks xmlns:a="http://schemas.openxmlformats.org/drawingml/2006/main" noGrp="1"/>
          </p:cNvSpPr>
          <p:nvPr/>
        </p:nvSpPr>
        <p:spPr>
          <a:xfrm xmlns:a="http://schemas.openxmlformats.org/drawingml/2006/main">
            <a:off x="809625" y="37338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64</a:t>
            </a:r>
          </a:p>
        </p:txBody>
      </p:sp>
      <p:sp>
        <p:nvSpPr>
          <p:cNvPr id="18" name="m-sep-2">
            <a:extLst xmlns:a="http://schemas.openxmlformats.org/drawingml/2006/main">
              <a:ext uri="{FF2B5EF4-FFF2-40B4-BE49-F238E27FC236}">
                <a16:creationId xmlns:a16="http://schemas.microsoft.com/office/drawing/2014/main" id="{08255F78-0D42-4C60-AD88-5BA8EA719494}"/>
              </a:ext>
            </a:extLst>
          </p:cNvPr>
          <p:cNvSpPr>
            <a:spLocks xmlns:a="http://schemas.openxmlformats.org/drawingml/2006/main" noGrp="1"/>
          </p:cNvSpPr>
          <p:nvPr/>
        </p:nvSpPr>
        <p:spPr>
          <a:xfrm xmlns:a="http://schemas.openxmlformats.org/drawingml/2006/main">
            <a:off x="809625" y="4076700"/>
            <a:ext cx="5238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9" name="m-lbl-3">
            <a:extLst xmlns:a="http://schemas.openxmlformats.org/drawingml/2006/main">
              <a:ext uri="{FF2B5EF4-FFF2-40B4-BE49-F238E27FC236}">
                <a16:creationId xmlns:a16="http://schemas.microsoft.com/office/drawing/2014/main" id="{433FB789-CA79-4EFC-81D8-8538055913EA}"/>
              </a:ext>
            </a:extLst>
          </p:cNvPr>
          <p:cNvSpPr>
            <a:spLocks xmlns:a="http://schemas.openxmlformats.org/drawingml/2006/main" noGrp="1"/>
          </p:cNvSpPr>
          <p:nvPr/>
        </p:nvSpPr>
        <p:spPr>
          <a:xfrm xmlns:a="http://schemas.openxmlformats.org/drawingml/2006/main">
            <a:off x="809625" y="419100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Etapas que Exigiram Retentativas Heurísticas</a:t>
            </a:r>
          </a:p>
        </p:txBody>
      </p:sp>
      <p:sp>
        <p:nvSpPr>
          <p:cNvPr id="20" name="m-val-3">
            <a:extLst xmlns:a="http://schemas.openxmlformats.org/drawingml/2006/main">
              <a:ext uri="{FF2B5EF4-FFF2-40B4-BE49-F238E27FC236}">
                <a16:creationId xmlns:a16="http://schemas.microsoft.com/office/drawing/2014/main" id="{27D2D8B1-5A83-4F3C-A1BC-A8085619E006}"/>
              </a:ext>
            </a:extLst>
          </p:cNvPr>
          <p:cNvSpPr>
            <a:spLocks xmlns:a="http://schemas.openxmlformats.org/drawingml/2006/main" noGrp="1"/>
          </p:cNvSpPr>
          <p:nvPr/>
        </p:nvSpPr>
        <p:spPr>
          <a:xfrm xmlns:a="http://schemas.openxmlformats.org/drawingml/2006/main">
            <a:off x="809625" y="44005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16</a:t>
            </a:r>
          </a:p>
        </p:txBody>
      </p:sp>
      <p:sp>
        <p:nvSpPr>
          <p:cNvPr id="21" name="m-sep-3">
            <a:extLst xmlns:a="http://schemas.openxmlformats.org/drawingml/2006/main">
              <a:ext uri="{FF2B5EF4-FFF2-40B4-BE49-F238E27FC236}">
                <a16:creationId xmlns:a16="http://schemas.microsoft.com/office/drawing/2014/main" id="{39706A97-FC08-45F3-BBCC-2AD65E9378AD}"/>
              </a:ext>
            </a:extLst>
          </p:cNvPr>
          <p:cNvSpPr>
            <a:spLocks xmlns:a="http://schemas.openxmlformats.org/drawingml/2006/main" noGrp="1"/>
          </p:cNvSpPr>
          <p:nvPr/>
        </p:nvSpPr>
        <p:spPr>
          <a:xfrm xmlns:a="http://schemas.openxmlformats.org/drawingml/2006/main">
            <a:off x="809625" y="4743450"/>
            <a:ext cx="5238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2" name="m-lbl-4">
            <a:extLst xmlns:a="http://schemas.openxmlformats.org/drawingml/2006/main">
              <a:ext uri="{FF2B5EF4-FFF2-40B4-BE49-F238E27FC236}">
                <a16:creationId xmlns:a16="http://schemas.microsoft.com/office/drawing/2014/main" id="{71AF7079-E4A1-452B-8EE0-2101F4348427}"/>
              </a:ext>
            </a:extLst>
          </p:cNvPr>
          <p:cNvSpPr>
            <a:spLocks xmlns:a="http://schemas.openxmlformats.org/drawingml/2006/main" noGrp="1"/>
          </p:cNvSpPr>
          <p:nvPr/>
        </p:nvSpPr>
        <p:spPr>
          <a:xfrm xmlns:a="http://schemas.openxmlformats.org/drawingml/2006/main">
            <a:off x="809625" y="485775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Tentativas Rejeitadas por Filtros de Qualidade</a:t>
            </a:r>
          </a:p>
        </p:txBody>
      </p:sp>
      <p:sp>
        <p:nvSpPr>
          <p:cNvPr id="23" name="m-val-4">
            <a:extLst xmlns:a="http://schemas.openxmlformats.org/drawingml/2006/main">
              <a:ext uri="{FF2B5EF4-FFF2-40B4-BE49-F238E27FC236}">
                <a16:creationId xmlns:a16="http://schemas.microsoft.com/office/drawing/2014/main" id="{B5A89D0E-D15B-463A-AD87-2BDBA658649D}"/>
              </a:ext>
            </a:extLst>
          </p:cNvPr>
          <p:cNvSpPr>
            <a:spLocks xmlns:a="http://schemas.openxmlformats.org/drawingml/2006/main" noGrp="1"/>
          </p:cNvSpPr>
          <p:nvPr/>
        </p:nvSpPr>
        <p:spPr>
          <a:xfrm xmlns:a="http://schemas.openxmlformats.org/drawingml/2006/main">
            <a:off x="809625" y="50673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29</a:t>
            </a:r>
          </a:p>
        </p:txBody>
      </p:sp>
      <p:sp>
        <p:nvSpPr>
          <p:cNvPr id="24" name="m-sep-4">
            <a:extLst xmlns:a="http://schemas.openxmlformats.org/drawingml/2006/main">
              <a:ext uri="{FF2B5EF4-FFF2-40B4-BE49-F238E27FC236}">
                <a16:creationId xmlns:a16="http://schemas.microsoft.com/office/drawing/2014/main" id="{EB53160E-1581-4228-ACE2-94FF4A7FC19B}"/>
              </a:ext>
            </a:extLst>
          </p:cNvPr>
          <p:cNvSpPr>
            <a:spLocks xmlns:a="http://schemas.openxmlformats.org/drawingml/2006/main" noGrp="1"/>
          </p:cNvSpPr>
          <p:nvPr/>
        </p:nvSpPr>
        <p:spPr>
          <a:xfrm xmlns:a="http://schemas.openxmlformats.org/drawingml/2006/main">
            <a:off x="809625" y="5410200"/>
            <a:ext cx="5238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5" name="m-lbl-5">
            <a:extLst xmlns:a="http://schemas.openxmlformats.org/drawingml/2006/main">
              <a:ext uri="{FF2B5EF4-FFF2-40B4-BE49-F238E27FC236}">
                <a16:creationId xmlns:a16="http://schemas.microsoft.com/office/drawing/2014/main" id="{D2189A8F-667C-47AB-9C1F-70D13494B4FE}"/>
              </a:ext>
            </a:extLst>
          </p:cNvPr>
          <p:cNvSpPr>
            <a:spLocks xmlns:a="http://schemas.openxmlformats.org/drawingml/2006/main" noGrp="1"/>
          </p:cNvSpPr>
          <p:nvPr/>
        </p:nvSpPr>
        <p:spPr>
          <a:xfrm xmlns:a="http://schemas.openxmlformats.org/drawingml/2006/main">
            <a:off x="809625" y="552450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Modelo Remoto Empregado (Trabalhista e Juiz)</a:t>
            </a:r>
          </a:p>
        </p:txBody>
      </p:sp>
      <p:sp>
        <p:nvSpPr>
          <p:cNvPr id="26" name="m-val-5">
            <a:extLst xmlns:a="http://schemas.openxmlformats.org/drawingml/2006/main">
              <a:ext uri="{FF2B5EF4-FFF2-40B4-BE49-F238E27FC236}">
                <a16:creationId xmlns:a16="http://schemas.microsoft.com/office/drawing/2014/main" id="{35279381-5374-4C79-AAC2-DDEEBA95412A}"/>
              </a:ext>
            </a:extLst>
          </p:cNvPr>
          <p:cNvSpPr>
            <a:spLocks xmlns:a="http://schemas.openxmlformats.org/drawingml/2006/main" noGrp="1"/>
          </p:cNvSpPr>
          <p:nvPr/>
        </p:nvSpPr>
        <p:spPr>
          <a:xfrm xmlns:a="http://schemas.openxmlformats.org/drawingml/2006/main">
            <a:off x="809625" y="57340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Antigravity (Gemini)</a:t>
            </a:r>
          </a:p>
        </p:txBody>
      </p:sp>
      <p:sp>
        <p:nvSpPr>
          <p:cNvPr id="27" name="m-sep-5">
            <a:extLst xmlns:a="http://schemas.openxmlformats.org/drawingml/2006/main">
              <a:ext uri="{FF2B5EF4-FFF2-40B4-BE49-F238E27FC236}">
                <a16:creationId xmlns:a16="http://schemas.microsoft.com/office/drawing/2014/main" id="{0C746B53-DA58-4044-9A2B-72A0FD1623F5}"/>
              </a:ext>
            </a:extLst>
          </p:cNvPr>
          <p:cNvSpPr>
            <a:spLocks xmlns:a="http://schemas.openxmlformats.org/drawingml/2006/main" noGrp="1"/>
          </p:cNvSpPr>
          <p:nvPr/>
        </p:nvSpPr>
        <p:spPr>
          <a:xfrm xmlns:a="http://schemas.openxmlformats.org/drawingml/2006/main">
            <a:off x="809625" y="6076950"/>
            <a:ext cx="5238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8" name="m-lbl-6">
            <a:extLst xmlns:a="http://schemas.openxmlformats.org/drawingml/2006/main">
              <a:ext uri="{FF2B5EF4-FFF2-40B4-BE49-F238E27FC236}">
                <a16:creationId xmlns:a16="http://schemas.microsoft.com/office/drawing/2014/main" id="{0E8260C7-7961-40BE-B865-34C9074ADF1E}"/>
              </a:ext>
            </a:extLst>
          </p:cNvPr>
          <p:cNvSpPr>
            <a:spLocks xmlns:a="http://schemas.openxmlformats.org/drawingml/2006/main" noGrp="1"/>
          </p:cNvSpPr>
          <p:nvPr/>
        </p:nvSpPr>
        <p:spPr>
          <a:xfrm xmlns:a="http://schemas.openxmlformats.org/drawingml/2006/main">
            <a:off x="809625" y="619125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Modelo Local Empregado (Liberal)</a:t>
            </a:r>
          </a:p>
        </p:txBody>
      </p:sp>
      <p:sp>
        <p:nvSpPr>
          <p:cNvPr id="29" name="m-val-6">
            <a:extLst xmlns:a="http://schemas.openxmlformats.org/drawingml/2006/main">
              <a:ext uri="{FF2B5EF4-FFF2-40B4-BE49-F238E27FC236}">
                <a16:creationId xmlns:a16="http://schemas.microsoft.com/office/drawing/2014/main" id="{41BBDDCD-A79A-41EE-AB7D-D2720E0E924B}"/>
              </a:ext>
            </a:extLst>
          </p:cNvPr>
          <p:cNvSpPr>
            <a:spLocks xmlns:a="http://schemas.openxmlformats.org/drawingml/2006/main" noGrp="1"/>
          </p:cNvSpPr>
          <p:nvPr/>
        </p:nvSpPr>
        <p:spPr>
          <a:xfrm xmlns:a="http://schemas.openxmlformats.org/drawingml/2006/main">
            <a:off x="809625" y="64008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Qwen 2.5 1.5B (Ollama)</a:t>
            </a:r>
          </a:p>
        </p:txBody>
      </p:sp>
      <p:sp>
        <p:nvSpPr>
          <p:cNvPr id="30" name="m-sep-6">
            <a:extLst xmlns:a="http://schemas.openxmlformats.org/drawingml/2006/main">
              <a:ext uri="{FF2B5EF4-FFF2-40B4-BE49-F238E27FC236}">
                <a16:creationId xmlns:a16="http://schemas.microsoft.com/office/drawing/2014/main" id="{A1E8BEE1-03D4-4A57-8611-3526B1DC5E11}"/>
              </a:ext>
            </a:extLst>
          </p:cNvPr>
          <p:cNvSpPr>
            <a:spLocks xmlns:a="http://schemas.openxmlformats.org/drawingml/2006/main" noGrp="1"/>
          </p:cNvSpPr>
          <p:nvPr/>
        </p:nvSpPr>
        <p:spPr>
          <a:xfrm xmlns:a="http://schemas.openxmlformats.org/drawingml/2006/main">
            <a:off x="809625" y="6743700"/>
            <a:ext cx="5238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1" name="m-lbl-7">
            <a:extLst xmlns:a="http://schemas.openxmlformats.org/drawingml/2006/main">
              <a:ext uri="{FF2B5EF4-FFF2-40B4-BE49-F238E27FC236}">
                <a16:creationId xmlns:a16="http://schemas.microsoft.com/office/drawing/2014/main" id="{496C0118-C366-45E9-BC51-0D2CF033D6B3}"/>
              </a:ext>
            </a:extLst>
          </p:cNvPr>
          <p:cNvSpPr>
            <a:spLocks xmlns:a="http://schemas.openxmlformats.org/drawingml/2006/main" noGrp="1"/>
          </p:cNvSpPr>
          <p:nvPr/>
        </p:nvSpPr>
        <p:spPr>
          <a:xfrm xmlns:a="http://schemas.openxmlformats.org/drawingml/2006/main">
            <a:off x="809625" y="685800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i="0">
                <a:solidFill>
                  <a:srgbClr val="475569"/>
                </a:solidFill>
              </a:defRPr>
            </a:defPPr>
          </a:lstStyle>
          <a:p xmlns:a="http://schemas.openxmlformats.org/drawingml/2006/main">
            <a:pPr algn="l">
              <a:lnSpc>
                <a:spcPct val="115000"/>
              </a:lnSpc>
              <a:buNone/>
              <a:defRPr sz="975" b="0" i="0">
                <a:solidFill>
                  <a:srgbClr val="475569"/>
                </a:solidFill>
              </a:defRPr>
            </a:pPr>
            <a:r>
              <a:rPr sz="975" b="0" i="0">
                <a:solidFill>
                  <a:srgbClr val="475569"/>
                </a:solidFill>
              </a:rPr>
              <a:t>Protocolo de Engenharia de Prompt</a:t>
            </a:r>
          </a:p>
        </p:txBody>
      </p:sp>
      <p:sp>
        <p:nvSpPr>
          <p:cNvPr id="32" name="m-val-7">
            <a:extLst xmlns:a="http://schemas.openxmlformats.org/drawingml/2006/main">
              <a:ext uri="{FF2B5EF4-FFF2-40B4-BE49-F238E27FC236}">
                <a16:creationId xmlns:a16="http://schemas.microsoft.com/office/drawing/2014/main" id="{FF1E832D-99CC-4F53-A03C-CCB7F416C946}"/>
              </a:ext>
            </a:extLst>
          </p:cNvPr>
          <p:cNvSpPr>
            <a:spLocks xmlns:a="http://schemas.openxmlformats.org/drawingml/2006/main" noGrp="1"/>
          </p:cNvSpPr>
          <p:nvPr/>
        </p:nvSpPr>
        <p:spPr>
          <a:xfrm xmlns:a="http://schemas.openxmlformats.org/drawingml/2006/main">
            <a:off x="809625" y="70675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0F172A"/>
                </a:solidFill>
              </a:defRPr>
            </a:defPPr>
          </a:lstStyle>
          <a:p xmlns:a="http://schemas.openxmlformats.org/drawingml/2006/main">
            <a:pPr algn="l">
              <a:lnSpc>
                <a:spcPct val="115000"/>
              </a:lnSpc>
              <a:buNone/>
              <a:defRPr sz="1275" b="1" i="0">
                <a:solidFill>
                  <a:srgbClr val="0F172A"/>
                </a:solidFill>
              </a:defRPr>
            </a:pPr>
            <a:r>
              <a:rPr sz="1275" b="1" i="0">
                <a:solidFill>
                  <a:srgbClr val="0F172A"/>
                </a:solidFill>
              </a:rPr>
              <a:t>v4 (JSON Estruturado)</a:t>
            </a:r>
          </a:p>
        </p:txBody>
      </p:sp>
      <p:sp>
        <p:nvSpPr>
          <p:cNvPr id="33" name="lim-pnl">
            <a:extLst xmlns:a="http://schemas.openxmlformats.org/drawingml/2006/main">
              <a:ext uri="{FF2B5EF4-FFF2-40B4-BE49-F238E27FC236}">
                <a16:creationId xmlns:a16="http://schemas.microsoft.com/office/drawing/2014/main" id="{F4709682-FFA6-45DF-902C-6C6900F3F83D}"/>
              </a:ext>
            </a:extLst>
          </p:cNvPr>
          <p:cNvSpPr>
            <a:spLocks xmlns:a="http://schemas.openxmlformats.org/drawingml/2006/main" noGrp="1"/>
          </p:cNvSpPr>
          <p:nvPr/>
        </p:nvSpPr>
        <p:spPr>
          <a:xfrm xmlns:a="http://schemas.openxmlformats.org/drawingml/2006/main">
            <a:off x="6572250" y="1524000"/>
            <a:ext cx="8096250" cy="6286500"/>
          </a:xfrm>
          <a:prstGeom xmlns:a="http://schemas.openxmlformats.org/drawingml/2006/main" prst="roundRect">
            <a:avLst>
              <a:gd name="adj" fmla="val 1212"/>
            </a:avLst>
          </a:prstGeom>
          <a:solidFill xmlns:a="http://schemas.openxmlformats.org/drawingml/2006/main">
            <a:srgbClr val="F8FAFC"/>
          </a:solidFill>
          <a:ln xmlns:a="http://schemas.openxmlformats.org/drawingml/2006/main" w="9525">
            <a:solidFill>
              <a:srgbClr val="E2E8F0"/>
            </a:solidFill>
            <a:prstDash val="solid"/>
          </a:ln>
        </p:spPr>
      </p:sp>
      <p:sp>
        <p:nvSpPr>
          <p:cNvPr id="34" name="lim-hdr">
            <a:extLst xmlns:a="http://schemas.openxmlformats.org/drawingml/2006/main">
              <a:ext uri="{FF2B5EF4-FFF2-40B4-BE49-F238E27FC236}">
                <a16:creationId xmlns:a16="http://schemas.microsoft.com/office/drawing/2014/main" id="{A6D29CD4-A6A9-4818-B663-0903CE4692FA}"/>
              </a:ext>
            </a:extLst>
          </p:cNvPr>
          <p:cNvSpPr>
            <a:spLocks xmlns:a="http://schemas.openxmlformats.org/drawingml/2006/main" noGrp="1"/>
          </p:cNvSpPr>
          <p:nvPr/>
        </p:nvSpPr>
        <p:spPr>
          <a:xfrm xmlns:a="http://schemas.openxmlformats.org/drawingml/2006/main">
            <a:off x="6810375" y="17621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i="0">
                <a:solidFill>
                  <a:srgbClr val="0F172A"/>
                </a:solidFill>
              </a:defRPr>
            </a:defPPr>
          </a:lstStyle>
          <a:p xmlns:a="http://schemas.openxmlformats.org/drawingml/2006/main">
            <a:pPr algn="l">
              <a:lnSpc>
                <a:spcPct val="115000"/>
              </a:lnSpc>
              <a:buNone/>
              <a:defRPr sz="1200" b="1" i="0">
                <a:solidFill>
                  <a:srgbClr val="0F172A"/>
                </a:solidFill>
              </a:defRPr>
            </a:pPr>
            <a:r>
              <a:rPr sz="1200" b="1" i="0">
                <a:solidFill>
                  <a:srgbClr val="0F172A"/>
                </a:solidFill>
              </a:rPr>
              <a:t>OBSERVAÇÕES E LIMITES METODOLÓGICOS</a:t>
            </a:r>
          </a:p>
        </p:txBody>
      </p:sp>
      <p:sp>
        <p:nvSpPr>
          <p:cNvPr id="35" name="n-t-0">
            <a:extLst xmlns:a="http://schemas.openxmlformats.org/drawingml/2006/main">
              <a:ext uri="{FF2B5EF4-FFF2-40B4-BE49-F238E27FC236}">
                <a16:creationId xmlns:a16="http://schemas.microsoft.com/office/drawing/2014/main" id="{C278D8E9-5D12-401B-8FCA-2B740768B794}"/>
              </a:ext>
            </a:extLst>
          </p:cNvPr>
          <p:cNvSpPr>
            <a:spLocks xmlns:a="http://schemas.openxmlformats.org/drawingml/2006/main" noGrp="1"/>
          </p:cNvSpPr>
          <p:nvPr/>
        </p:nvSpPr>
        <p:spPr>
          <a:xfrm xmlns:a="http://schemas.openxmlformats.org/drawingml/2006/main">
            <a:off x="6810375" y="2190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i="0">
                <a:solidFill>
                  <a:srgbClr val="0D9488"/>
                </a:solidFill>
              </a:defRPr>
            </a:defPPr>
          </a:lstStyle>
          <a:p xmlns:a="http://schemas.openxmlformats.org/drawingml/2006/main">
            <a:pPr algn="l">
              <a:lnSpc>
                <a:spcPct val="115000"/>
              </a:lnSpc>
              <a:buNone/>
              <a:defRPr sz="1200" b="1" i="0">
                <a:solidFill>
                  <a:srgbClr val="0D9488"/>
                </a:solidFill>
              </a:defRPr>
            </a:pPr>
            <a:r>
              <a:rPr sz="1200" b="1" i="0">
                <a:solidFill>
                  <a:srgbClr val="0D9488"/>
                </a:solidFill>
              </a:rPr>
              <a:t>Eficácia do Modelo Híbrido</a:t>
            </a:r>
          </a:p>
        </p:txBody>
      </p:sp>
      <p:sp>
        <p:nvSpPr>
          <p:cNvPr id="36" name="n-d-0">
            <a:extLst xmlns:a="http://schemas.openxmlformats.org/drawingml/2006/main">
              <a:ext uri="{FF2B5EF4-FFF2-40B4-BE49-F238E27FC236}">
                <a16:creationId xmlns:a16="http://schemas.microsoft.com/office/drawing/2014/main" id="{1FD44B7F-3814-4B17-9C79-6D47314F73F6}"/>
              </a:ext>
            </a:extLst>
          </p:cNvPr>
          <p:cNvSpPr>
            <a:spLocks xmlns:a="http://schemas.openxmlformats.org/drawingml/2006/main" noGrp="1"/>
          </p:cNvSpPr>
          <p:nvPr/>
        </p:nvSpPr>
        <p:spPr>
          <a:xfrm xmlns:a="http://schemas.openxmlformats.org/drawingml/2006/main">
            <a:off x="6810375" y="2457450"/>
            <a:ext cx="7620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O diálogo entre o modelo de fronteira remoto (Antigravity) e o modelo local menor (Qwen 1.5B) demonstrou ser perfeitamente viável quando mediado por um formato estruturado rígido (JSON) e heurísticas automáticas de anti-repetição.</a:t>
            </a:r>
          </a:p>
        </p:txBody>
      </p:sp>
      <p:sp>
        <p:nvSpPr>
          <p:cNvPr id="37" name="n-t-1">
            <a:extLst xmlns:a="http://schemas.openxmlformats.org/drawingml/2006/main">
              <a:ext uri="{FF2B5EF4-FFF2-40B4-BE49-F238E27FC236}">
                <a16:creationId xmlns:a16="http://schemas.microsoft.com/office/drawing/2014/main" id="{6B7C15D9-A56E-4DDF-AEF0-AFA710402D55}"/>
              </a:ext>
            </a:extLst>
          </p:cNvPr>
          <p:cNvSpPr>
            <a:spLocks xmlns:a="http://schemas.openxmlformats.org/drawingml/2006/main" noGrp="1"/>
          </p:cNvSpPr>
          <p:nvPr/>
        </p:nvSpPr>
        <p:spPr>
          <a:xfrm xmlns:a="http://schemas.openxmlformats.org/drawingml/2006/main">
            <a:off x="6810375" y="357187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i="0">
                <a:solidFill>
                  <a:srgbClr val="0D9488"/>
                </a:solidFill>
              </a:defRPr>
            </a:defPPr>
          </a:lstStyle>
          <a:p xmlns:a="http://schemas.openxmlformats.org/drawingml/2006/main">
            <a:pPr algn="l">
              <a:lnSpc>
                <a:spcPct val="115000"/>
              </a:lnSpc>
              <a:buNone/>
              <a:defRPr sz="1200" b="1" i="0">
                <a:solidFill>
                  <a:srgbClr val="0D9488"/>
                </a:solidFill>
              </a:defRPr>
            </a:pPr>
            <a:r>
              <a:rPr sz="1200" b="1" i="0">
                <a:solidFill>
                  <a:srgbClr val="0D9488"/>
                </a:solidFill>
              </a:rPr>
              <a:t>Controle de Repetição vs. Profundidade Argumentativa</a:t>
            </a:r>
          </a:p>
        </p:txBody>
      </p:sp>
      <p:sp>
        <p:nvSpPr>
          <p:cNvPr id="38" name="n-d-1">
            <a:extLst xmlns:a="http://schemas.openxmlformats.org/drawingml/2006/main">
              <a:ext uri="{FF2B5EF4-FFF2-40B4-BE49-F238E27FC236}">
                <a16:creationId xmlns:a16="http://schemas.microsoft.com/office/drawing/2014/main" id="{1A2529DB-50AE-4D63-90C3-D18BC3EF68D3}"/>
              </a:ext>
            </a:extLst>
          </p:cNvPr>
          <p:cNvSpPr>
            <a:spLocks xmlns:a="http://schemas.openxmlformats.org/drawingml/2006/main" noGrp="1"/>
          </p:cNvSpPr>
          <p:nvPr/>
        </p:nvSpPr>
        <p:spPr>
          <a:xfrm xmlns:a="http://schemas.openxmlformats.org/drawingml/2006/main">
            <a:off x="6810375" y="3838575"/>
            <a:ext cx="7620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Os filtros heurísticos garantiram conformidade gramatical, idioma e diversidade léxica. Contudo, modelos de 1.5B exibem tendência a simplificar mecanismos econômicos complexos, sendo papel essencial do Juiz qualificar os trade-offs.</a:t>
            </a:r>
          </a:p>
        </p:txBody>
      </p:sp>
      <p:sp>
        <p:nvSpPr>
          <p:cNvPr id="39" name="n-t-2">
            <a:extLst xmlns:a="http://schemas.openxmlformats.org/drawingml/2006/main">
              <a:ext uri="{FF2B5EF4-FFF2-40B4-BE49-F238E27FC236}">
                <a16:creationId xmlns:a16="http://schemas.microsoft.com/office/drawing/2014/main" id="{1109453C-0E22-42F3-8D8F-070C3398E4F8}"/>
              </a:ext>
            </a:extLst>
          </p:cNvPr>
          <p:cNvSpPr>
            <a:spLocks xmlns:a="http://schemas.openxmlformats.org/drawingml/2006/main" noGrp="1"/>
          </p:cNvSpPr>
          <p:nvPr/>
        </p:nvSpPr>
        <p:spPr>
          <a:xfrm xmlns:a="http://schemas.openxmlformats.org/drawingml/2006/main">
            <a:off x="6810375" y="49530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i="0">
                <a:solidFill>
                  <a:srgbClr val="0D9488"/>
                </a:solidFill>
              </a:defRPr>
            </a:defPPr>
          </a:lstStyle>
          <a:p xmlns:a="http://schemas.openxmlformats.org/drawingml/2006/main">
            <a:pPr algn="l">
              <a:lnSpc>
                <a:spcPct val="115000"/>
              </a:lnSpc>
              <a:buNone/>
              <a:defRPr sz="1200" b="1" i="0">
                <a:solidFill>
                  <a:srgbClr val="0D9488"/>
                </a:solidFill>
              </a:defRPr>
            </a:pPr>
            <a:r>
              <a:rPr sz="1200" b="1" i="0">
                <a:solidFill>
                  <a:srgbClr val="0D9488"/>
                </a:solidFill>
              </a:rPr>
              <a:t>Natureza Hipotética das Propostas</a:t>
            </a:r>
          </a:p>
        </p:txBody>
      </p:sp>
      <p:sp>
        <p:nvSpPr>
          <p:cNvPr id="40" name="n-d-2">
            <a:extLst xmlns:a="http://schemas.openxmlformats.org/drawingml/2006/main">
              <a:ext uri="{FF2B5EF4-FFF2-40B4-BE49-F238E27FC236}">
                <a16:creationId xmlns:a16="http://schemas.microsoft.com/office/drawing/2014/main" id="{01A1326B-65FC-4831-932E-7A99889CFEF6}"/>
              </a:ext>
            </a:extLst>
          </p:cNvPr>
          <p:cNvSpPr>
            <a:spLocks xmlns:a="http://schemas.openxmlformats.org/drawingml/2006/main" noGrp="1"/>
          </p:cNvSpPr>
          <p:nvPr/>
        </p:nvSpPr>
        <p:spPr>
          <a:xfrm xmlns:a="http://schemas.openxmlformats.org/drawingml/2006/main">
            <a:off x="6810375" y="5219700"/>
            <a:ext cx="7620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A estratégia de "Flexisegurança Solidária" é um exercício de formulação de políticas públicas baseado em princípios da OIT e OCDE, mas não substitui modelagens atuariais e estudos econométricos empíricos de impacto orçamentário.</a:t>
            </a:r>
          </a:p>
        </p:txBody>
      </p:sp>
      <p:sp>
        <p:nvSpPr>
          <p:cNvPr id="41" name="n-t-3">
            <a:extLst xmlns:a="http://schemas.openxmlformats.org/drawingml/2006/main">
              <a:ext uri="{FF2B5EF4-FFF2-40B4-BE49-F238E27FC236}">
                <a16:creationId xmlns:a16="http://schemas.microsoft.com/office/drawing/2014/main" id="{647E4F16-05B8-4ED3-8B82-B8A621A439FA}"/>
              </a:ext>
            </a:extLst>
          </p:cNvPr>
          <p:cNvSpPr>
            <a:spLocks xmlns:a="http://schemas.openxmlformats.org/drawingml/2006/main" noGrp="1"/>
          </p:cNvSpPr>
          <p:nvPr/>
        </p:nvSpPr>
        <p:spPr>
          <a:xfrm xmlns:a="http://schemas.openxmlformats.org/drawingml/2006/main">
            <a:off x="6810375" y="63341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i="0">
                <a:solidFill>
                  <a:srgbClr val="0D9488"/>
                </a:solidFill>
              </a:defRPr>
            </a:defPPr>
          </a:lstStyle>
          <a:p xmlns:a="http://schemas.openxmlformats.org/drawingml/2006/main">
            <a:pPr algn="l">
              <a:lnSpc>
                <a:spcPct val="115000"/>
              </a:lnSpc>
              <a:buNone/>
              <a:defRPr sz="1200" b="1" i="0">
                <a:solidFill>
                  <a:srgbClr val="0D9488"/>
                </a:solidFill>
              </a:defRPr>
            </a:pPr>
            <a:r>
              <a:rPr sz="1200" b="1" i="0">
                <a:solidFill>
                  <a:srgbClr val="0D9488"/>
                </a:solidFill>
              </a:rPr>
              <a:t>Persistência e Reprodutibilidade</a:t>
            </a:r>
          </a:p>
        </p:txBody>
      </p:sp>
      <p:sp>
        <p:nvSpPr>
          <p:cNvPr id="42" name="n-d-3">
            <a:extLst xmlns:a="http://schemas.openxmlformats.org/drawingml/2006/main">
              <a:ext uri="{FF2B5EF4-FFF2-40B4-BE49-F238E27FC236}">
                <a16:creationId xmlns:a16="http://schemas.microsoft.com/office/drawing/2014/main" id="{DB8A2EE8-EA52-4792-AF7C-CE2DA220D8BB}"/>
              </a:ext>
            </a:extLst>
          </p:cNvPr>
          <p:cNvSpPr>
            <a:spLocks xmlns:a="http://schemas.openxmlformats.org/drawingml/2006/main" noGrp="1"/>
          </p:cNvSpPr>
          <p:nvPr/>
        </p:nvSpPr>
        <p:spPr>
          <a:xfrm xmlns:a="http://schemas.openxmlformats.org/drawingml/2006/main">
            <a:off x="6810375" y="6600825"/>
            <a:ext cx="7620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i="0">
                <a:solidFill>
                  <a:srgbClr val="1E293B"/>
                </a:solidFill>
              </a:defRPr>
            </a:defPPr>
          </a:lstStyle>
          <a:p xmlns:a="http://schemas.openxmlformats.org/drawingml/2006/main">
            <a:pPr algn="l">
              <a:lnSpc>
                <a:spcPct val="115000"/>
              </a:lnSpc>
              <a:buNone/>
              <a:defRPr sz="1050" b="0" i="0">
                <a:solidFill>
                  <a:srgbClr val="1E293B"/>
                </a:solidFill>
              </a:defRPr>
            </a:pPr>
            <a:r>
              <a:rPr sz="1050" b="0" i="0">
                <a:solidFill>
                  <a:srgbClr val="1E293B"/>
                </a:solidFill>
              </a:rPr>
              <a:t>Todo o histórico de intercâmbio, payloads de entrada, logs de latência e saídas brutas foram preservados no diretório do projeto, garantindo 100% de auditabilidade científica do processo.</a:t>
            </a:r>
          </a:p>
        </p:txBody>
      </p:sp>
    </p:spTree>
    <p:extLst>
      <p:ext uri="{BB962C8B-B14F-4D97-AF65-F5344CB8AC3E}">
        <p14:creationId xmlns:p14="http://schemas.microsoft.com/office/powerpoint/2010/main" val="19641095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2026-10-09T23:12:10.1710000Z</dcterms:created>
  <dcterms:modified xsi:type="dcterms:W3CDTF">2026-10-09T23:12:10.1710000Z</dcterms:modified>
</coreProperties>
</file>