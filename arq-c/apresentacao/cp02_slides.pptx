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3fa1d009-b5e0-7312-ea10-5bcd93cbec8a}">
          <p14:sldIdLst>
            <p14:sldId id="256"/>
          </p14:sldIdLst>
        </p14:section>
        <p14:section name="Artigo base" id="{25e1e62d-b1ac-9b6f-0b4c-2234448eff32}">
          <p14:sldIdLst>
            <p14:sldId id="257"/>
            <p14:sldId id="258"/>
          </p14:sldIdLst>
        </p14:section>
        <p14:section name="Reprodução" id="{2ea38cc8-267f-15aa-a9d4-6414dac3f0dd}">
          <p14:sldIdLst>
            <p14:sldId id="259"/>
          </p14:sldIdLst>
        </p14:section>
        <p14:section name="Modificação" id="{b3303c6f-23c7-f9e5-e8a8-34ebedda5aa8}">
          <p14:sldIdLst>
            <p14:sldId id="260"/>
          </p14:sldIdLst>
        </p14:section>
        <p14:section name="Resultados" id="{67449810-def0-ee77-0cc9-fcf2021c6cea}">
          <p14:sldIdLst>
            <p14:sldId id="261"/>
          </p14:sldIdLst>
        </p14:section>
        <p14:section name="Análise" id="{8096b5b0-a2f9-716a-f919-e77b0d2fe1f0}">
          <p14:sldIdLst>
            <p14:sldId id="262"/>
            <p14:sldId id="263"/>
          </p14:sldIdLst>
        </p14:section>
        <p14:section name="Fecho" id="{f8152099-7816-6255-181b-358924c0120c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CP02: reproduzir um modelo de aprendizado profundo da literatura e modificar a arquitetura dele. Escolhi o ModernTCN, um artigo do ICLR de 2024. Vou mostrar que consegui reproduzir os resultados do artigo, qual modificação testei e, principalmente, que ela não melhorou o modelo, e por quê.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artigo é o ModernTCN, de Luo e Wang, publicado no ICLR 2024. É uma rede convolucional pura, e atende ao que a atividade pede: é de 2024, dentro do exigido (2023 em diante), usa CNN e tem código aberto sob licença MIT. Os autores publicam os scripts com todos os hiperparâmetros, e a base de dados é pública. Isso importa porque só assim dá para reproduzir de verdade. Eu tentei antes com outro artigo, o HCBiLSTM, mas ele não publica código, então troquei.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tarefa é prever as próximas 96 horas de sete medições de um transformador elétrico, olhando as 336 horas anteriores. O modelo corta cada medição em 84 pedaços, os patches. Cada pedaço passa por um bloco com três partes: uma convolução com kernel grande, de 51 passos, que olha bem para trás; uma rede que mistura as características de cada variável; e outra que mistura as variáveis entre si. No fim, uma camada linear dá a previsão. O ponto-chave é que esses filtros de kernel grande são fixos: tratam toda entrada do mesmo jeito.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reproduzi o baseline, sem mudar nada: usei o código oficial com o comando exato do artigo, para a base ETTh2 e horizonte de 96 horas, com as cinco sementes que o artigo usa. O artigo reporta erro quadrático médio de 0,263. Eu obtive 0,2645, com desvio de 0,0006. A diferença é de 0,0015, menos de 1 por cento. Isso é uma boa notícia: significa que o código e o protocolo estão certos, e que qualquer diferença depois vem da minha modificação. Fiz só dois ajustes de compatibilidade, que não mudam o modelo: uma função do NumPy 2 e o uso da GPU do Mac.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minha hipótese é que, como os filtros convolucionais são fixos, uma camada de atenção poderia deixar o modelo ponderar o passado conforme a entrada, o que ajudaria numa série que muda ao longo do tempo. Então acrescentei, no fim de cada bloco, uma auto-atenção sobre os patches. Para não estragar o modelo, o ganho dessa camada, o gamma, começa em zero. Assim, no início, o modelo é idêntico ao oficial, e qualquer diferença nos resultados foi aprendida. Eu testei isso: com gamma igual a zero, a saída é exatamente a mesma. A mudança custa 22 mil parâmetros a mais, 3,4 por cento.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está a comparação, com as mesmas cinco sementes e o mesmo protocolo. O modelo modificado teve erro um pouco maior que o baseline: 0,2654 contra 0,2645. A diferença é pequena, mas consistente: em quatro das cinco sementes o modificado foi pior, e na outra empatou. Ou seja, a hipótese não se confirmou. Isso é um resultado negativo, e a atividade pede modificar, retreinar e medir, não que a modificação melhore.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entender por que, olhei o gamma que o modelo aprendeu. Ele partiu de zero e ficou em torno de 0,02, com sinal ora positivo, ora negativo: a rede quase não usou a atenção. Por isso as previsões dos dois modelos são quase idênticas. Janela a janela, o modificado só vence em 39,9 por cento dos casos. Nesta figura, a temperatura do óleo em três janelas reais do teste: a que a modificação mais ajuda, a que mais atrapalha, e a pior do baseline. As duas curvas acertam o ciclo diário, o formato, mas erram o nível, e erram igual.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variável, o erro muda muito pouco com a modificação: as mais difíceis são MULL e HUFL, e nenhuma muda mais de 0,003. Também vi que 4 por cento das janelas concentram o erro, e nelas os dois modelos dão o mesmo resultado, cerca de quatro vezes pior que nas demais. Minha interpretação, que é uma hipótese e eu não testei, é que existe uma mudança de regime entre o período de treino e o de teste. Se for isso, o limite está nos dados, e não na capacidade do modelo, que é o que a atenção acrescentaria.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resumo: reproduzi o ModernTCN com erro de menos de 1 por cento em relação ao artigo. A modificação com atenção não melhorou o modelo, e eu consegui mostrar por quê: o ganho aprendido ficou perto de zero. Como limitações: testei uma base e um horizonte, e a modificação tem um único desenho. Como próximos passos, testar outras bases e horizontes, e atacar a mudança de nível com técnicas de normalização adaptativa.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fechar, o que a atividade pede e onde está cada evidência no repositório. A pasta tem o CONTEXT ponto md; os dados são os do artigo; o baseline roda com um script e tem log por semente; e a modificação está marcada no código, com um arquivo de diferenças que mostra exatamente o que mudou em relação ao oficial. O relatório em LaTeX está no Overleaf, com trabalhos relacionados, tabela comparativa e análise qualitativa.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8FB8C9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O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8C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Reprodução e modificação do ModernTCN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FB8C9"/>
                </a:solidFill>
              </a:rPr>
              <a:t>CP02 · Tópicos Avançados em IA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FB8C9"/>
                </a:solidFill>
              </a:rPr>
              <a:t>Andreza Maria Coutinho Falcão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artigo base: ModernTCN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554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ICLR 2024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57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atividade exige artigos de 2023 em diante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63440" y="137160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92040" y="1554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pura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2057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recorrência nem atenção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017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 aberto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520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oficial, licença MIT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663440" y="28346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92040" y="3017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públicos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3520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ETT: temperatura de transformadores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434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 e Wang. ModernTCN: A Modern Pure Convolution Structure for General Time Series Analysis. ICLR 2024.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ModernTCN funciona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2E4A66"/>
          </a:solidFill>
          <a:ln w="12700">
            <a:solidFill>
              <a:srgbClr val="2E4A6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7373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 h × 7 variáveis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148840" y="2286000"/>
            <a:ext cx="365760" cy="0"/>
          </a:xfrm>
          <a:prstGeom prst="line">
            <a:avLst/>
          </a:prstGeom>
          <a:noFill/>
          <a:ln w="25400">
            <a:solidFill>
              <a:srgbClr val="5B7C99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2560320" y="173736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5B7C99"/>
          </a:solidFill>
          <a:ln w="12700">
            <a:solidFill>
              <a:srgbClr val="5B7C9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51760" y="17373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patches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variável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60520" y="2286000"/>
            <a:ext cx="365760" cy="0"/>
          </a:xfrm>
          <a:prstGeom prst="line">
            <a:avLst/>
          </a:prstGeom>
          <a:noFill/>
          <a:ln w="25400">
            <a:solidFill>
              <a:srgbClr val="5B7C99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572000" y="132588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ModernTCN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09160" y="178308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0060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Convolução kernel 51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09160" y="228600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00600" y="2286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 por variável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09160" y="278892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0060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 entre variáveis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086600" y="2286000"/>
            <a:ext cx="320040" cy="0"/>
          </a:xfrm>
          <a:prstGeom prst="line">
            <a:avLst/>
          </a:prstGeom>
          <a:noFill/>
          <a:ln w="25400">
            <a:solidFill>
              <a:srgbClr val="5B7C99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452360" y="173736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43800" y="173736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h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filtros de kernel grande são pesos fixos: tratam toda entrada do mesmo jeito.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Reprodução: o artigo fecha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463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B7C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0,263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reportado no artigo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337560" y="137160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0" y="1463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0,2645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reproduzido, 5 sementes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137160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63640" y="1463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0,6%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para o artigo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29260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oficial sem alterar hiperparâmetros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ETTh2, prever 96 h a partir de 336 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Sementes 2021 a 2025, Adam 1e-4, parada antecipada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modificação: atenção sobre patches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463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ModernTCN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(convoluções)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606040" y="1874520"/>
            <a:ext cx="411480" cy="0"/>
          </a:xfrm>
          <a:prstGeom prst="line">
            <a:avLst/>
          </a:prstGeom>
          <a:noFill/>
          <a:ln w="25400">
            <a:solidFill>
              <a:srgbClr val="5B7C99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3063240" y="14630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154680" y="1463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sobre patches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γ (começa em 0)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0" y="1874520"/>
            <a:ext cx="411480" cy="0"/>
          </a:xfrm>
          <a:prstGeom prst="line">
            <a:avLst/>
          </a:prstGeom>
          <a:noFill/>
          <a:ln w="25400">
            <a:solidFill>
              <a:srgbClr val="5B7C99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943600" y="14630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35040" y="14630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606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x_novo = x + γ · Atenção( LayerNorm(x) + posição )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200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Hipótese: filtros fixos não se adaptam à entrada; a atenção sim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0 no início: o modelo começa idêntico ao oficial (testado)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681.989 parâmetros contra 659.844 (+3,4%)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Resultado: a atenção não ajudou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Artigo</a:t>
                      </a:r>
                      <a:endParaRPr lang="en-US" sz="15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Reproduzido</a:t>
                      </a:r>
                      <a:endParaRPr lang="en-US" sz="15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Modificado</a:t>
                      </a:r>
                      <a:endParaRPr lang="en-US" sz="15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</a:rPr>
                        <a:t>MSE</a:t>
                      </a:r>
                      <a:endParaRPr lang="en-US" sz="15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0,263</a:t>
                      </a:r>
                      <a:endParaRPr lang="en-US" sz="15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0,2645 ± 0,0006</a:t>
                      </a:r>
                      <a:endParaRPr lang="en-US" sz="15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8553D"/>
                          </a:solidFill>
                        </a:rPr>
                        <a:t>0,2654 ± 0,0007</a:t>
                      </a:r>
                      <a:endParaRPr lang="en-US" sz="15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</a:rPr>
                        <a:t>MAE</a:t>
                      </a:r>
                      <a:endParaRPr lang="en-US" sz="15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0,332</a:t>
                      </a:r>
                      <a:endParaRPr lang="en-US" sz="15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0,3331 ± 0,0004</a:t>
                      </a:r>
                      <a:endParaRPr lang="en-US" sz="15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8553D"/>
                          </a:solidFill>
                        </a:rPr>
                        <a:t>0,3337 ± 0,0007</a:t>
                      </a:r>
                      <a:endParaRPr lang="en-US" sz="15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</a:rPr>
                        <a:t>Épocas até parar</a:t>
                      </a:r>
                      <a:endParaRPr lang="en-US" sz="15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61,4</a:t>
                      </a:r>
                      <a:endParaRPr lang="en-US" sz="15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46,2</a:t>
                      </a:r>
                      <a:endParaRPr lang="en-US" sz="15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</a:rPr>
                        <a:t>Parâmetros</a:t>
                      </a:r>
                      <a:endParaRPr lang="en-US" sz="15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659.844</a:t>
                      </a:r>
                      <a:endParaRPr lang="en-US" sz="15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</a:rPr>
                        <a:t>681.989</a:t>
                      </a:r>
                      <a:endParaRPr lang="en-US" sz="15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ETTh2, horizonte 96, dados padronizados, média e desvio de 5 sementes. Menor é melhor.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quê? O modelo ignorou a atenção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371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 ≈ 0,02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aprendido: a atenção quase não é usada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337560" y="128016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0" y="1371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39,9%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janelas em que o modificado vence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128016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63640" y="1371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B7C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+0,0009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de MSE a favor do baseline</a:t>
            </a:r>
            <a:endParaRPr lang="en-US" sz="1300" dirty="0"/>
          </a:p>
        </p:txBody>
      </p:sp>
      <p:pic>
        <p:nvPicPr>
          <p:cNvPr id="13" name="Image 0" descr="Previsão da temperatura do óleo em três janelas de teste: real, baseline e modificado quase idêntico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06040"/>
            <a:ext cx="7680960" cy="21671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erro é de nível, não de formato</a:t>
            </a:r>
            <a:endParaRPr lang="en-US" sz="3200" dirty="0"/>
          </a:p>
        </p:txBody>
      </p:sp>
      <p:pic>
        <p:nvPicPr>
          <p:cNvPr id="4" name="Image 0" descr="MSE por variável, baseline e modificado, praticamente iguai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4937760" cy="225856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760720" y="141732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das janelas concentram o erro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Nelas, os dois modelos são iguais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modelos acertam o ciclo diário e erram o nível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Hipótese, não testada: mudança de regime entre treino e teste.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2E4A66"/>
          </a:solidFill>
          <a:ln w="12700">
            <a:solidFill>
              <a:srgbClr val="2E4A6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3716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Reproduzido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3291840" y="13716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0,2645 contra 0,263 do artigo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2E4A66"/>
          </a:solidFill>
          <a:ln w="12700">
            <a:solidFill>
              <a:srgbClr val="2E4A6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4231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negativo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24231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atenção não melhorou (0,2654), e γ ≈ 0,02 mostra por quê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347472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2E4A66"/>
          </a:solidFill>
          <a:ln w="12700">
            <a:solidFill>
              <a:srgbClr val="2E4A6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4747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34747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bases e horizontes; lidar com mudança de nível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4348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Limites: uma base (ETTh2), um horizonte (96), um único desenho de modificação.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8C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atividade pede e onde está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3035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Evidência</a:t>
                      </a:r>
                      <a:endParaRPr lang="en-US" sz="13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</a:rPr>
                        <a:t>Subrepositório e CONTEXT.md</a:t>
                      </a:r>
                      <a:endParaRPr lang="en-US" sz="12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cp02_arquitetura/CONTEXT.md</a:t>
                      </a:r>
                      <a:endParaRPr lang="en-US" sz="12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</a:rPr>
                        <a:t>Dataset do artigo</a:t>
                      </a:r>
                      <a:endParaRPr lang="en-US" sz="12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data/ETT-small (ETTh2, base pública ETDataset)</a:t>
                      </a:r>
                      <a:endParaRPr lang="en-US" sz="12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</a:rPr>
                        <a:t>Inferência funcional</a:t>
                      </a:r>
                      <a:endParaRPr lang="en-US" sz="12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pred.npy de cada semente + janelas reais na análise</a:t>
                      </a:r>
                      <a:endParaRPr lang="en-US" sz="12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</a:rPr>
                        <a:t>Baseline as-is</a:t>
                      </a:r>
                      <a:endParaRPr lang="en-US" sz="12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rodar_baseline.sh e logs: MSE 0,2645 contra 0,263</a:t>
                      </a:r>
                      <a:endParaRPr lang="en-US" sz="12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</a:rPr>
                        <a:t>Modificação arquitetural</a:t>
                      </a:r>
                      <a:endParaRPr lang="en-US" sz="12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PatchAttention, marcada no código; DIFF_vs_oficial.patch</a:t>
                      </a:r>
                      <a:endParaRPr lang="en-US" sz="12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</a:rPr>
                        <a:t>Relatório (arq·p)</a:t>
                      </a:r>
                      <a:endParaRPr lang="en-US" sz="12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</a:rPr>
                        <a:t>report-arch.tex no Overleaf: relacionados, tabela, análise</a:t>
                      </a:r>
                      <a:endParaRPr lang="en-US" sz="1200" dirty="0"/>
                    </a:p>
                  </a:txBody>
                  <a:tcPr marL="91440" marR="91440" marT="0" marB="0">
                    <a:lnL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02 ModernTCN">
  <a:themeElements>
    <a:clrScheme name="CP02 ModernTCN">
      <a:dk1>
        <a:srgbClr val="1B2A41"/>
      </a:dk1>
      <a:lt1>
        <a:srgbClr val="FFFFFF"/>
      </a:lt1>
      <a:dk2>
        <a:srgbClr val="0B1F3A"/>
      </a:dk2>
      <a:lt2>
        <a:srgbClr val="EEF3F6"/>
      </a:lt2>
      <a:accent1>
        <a:srgbClr val="1F8A8A"/>
      </a:accent1>
      <a:accent2>
        <a:srgbClr val="F2A541"/>
      </a:accent2>
      <a:accent3>
        <a:srgbClr val="C8553D"/>
      </a:accent3>
      <a:accent4>
        <a:srgbClr val="5B7C99"/>
      </a:accent4>
      <a:accent5>
        <a:srgbClr val="8FB8C9"/>
      </a:accent5>
      <a:accent6>
        <a:srgbClr val="2E4A66"/>
      </a:accent6>
      <a:hlink>
        <a:srgbClr val="1F8A8A"/>
      </a:hlink>
      <a:folHlink>
        <a:srgbClr val="5B7C99"/>
      </a:folHlink>
    </a:clrScheme>
    <a:fontScheme name="CP02 ModernTC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CP02 · Reprodução e modificação do ModernTCN</dc:title>
  <dc:subject>PptxGenJS Presentation</dc:subject>
  <dc:creator>Andreza Maria Coutinho Falcão</dc:creator>
  <cp:lastModifiedBy>Andreza Maria Coutinho Falcão</cp:lastModifiedBy>
  <cp:revision>1</cp:revision>
  <dcterms:created xsi:type="dcterms:W3CDTF">2026-10-21T22:26:57Z</dcterms:created>
  <dcterms:modified xsi:type="dcterms:W3CDTF">2026-10-21T22:26:57Z</dcterms:modified>
</cp:coreProperties>
</file>